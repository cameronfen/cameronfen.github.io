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326" r:id="rId4"/>
    <p:sldId id="321" r:id="rId5"/>
    <p:sldId id="303" r:id="rId6"/>
    <p:sldId id="302" r:id="rId7"/>
    <p:sldId id="304" r:id="rId8"/>
    <p:sldId id="327" r:id="rId9"/>
    <p:sldId id="295" r:id="rId10"/>
    <p:sldId id="271" r:id="rId11"/>
    <p:sldId id="298" r:id="rId12"/>
    <p:sldId id="305" r:id="rId13"/>
    <p:sldId id="340" r:id="rId14"/>
    <p:sldId id="323" r:id="rId15"/>
    <p:sldId id="258" r:id="rId16"/>
    <p:sldId id="259" r:id="rId17"/>
    <p:sldId id="260" r:id="rId18"/>
    <p:sldId id="263" r:id="rId19"/>
    <p:sldId id="264" r:id="rId20"/>
    <p:sldId id="265" r:id="rId21"/>
    <p:sldId id="268" r:id="rId22"/>
    <p:sldId id="269" r:id="rId23"/>
    <p:sldId id="270" r:id="rId24"/>
    <p:sldId id="273" r:id="rId25"/>
    <p:sldId id="318" r:id="rId26"/>
    <p:sldId id="297" r:id="rId27"/>
    <p:sldId id="319" r:id="rId28"/>
    <p:sldId id="286" r:id="rId29"/>
    <p:sldId id="288" r:id="rId30"/>
    <p:sldId id="287" r:id="rId31"/>
    <p:sldId id="289" r:id="rId32"/>
    <p:sldId id="290" r:id="rId33"/>
    <p:sldId id="291" r:id="rId34"/>
    <p:sldId id="292" r:id="rId35"/>
    <p:sldId id="294" r:id="rId36"/>
    <p:sldId id="301" r:id="rId37"/>
    <p:sldId id="324" r:id="rId38"/>
    <p:sldId id="266" r:id="rId39"/>
    <p:sldId id="309" r:id="rId40"/>
    <p:sldId id="306" r:id="rId41"/>
    <p:sldId id="307" r:id="rId42"/>
    <p:sldId id="313" r:id="rId43"/>
    <p:sldId id="314" r:id="rId44"/>
    <p:sldId id="316" r:id="rId45"/>
    <p:sldId id="317" r:id="rId46"/>
    <p:sldId id="311" r:id="rId47"/>
    <p:sldId id="310" r:id="rId48"/>
    <p:sldId id="312" r:id="rId49"/>
    <p:sldId id="330" r:id="rId50"/>
    <p:sldId id="339" r:id="rId51"/>
    <p:sldId id="335" r:id="rId52"/>
    <p:sldId id="336" r:id="rId53"/>
    <p:sldId id="337" r:id="rId54"/>
    <p:sldId id="332" r:id="rId55"/>
    <p:sldId id="333" r:id="rId56"/>
    <p:sldId id="334" r:id="rId57"/>
    <p:sldId id="331" r:id="rId58"/>
    <p:sldId id="325" r:id="rId59"/>
    <p:sldId id="329" r:id="rId60"/>
    <p:sldId id="279" r:id="rId61"/>
    <p:sldId id="338" r:id="rId62"/>
    <p:sldId id="328"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767" autoAdjust="0"/>
    <p:restoredTop sz="94660"/>
  </p:normalViewPr>
  <p:slideViewPr>
    <p:cSldViewPr snapToGrid="0">
      <p:cViewPr varScale="1">
        <p:scale>
          <a:sx n="35" d="100"/>
          <a:sy n="35" d="100"/>
        </p:scale>
        <p:origin x="58" y="10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286F2-354C-0FC8-6ADD-D3849B712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7CDB8E-B0A1-2368-0753-DC1B95D7C0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6B8C65-8A7A-7488-DA52-AD197FA2D924}"/>
              </a:ext>
            </a:extLst>
          </p:cNvPr>
          <p:cNvSpPr>
            <a:spLocks noGrp="1"/>
          </p:cNvSpPr>
          <p:nvPr>
            <p:ph type="dt" sz="half" idx="10"/>
          </p:nvPr>
        </p:nvSpPr>
        <p:spPr/>
        <p:txBody>
          <a:bodyPr/>
          <a:lstStyle/>
          <a:p>
            <a:fld id="{FC1F25CA-4E25-4AF8-8E18-92FDF20BC177}" type="datetimeFigureOut">
              <a:rPr lang="en-US" smtClean="0"/>
              <a:t>7/30/2023</a:t>
            </a:fld>
            <a:endParaRPr lang="en-US"/>
          </a:p>
        </p:txBody>
      </p:sp>
      <p:sp>
        <p:nvSpPr>
          <p:cNvPr id="5" name="Footer Placeholder 4">
            <a:extLst>
              <a:ext uri="{FF2B5EF4-FFF2-40B4-BE49-F238E27FC236}">
                <a16:creationId xmlns:a16="http://schemas.microsoft.com/office/drawing/2014/main" id="{C0592527-8A3E-11EE-0A0A-6B4B87227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24517F-657C-5EE3-7169-B2AFDD3AE672}"/>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2613884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9B297-73B2-565E-44CA-6F0F25A75B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7AE4B9-3DBA-E748-9529-67F4BE522F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3F6FB4-33BB-16B5-CBDF-F55B24C21758}"/>
              </a:ext>
            </a:extLst>
          </p:cNvPr>
          <p:cNvSpPr>
            <a:spLocks noGrp="1"/>
          </p:cNvSpPr>
          <p:nvPr>
            <p:ph type="dt" sz="half" idx="10"/>
          </p:nvPr>
        </p:nvSpPr>
        <p:spPr/>
        <p:txBody>
          <a:bodyPr/>
          <a:lstStyle/>
          <a:p>
            <a:fld id="{FC1F25CA-4E25-4AF8-8E18-92FDF20BC177}" type="datetimeFigureOut">
              <a:rPr lang="en-US" smtClean="0"/>
              <a:t>7/30/2023</a:t>
            </a:fld>
            <a:endParaRPr lang="en-US"/>
          </a:p>
        </p:txBody>
      </p:sp>
      <p:sp>
        <p:nvSpPr>
          <p:cNvPr id="5" name="Footer Placeholder 4">
            <a:extLst>
              <a:ext uri="{FF2B5EF4-FFF2-40B4-BE49-F238E27FC236}">
                <a16:creationId xmlns:a16="http://schemas.microsoft.com/office/drawing/2014/main" id="{8918B1D9-4946-9CAD-0C03-6D3972D8EE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0F0BAF-A54D-1628-3EFC-22C052B161CC}"/>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1674476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27BF6-A639-5012-ADD3-48C452CAF9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9832D96-4261-CD02-4205-FE3E6B4DFE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1B141B-C0A6-E639-D341-6AE4FBE72D5A}"/>
              </a:ext>
            </a:extLst>
          </p:cNvPr>
          <p:cNvSpPr>
            <a:spLocks noGrp="1"/>
          </p:cNvSpPr>
          <p:nvPr>
            <p:ph type="dt" sz="half" idx="10"/>
          </p:nvPr>
        </p:nvSpPr>
        <p:spPr/>
        <p:txBody>
          <a:bodyPr/>
          <a:lstStyle/>
          <a:p>
            <a:fld id="{FC1F25CA-4E25-4AF8-8E18-92FDF20BC177}" type="datetimeFigureOut">
              <a:rPr lang="en-US" smtClean="0"/>
              <a:t>7/30/2023</a:t>
            </a:fld>
            <a:endParaRPr lang="en-US"/>
          </a:p>
        </p:txBody>
      </p:sp>
      <p:sp>
        <p:nvSpPr>
          <p:cNvPr id="5" name="Footer Placeholder 4">
            <a:extLst>
              <a:ext uri="{FF2B5EF4-FFF2-40B4-BE49-F238E27FC236}">
                <a16:creationId xmlns:a16="http://schemas.microsoft.com/office/drawing/2014/main" id="{762647A5-48FE-516D-B814-B61C62B55E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B3DBC6-EBCB-E24A-BBD0-B4CEB64F3240}"/>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3902628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6B77C-4799-DB32-9F5B-530D14E9CA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BC2AE9-D51A-FDF5-BDAE-7EEA2BE81A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6BF566-FB21-DCE6-A137-F028C4AC3E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72E08F-682A-F50B-1259-47EDE2E286C1}"/>
              </a:ext>
            </a:extLst>
          </p:cNvPr>
          <p:cNvSpPr>
            <a:spLocks noGrp="1"/>
          </p:cNvSpPr>
          <p:nvPr>
            <p:ph type="dt" sz="half" idx="10"/>
          </p:nvPr>
        </p:nvSpPr>
        <p:spPr/>
        <p:txBody>
          <a:bodyPr/>
          <a:lstStyle/>
          <a:p>
            <a:fld id="{FC1F25CA-4E25-4AF8-8E18-92FDF20BC177}" type="datetimeFigureOut">
              <a:rPr lang="en-US" smtClean="0"/>
              <a:t>7/30/2023</a:t>
            </a:fld>
            <a:endParaRPr lang="en-US"/>
          </a:p>
        </p:txBody>
      </p:sp>
      <p:sp>
        <p:nvSpPr>
          <p:cNvPr id="6" name="Footer Placeholder 5">
            <a:extLst>
              <a:ext uri="{FF2B5EF4-FFF2-40B4-BE49-F238E27FC236}">
                <a16:creationId xmlns:a16="http://schemas.microsoft.com/office/drawing/2014/main" id="{A7FB5167-FDA7-5039-D56E-ED8D3D1803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2CF50E-0390-4462-A0F0-890BD4BF8229}"/>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1645659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82D69-2FC4-6ED1-3BDF-B832C5458A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8333CA-D0F7-1C0F-4128-E67E04BFEB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83E9AC-A6FE-6AE7-D8F0-00DD3F3470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C713F5-8021-80C3-F614-7D4A59A087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098AFA-3F9F-6E12-888D-4CE6D17E83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2F9C66-68FC-FF3E-ACCC-231F856FC179}"/>
              </a:ext>
            </a:extLst>
          </p:cNvPr>
          <p:cNvSpPr>
            <a:spLocks noGrp="1"/>
          </p:cNvSpPr>
          <p:nvPr>
            <p:ph type="dt" sz="half" idx="10"/>
          </p:nvPr>
        </p:nvSpPr>
        <p:spPr/>
        <p:txBody>
          <a:bodyPr/>
          <a:lstStyle/>
          <a:p>
            <a:fld id="{FC1F25CA-4E25-4AF8-8E18-92FDF20BC177}" type="datetimeFigureOut">
              <a:rPr lang="en-US" smtClean="0"/>
              <a:t>7/30/2023</a:t>
            </a:fld>
            <a:endParaRPr lang="en-US"/>
          </a:p>
        </p:txBody>
      </p:sp>
      <p:sp>
        <p:nvSpPr>
          <p:cNvPr id="8" name="Footer Placeholder 7">
            <a:extLst>
              <a:ext uri="{FF2B5EF4-FFF2-40B4-BE49-F238E27FC236}">
                <a16:creationId xmlns:a16="http://schemas.microsoft.com/office/drawing/2014/main" id="{6C4E6040-78FB-05DD-B7DD-B3E0A674D3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7EBE5E-A02E-D054-BEF9-8ECB237C687B}"/>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1701170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8441A-B2C6-7371-C18B-34D8635BC9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C7587D-C816-BC9F-D678-D0557BD01DB1}"/>
              </a:ext>
            </a:extLst>
          </p:cNvPr>
          <p:cNvSpPr>
            <a:spLocks noGrp="1"/>
          </p:cNvSpPr>
          <p:nvPr>
            <p:ph type="dt" sz="half" idx="10"/>
          </p:nvPr>
        </p:nvSpPr>
        <p:spPr/>
        <p:txBody>
          <a:bodyPr/>
          <a:lstStyle/>
          <a:p>
            <a:fld id="{FC1F25CA-4E25-4AF8-8E18-92FDF20BC177}" type="datetimeFigureOut">
              <a:rPr lang="en-US" smtClean="0"/>
              <a:t>7/30/2023</a:t>
            </a:fld>
            <a:endParaRPr lang="en-US"/>
          </a:p>
        </p:txBody>
      </p:sp>
      <p:sp>
        <p:nvSpPr>
          <p:cNvPr id="4" name="Footer Placeholder 3">
            <a:extLst>
              <a:ext uri="{FF2B5EF4-FFF2-40B4-BE49-F238E27FC236}">
                <a16:creationId xmlns:a16="http://schemas.microsoft.com/office/drawing/2014/main" id="{D3D0E51C-DA7C-0335-F17A-81F56051EA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12740B-EDEA-2554-1B6A-19C2EEC560E3}"/>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2200802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CD6AAA-7388-F0F2-0593-8BCAE908E09A}"/>
              </a:ext>
            </a:extLst>
          </p:cNvPr>
          <p:cNvSpPr>
            <a:spLocks noGrp="1"/>
          </p:cNvSpPr>
          <p:nvPr>
            <p:ph type="dt" sz="half" idx="10"/>
          </p:nvPr>
        </p:nvSpPr>
        <p:spPr/>
        <p:txBody>
          <a:bodyPr/>
          <a:lstStyle/>
          <a:p>
            <a:fld id="{FC1F25CA-4E25-4AF8-8E18-92FDF20BC177}" type="datetimeFigureOut">
              <a:rPr lang="en-US" smtClean="0"/>
              <a:t>7/30/2023</a:t>
            </a:fld>
            <a:endParaRPr lang="en-US"/>
          </a:p>
        </p:txBody>
      </p:sp>
      <p:sp>
        <p:nvSpPr>
          <p:cNvPr id="3" name="Footer Placeholder 2">
            <a:extLst>
              <a:ext uri="{FF2B5EF4-FFF2-40B4-BE49-F238E27FC236}">
                <a16:creationId xmlns:a16="http://schemas.microsoft.com/office/drawing/2014/main" id="{A26C0874-A066-0123-7CAD-230E3B6893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F8009B-B1C2-1D52-385A-CC68DD66765A}"/>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2781337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3D56A-C443-B347-43F5-9D305A101D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25C083-4655-20C1-48C5-9D0500C5E0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D4B59D-4B33-D0CB-0544-618EEA622A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E9FE48-39DD-5A20-E367-D5677A085C40}"/>
              </a:ext>
            </a:extLst>
          </p:cNvPr>
          <p:cNvSpPr>
            <a:spLocks noGrp="1"/>
          </p:cNvSpPr>
          <p:nvPr>
            <p:ph type="dt" sz="half" idx="10"/>
          </p:nvPr>
        </p:nvSpPr>
        <p:spPr/>
        <p:txBody>
          <a:bodyPr/>
          <a:lstStyle/>
          <a:p>
            <a:fld id="{FC1F25CA-4E25-4AF8-8E18-92FDF20BC177}" type="datetimeFigureOut">
              <a:rPr lang="en-US" smtClean="0"/>
              <a:t>7/30/2023</a:t>
            </a:fld>
            <a:endParaRPr lang="en-US"/>
          </a:p>
        </p:txBody>
      </p:sp>
      <p:sp>
        <p:nvSpPr>
          <p:cNvPr id="6" name="Footer Placeholder 5">
            <a:extLst>
              <a:ext uri="{FF2B5EF4-FFF2-40B4-BE49-F238E27FC236}">
                <a16:creationId xmlns:a16="http://schemas.microsoft.com/office/drawing/2014/main" id="{4DDE777F-77A4-975A-8736-C4797E2029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251182-A88F-14AB-8360-C866E8505474}"/>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577811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DD290-AAF6-16AC-8E91-C61F5B973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EF7AA0-D2FC-4AEF-31C3-AF17D84D04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E7DF1E-B215-9521-B526-D998344161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3A843F-52A7-B09A-6E96-534017ED67F7}"/>
              </a:ext>
            </a:extLst>
          </p:cNvPr>
          <p:cNvSpPr>
            <a:spLocks noGrp="1"/>
          </p:cNvSpPr>
          <p:nvPr>
            <p:ph type="dt" sz="half" idx="10"/>
          </p:nvPr>
        </p:nvSpPr>
        <p:spPr/>
        <p:txBody>
          <a:bodyPr/>
          <a:lstStyle/>
          <a:p>
            <a:fld id="{FC1F25CA-4E25-4AF8-8E18-92FDF20BC177}" type="datetimeFigureOut">
              <a:rPr lang="en-US" smtClean="0"/>
              <a:t>7/30/2023</a:t>
            </a:fld>
            <a:endParaRPr lang="en-US"/>
          </a:p>
        </p:txBody>
      </p:sp>
      <p:sp>
        <p:nvSpPr>
          <p:cNvPr id="6" name="Footer Placeholder 5">
            <a:extLst>
              <a:ext uri="{FF2B5EF4-FFF2-40B4-BE49-F238E27FC236}">
                <a16:creationId xmlns:a16="http://schemas.microsoft.com/office/drawing/2014/main" id="{22B51972-9D2B-700A-3157-249FF28834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932FF0-A0D7-698D-D505-128BB578DC66}"/>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3990759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51AF8-DF01-1452-0DA3-C278BCECCF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FFAFD9-32BA-DC7F-CAF8-FA3AA65A7F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19B152-BDE8-EACD-0D9A-D95E37D6BE21}"/>
              </a:ext>
            </a:extLst>
          </p:cNvPr>
          <p:cNvSpPr>
            <a:spLocks noGrp="1"/>
          </p:cNvSpPr>
          <p:nvPr>
            <p:ph type="dt" sz="half" idx="10"/>
          </p:nvPr>
        </p:nvSpPr>
        <p:spPr/>
        <p:txBody>
          <a:bodyPr/>
          <a:lstStyle/>
          <a:p>
            <a:fld id="{FC1F25CA-4E25-4AF8-8E18-92FDF20BC177}" type="datetimeFigureOut">
              <a:rPr lang="en-US" smtClean="0"/>
              <a:t>7/30/2023</a:t>
            </a:fld>
            <a:endParaRPr lang="en-US"/>
          </a:p>
        </p:txBody>
      </p:sp>
      <p:sp>
        <p:nvSpPr>
          <p:cNvPr id="5" name="Footer Placeholder 4">
            <a:extLst>
              <a:ext uri="{FF2B5EF4-FFF2-40B4-BE49-F238E27FC236}">
                <a16:creationId xmlns:a16="http://schemas.microsoft.com/office/drawing/2014/main" id="{B326220A-86F5-D485-1C53-AC7549BE1D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BFAC72-7CE8-4BC0-0AFC-C5D8EEA73469}"/>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1629056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186E7B-F3D3-3B17-DAAC-BCC3A8EEC8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3B6EE7-9339-E103-7EE9-1D2ABC234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7C7FA9-4BD7-C2F0-F600-78C043985A21}"/>
              </a:ext>
            </a:extLst>
          </p:cNvPr>
          <p:cNvSpPr>
            <a:spLocks noGrp="1"/>
          </p:cNvSpPr>
          <p:nvPr>
            <p:ph type="dt" sz="half" idx="10"/>
          </p:nvPr>
        </p:nvSpPr>
        <p:spPr/>
        <p:txBody>
          <a:bodyPr/>
          <a:lstStyle/>
          <a:p>
            <a:fld id="{FC1F25CA-4E25-4AF8-8E18-92FDF20BC177}" type="datetimeFigureOut">
              <a:rPr lang="en-US" smtClean="0"/>
              <a:t>7/30/2023</a:t>
            </a:fld>
            <a:endParaRPr lang="en-US"/>
          </a:p>
        </p:txBody>
      </p:sp>
      <p:sp>
        <p:nvSpPr>
          <p:cNvPr id="5" name="Footer Placeholder 4">
            <a:extLst>
              <a:ext uri="{FF2B5EF4-FFF2-40B4-BE49-F238E27FC236}">
                <a16:creationId xmlns:a16="http://schemas.microsoft.com/office/drawing/2014/main" id="{970EDE5D-D93C-952E-2223-672DB1AA9D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685DC4-9E42-D357-B657-03F4F374D7C6}"/>
              </a:ext>
            </a:extLst>
          </p:cNvPr>
          <p:cNvSpPr>
            <a:spLocks noGrp="1"/>
          </p:cNvSpPr>
          <p:nvPr>
            <p:ph type="sldNum" sz="quarter" idx="12"/>
          </p:nvPr>
        </p:nvSpPr>
        <p:spPr/>
        <p:txBody>
          <a:bodyPr/>
          <a:lstStyle/>
          <a:p>
            <a:fld id="{07FA0853-CCBD-4126-AA7B-1733E2F3D2F8}" type="slidenum">
              <a:rPr lang="en-US" smtClean="0"/>
              <a:t>‹#›</a:t>
            </a:fld>
            <a:endParaRPr lang="en-US"/>
          </a:p>
        </p:txBody>
      </p:sp>
    </p:spTree>
    <p:extLst>
      <p:ext uri="{BB962C8B-B14F-4D97-AF65-F5344CB8AC3E}">
        <p14:creationId xmlns:p14="http://schemas.microsoft.com/office/powerpoint/2010/main" val="3300551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59FE5C-9DD4-DCD1-771E-78A930910B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DEA4BA-111A-0860-44D9-2889EE5303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43A20C-332F-A0DB-0C09-6B5B65794A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1F25CA-4E25-4AF8-8E18-92FDF20BC177}" type="datetimeFigureOut">
              <a:rPr lang="en-US" smtClean="0"/>
              <a:t>7/30/2023</a:t>
            </a:fld>
            <a:endParaRPr lang="en-US"/>
          </a:p>
        </p:txBody>
      </p:sp>
      <p:sp>
        <p:nvSpPr>
          <p:cNvPr id="5" name="Footer Placeholder 4">
            <a:extLst>
              <a:ext uri="{FF2B5EF4-FFF2-40B4-BE49-F238E27FC236}">
                <a16:creationId xmlns:a16="http://schemas.microsoft.com/office/drawing/2014/main" id="{E631114D-31BE-F018-47BE-103522AEA3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54C468-FB60-2372-9DBE-C29F493746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FA0853-CCBD-4126-AA7B-1733E2F3D2F8}" type="slidenum">
              <a:rPr lang="en-US" smtClean="0"/>
              <a:t>‹#›</a:t>
            </a:fld>
            <a:endParaRPr lang="en-US"/>
          </a:p>
        </p:txBody>
      </p:sp>
    </p:spTree>
    <p:extLst>
      <p:ext uri="{BB962C8B-B14F-4D97-AF65-F5344CB8AC3E}">
        <p14:creationId xmlns:p14="http://schemas.microsoft.com/office/powerpoint/2010/main" val="3344118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4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40.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 Target="slide5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slide" Target="slide61.xml"/><Relationship Id="rId3" Type="http://schemas.openxmlformats.org/officeDocument/2006/relationships/image" Target="../media/image6.png"/><Relationship Id="rId7" Type="http://schemas.openxmlformats.org/officeDocument/2006/relationships/slide" Target="slide36.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18.xml"/><Relationship Id="rId4" Type="http://schemas.openxmlformats.org/officeDocument/2006/relationships/slide" Target="slide16.xml"/><Relationship Id="rId9" Type="http://schemas.openxmlformats.org/officeDocument/2006/relationships/slide" Target="slide60.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slide" Target="slide15.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slide" Target="slide1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slide" Target="slide15.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slide" Target="slide15.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7.png"/><Relationship Id="rId7"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2.png"/><Relationship Id="rId4" Type="http://schemas.openxmlformats.org/officeDocument/2006/relationships/image" Target="../media/image15.png"/><Relationship Id="rId9" Type="http://schemas.openxmlformats.org/officeDocument/2006/relationships/image" Target="../media/image21.png"/></Relationships>
</file>

<file path=ppt/slides/_rels/slide2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4.png"/><Relationship Id="rId7"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4.xml"/><Relationship Id="rId6" Type="http://schemas.openxmlformats.org/officeDocument/2006/relationships/image" Target="../media/image15.png"/><Relationship Id="rId10" Type="http://schemas.openxmlformats.org/officeDocument/2006/relationships/slide" Target="slide15.xml"/><Relationship Id="rId4" Type="http://schemas.openxmlformats.org/officeDocument/2006/relationships/image" Target="../media/image7.png"/><Relationship Id="rId9"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80.png"/><Relationship Id="rId1" Type="http://schemas.openxmlformats.org/officeDocument/2006/relationships/slideLayout" Target="../slideLayouts/slideLayout4.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54.xml"/><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81.png"/><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slide" Target="slide18.xml"/><Relationship Id="rId4" Type="http://schemas.openxmlformats.org/officeDocument/2006/relationships/slide" Target="slide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slide" Target="slide57.xml"/><Relationship Id="rId7" Type="http://schemas.openxmlformats.org/officeDocument/2006/relationships/image" Target="../media/image37.png"/><Relationship Id="rId2" Type="http://schemas.openxmlformats.org/officeDocument/2006/relationships/slide" Target="slide58.xml"/><Relationship Id="rId1" Type="http://schemas.openxmlformats.org/officeDocument/2006/relationships/slideLayout" Target="../slideLayouts/slideLayout2.xml"/><Relationship Id="rId6" Type="http://schemas.openxmlformats.org/officeDocument/2006/relationships/slide" Target="slide47.xml"/><Relationship Id="rId5" Type="http://schemas.openxmlformats.org/officeDocument/2006/relationships/slide" Target="slide48.xml"/><Relationship Id="rId4" Type="http://schemas.openxmlformats.org/officeDocument/2006/relationships/slide" Target="slide5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 Target="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 Target="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8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slide" Target="slide12.xml"/><Relationship Id="rId4" Type="http://schemas.openxmlformats.org/officeDocument/2006/relationships/image" Target="../media/image50.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5.xml"/><Relationship Id="rId4" Type="http://schemas.openxmlformats.org/officeDocument/2006/relationships/slide" Target="slide38.xml"/></Relationships>
</file>

<file path=ppt/slides/_rels/slide59.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7838E-F1DB-EBC7-EA5D-D2C7B99344E6}"/>
              </a:ext>
            </a:extLst>
          </p:cNvPr>
          <p:cNvSpPr>
            <a:spLocks noGrp="1"/>
          </p:cNvSpPr>
          <p:nvPr>
            <p:ph type="ctrTitle"/>
          </p:nvPr>
        </p:nvSpPr>
        <p:spPr/>
        <p:txBody>
          <a:bodyPr>
            <a:normAutofit fontScale="90000"/>
          </a:bodyPr>
          <a:lstStyle/>
          <a:p>
            <a:r>
              <a:rPr lang="en-US" dirty="0"/>
              <a:t>Improving Structural Estimation with Sequential Neural Posterior Estimation</a:t>
            </a:r>
          </a:p>
        </p:txBody>
      </p:sp>
      <p:sp>
        <p:nvSpPr>
          <p:cNvPr id="3" name="Subtitle 2">
            <a:extLst>
              <a:ext uri="{FF2B5EF4-FFF2-40B4-BE49-F238E27FC236}">
                <a16:creationId xmlns:a16="http://schemas.microsoft.com/office/drawing/2014/main" id="{8345936D-034A-87AD-DC51-D550E91492F8}"/>
              </a:ext>
            </a:extLst>
          </p:cNvPr>
          <p:cNvSpPr>
            <a:spLocks noGrp="1"/>
          </p:cNvSpPr>
          <p:nvPr>
            <p:ph type="subTitle" idx="1"/>
          </p:nvPr>
        </p:nvSpPr>
        <p:spPr/>
        <p:txBody>
          <a:bodyPr/>
          <a:lstStyle/>
          <a:p>
            <a:r>
              <a:rPr lang="en-US" dirty="0"/>
              <a:t>By Cameron Fen</a:t>
            </a:r>
          </a:p>
        </p:txBody>
      </p:sp>
    </p:spTree>
    <p:extLst>
      <p:ext uri="{BB962C8B-B14F-4D97-AF65-F5344CB8AC3E}">
        <p14:creationId xmlns:p14="http://schemas.microsoft.com/office/powerpoint/2010/main" val="3532061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44ECE-4238-232F-AC83-D3F3AEF8DE0F}"/>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228D0835-80E5-DE44-D075-FE707946AD59}"/>
              </a:ext>
            </a:extLst>
          </p:cNvPr>
          <p:cNvSpPr>
            <a:spLocks noGrp="1"/>
          </p:cNvSpPr>
          <p:nvPr>
            <p:ph idx="1"/>
          </p:nvPr>
        </p:nvSpPr>
        <p:spPr/>
        <p:txBody>
          <a:bodyPr>
            <a:normAutofit lnSpcReduction="10000"/>
          </a:bodyPr>
          <a:lstStyle/>
          <a:p>
            <a:r>
              <a:rPr lang="en-US" dirty="0"/>
              <a:t>With the curse of dimensionality, it is difficult to estimate macro models in a Bayesian fashion</a:t>
            </a:r>
          </a:p>
          <a:p>
            <a:endParaRPr lang="en-US" dirty="0"/>
          </a:p>
          <a:p>
            <a:r>
              <a:rPr lang="en-US" dirty="0"/>
              <a:t>The workhorse Metropolis-Hastings Markov Chain Monte Carlo (MCMC) has difficulty converging effectively to posteriors for models with more than 10-15 parameters</a:t>
            </a:r>
          </a:p>
          <a:p>
            <a:endParaRPr lang="en-US" dirty="0"/>
          </a:p>
          <a:p>
            <a:r>
              <a:rPr lang="en-US" dirty="0"/>
              <a:t>Sequential Neural Posterior Estimation (SNPE), a technique borrowed from machine learning, can estimate posteriors much more effectively</a:t>
            </a:r>
          </a:p>
        </p:txBody>
      </p:sp>
    </p:spTree>
    <p:extLst>
      <p:ext uri="{BB962C8B-B14F-4D97-AF65-F5344CB8AC3E}">
        <p14:creationId xmlns:p14="http://schemas.microsoft.com/office/powerpoint/2010/main" val="1228250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33B80-F2ED-36E8-B513-E0BBBBC7449F}"/>
              </a:ext>
            </a:extLst>
          </p:cNvPr>
          <p:cNvSpPr>
            <a:spLocks noGrp="1"/>
          </p:cNvSpPr>
          <p:nvPr>
            <p:ph type="title"/>
          </p:nvPr>
        </p:nvSpPr>
        <p:spPr/>
        <p:txBody>
          <a:bodyPr/>
          <a:lstStyle/>
          <a:p>
            <a:r>
              <a:rPr lang="en-US" dirty="0"/>
              <a:t>Contribution</a:t>
            </a:r>
          </a:p>
        </p:txBody>
      </p:sp>
      <p:sp>
        <p:nvSpPr>
          <p:cNvPr id="3" name="Content Placeholder 2">
            <a:extLst>
              <a:ext uri="{FF2B5EF4-FFF2-40B4-BE49-F238E27FC236}">
                <a16:creationId xmlns:a16="http://schemas.microsoft.com/office/drawing/2014/main" id="{AAB46935-2E48-80D7-170C-9416756E0F78}"/>
              </a:ext>
            </a:extLst>
          </p:cNvPr>
          <p:cNvSpPr>
            <a:spLocks noGrp="1"/>
          </p:cNvSpPr>
          <p:nvPr>
            <p:ph idx="1"/>
          </p:nvPr>
        </p:nvSpPr>
        <p:spPr/>
        <p:txBody>
          <a:bodyPr>
            <a:normAutofit lnSpcReduction="10000"/>
          </a:bodyPr>
          <a:lstStyle/>
          <a:p>
            <a:r>
              <a:rPr lang="en-US" dirty="0"/>
              <a:t>I introduce the SNPE machine learning algorithm to improve the Bayesian estimation of structural macroeconomic models</a:t>
            </a:r>
          </a:p>
          <a:p>
            <a:endParaRPr lang="en-US" dirty="0"/>
          </a:p>
          <a:p>
            <a:endParaRPr lang="en-US" dirty="0"/>
          </a:p>
          <a:p>
            <a:r>
              <a:rPr lang="en-US" dirty="0"/>
              <a:t>SNPE can also handle likelihood free estimation in both a Bayesian and MLE framework</a:t>
            </a:r>
          </a:p>
          <a:p>
            <a:endParaRPr lang="en-US" dirty="0"/>
          </a:p>
          <a:p>
            <a:endParaRPr lang="en-US" dirty="0"/>
          </a:p>
          <a:p>
            <a:r>
              <a:rPr lang="en-US" dirty="0"/>
              <a:t>Within my SNPE procedure, I also introduce normalizing flows, for high dimensional density estimation </a:t>
            </a:r>
          </a:p>
          <a:p>
            <a:pPr marL="0" indent="0">
              <a:buNone/>
            </a:pPr>
            <a:endParaRPr lang="en-US" dirty="0"/>
          </a:p>
        </p:txBody>
      </p:sp>
    </p:spTree>
    <p:extLst>
      <p:ext uri="{BB962C8B-B14F-4D97-AF65-F5344CB8AC3E}">
        <p14:creationId xmlns:p14="http://schemas.microsoft.com/office/powerpoint/2010/main" val="2883437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8A5BC-4B70-03B9-C082-E0CEFE78F650}"/>
              </a:ext>
            </a:extLst>
          </p:cNvPr>
          <p:cNvSpPr>
            <a:spLocks noGrp="1"/>
          </p:cNvSpPr>
          <p:nvPr>
            <p:ph type="ctrTitle"/>
          </p:nvPr>
        </p:nvSpPr>
        <p:spPr/>
        <p:txBody>
          <a:bodyPr/>
          <a:lstStyle/>
          <a:p>
            <a:r>
              <a:rPr lang="en-US" dirty="0"/>
              <a:t>SNPE</a:t>
            </a:r>
          </a:p>
        </p:txBody>
      </p:sp>
      <p:sp>
        <p:nvSpPr>
          <p:cNvPr id="3" name="Subtitle 2">
            <a:extLst>
              <a:ext uri="{FF2B5EF4-FFF2-40B4-BE49-F238E27FC236}">
                <a16:creationId xmlns:a16="http://schemas.microsoft.com/office/drawing/2014/main" id="{0A8435CE-6CE8-FD1A-D427-49600DFDC4F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57229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45464-6028-3B14-7E64-1D54A7EBB618}"/>
              </a:ext>
            </a:extLst>
          </p:cNvPr>
          <p:cNvSpPr>
            <a:spLocks noGrp="1"/>
          </p:cNvSpPr>
          <p:nvPr>
            <p:ph type="title"/>
          </p:nvPr>
        </p:nvSpPr>
        <p:spPr/>
        <p:txBody>
          <a:bodyPr/>
          <a:lstStyle/>
          <a:p>
            <a:r>
              <a:rPr lang="en-US" dirty="0"/>
              <a:t>Metropolis-Hastings MCMC on Smets-</a:t>
            </a:r>
            <a:r>
              <a:rPr lang="en-US" dirty="0" err="1"/>
              <a:t>Wouters</a:t>
            </a:r>
            <a:r>
              <a:rPr lang="en-US" dirty="0"/>
              <a:t> after Ten Million Iterations</a:t>
            </a:r>
          </a:p>
        </p:txBody>
      </p:sp>
      <p:sp>
        <p:nvSpPr>
          <p:cNvPr id="8" name="TextBox 7">
            <a:extLst>
              <a:ext uri="{FF2B5EF4-FFF2-40B4-BE49-F238E27FC236}">
                <a16:creationId xmlns:a16="http://schemas.microsoft.com/office/drawing/2014/main" id="{2FCC496B-1CD5-5B2C-1035-9925FDF7FD9F}"/>
              </a:ext>
            </a:extLst>
          </p:cNvPr>
          <p:cNvSpPr txBox="1"/>
          <p:nvPr/>
        </p:nvSpPr>
        <p:spPr>
          <a:xfrm>
            <a:off x="685800" y="6362700"/>
            <a:ext cx="2352675" cy="369332"/>
          </a:xfrm>
          <a:prstGeom prst="rect">
            <a:avLst/>
          </a:prstGeom>
          <a:noFill/>
        </p:spPr>
        <p:txBody>
          <a:bodyPr wrap="square" rtlCol="0">
            <a:spAutoFit/>
          </a:bodyPr>
          <a:lstStyle/>
          <a:p>
            <a:r>
              <a:rPr lang="en-US" dirty="0">
                <a:hlinkClick r:id="rId2" action="ppaction://hlinksldjump"/>
              </a:rPr>
              <a:t>Additional Parameters</a:t>
            </a:r>
            <a:endParaRPr lang="en-US" dirty="0"/>
          </a:p>
        </p:txBody>
      </p:sp>
      <p:pic>
        <p:nvPicPr>
          <p:cNvPr id="12" name="Content Placeholder 11" descr="A graph of a number of objects&#10;&#10;Description automatically generated">
            <a:extLst>
              <a:ext uri="{FF2B5EF4-FFF2-40B4-BE49-F238E27FC236}">
                <a16:creationId xmlns:a16="http://schemas.microsoft.com/office/drawing/2014/main" id="{B49454AE-D2BB-F29C-E30A-9ACC02AECAA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825625"/>
            <a:ext cx="10515600" cy="4351338"/>
          </a:xfrm>
        </p:spPr>
      </p:pic>
    </p:spTree>
    <p:extLst>
      <p:ext uri="{BB962C8B-B14F-4D97-AF65-F5344CB8AC3E}">
        <p14:creationId xmlns:p14="http://schemas.microsoft.com/office/powerpoint/2010/main" val="1475432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45464-6028-3B14-7E64-1D54A7EBB618}"/>
              </a:ext>
            </a:extLst>
          </p:cNvPr>
          <p:cNvSpPr>
            <a:spLocks noGrp="1"/>
          </p:cNvSpPr>
          <p:nvPr>
            <p:ph type="title"/>
          </p:nvPr>
        </p:nvSpPr>
        <p:spPr/>
        <p:txBody>
          <a:bodyPr/>
          <a:lstStyle/>
          <a:p>
            <a:r>
              <a:rPr lang="en-US" dirty="0"/>
              <a:t>SNPE after Five Hundred Thousand Iterations</a:t>
            </a:r>
          </a:p>
        </p:txBody>
      </p:sp>
      <p:sp>
        <p:nvSpPr>
          <p:cNvPr id="7" name="TextBox 6">
            <a:extLst>
              <a:ext uri="{FF2B5EF4-FFF2-40B4-BE49-F238E27FC236}">
                <a16:creationId xmlns:a16="http://schemas.microsoft.com/office/drawing/2014/main" id="{C0BB6784-CB11-01CF-2B6D-3AD884D887BD}"/>
              </a:ext>
            </a:extLst>
          </p:cNvPr>
          <p:cNvSpPr txBox="1"/>
          <p:nvPr/>
        </p:nvSpPr>
        <p:spPr>
          <a:xfrm>
            <a:off x="685799" y="6311900"/>
            <a:ext cx="2371725" cy="369332"/>
          </a:xfrm>
          <a:prstGeom prst="rect">
            <a:avLst/>
          </a:prstGeom>
          <a:noFill/>
        </p:spPr>
        <p:txBody>
          <a:bodyPr wrap="square" rtlCol="0">
            <a:spAutoFit/>
          </a:bodyPr>
          <a:lstStyle/>
          <a:p>
            <a:r>
              <a:rPr lang="en-US" dirty="0">
                <a:hlinkClick r:id="rId2" action="ppaction://hlinksldjump"/>
              </a:rPr>
              <a:t>Additional Parameters</a:t>
            </a:r>
            <a:endParaRPr lang="en-US" dirty="0"/>
          </a:p>
        </p:txBody>
      </p:sp>
      <p:pic>
        <p:nvPicPr>
          <p:cNvPr id="12" name="Content Placeholder 11" descr="A graph of a graph&#10;&#10;Description automatically generated">
            <a:extLst>
              <a:ext uri="{FF2B5EF4-FFF2-40B4-BE49-F238E27FC236}">
                <a16:creationId xmlns:a16="http://schemas.microsoft.com/office/drawing/2014/main" id="{67247F15-BF6D-8261-E1CA-11DC863A176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199" y="1825625"/>
            <a:ext cx="10515599" cy="4351338"/>
          </a:xfrm>
        </p:spPr>
      </p:pic>
    </p:spTree>
    <p:extLst>
      <p:ext uri="{BB962C8B-B14F-4D97-AF65-F5344CB8AC3E}">
        <p14:creationId xmlns:p14="http://schemas.microsoft.com/office/powerpoint/2010/main" val="1645393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B5D72A-0A5B-A257-F617-75B693C5AD8C}"/>
              </a:ext>
            </a:extLst>
          </p:cNvPr>
          <p:cNvSpPr>
            <a:spLocks noGrp="1"/>
          </p:cNvSpPr>
          <p:nvPr>
            <p:ph type="title"/>
          </p:nvPr>
        </p:nvSpPr>
        <p:spPr/>
        <p:txBody>
          <a:bodyPr/>
          <a:lstStyle/>
          <a:p>
            <a:r>
              <a:rPr lang="en-US" dirty="0"/>
              <a:t>Theoretical Underpinning for SNPE Speed vs Monte Carlo</a:t>
            </a:r>
          </a:p>
        </p:txBody>
      </p:sp>
      <p:sp>
        <p:nvSpPr>
          <p:cNvPr id="5" name="Content Placeholder 4">
            <a:extLst>
              <a:ext uri="{FF2B5EF4-FFF2-40B4-BE49-F238E27FC236}">
                <a16:creationId xmlns:a16="http://schemas.microsoft.com/office/drawing/2014/main" id="{3843581A-476A-A875-4584-B638B661C54F}"/>
              </a:ext>
            </a:extLst>
          </p:cNvPr>
          <p:cNvSpPr>
            <a:spLocks noGrp="1"/>
          </p:cNvSpPr>
          <p:nvPr>
            <p:ph sz="half" idx="1"/>
          </p:nvPr>
        </p:nvSpPr>
        <p:spPr/>
        <p:txBody>
          <a:bodyPr>
            <a:normAutofit lnSpcReduction="10000"/>
          </a:bodyPr>
          <a:lstStyle/>
          <a:p>
            <a:r>
              <a:rPr lang="en-US" dirty="0"/>
              <a:t>Sampling from non-log-concave distributions—for example multimodal—with MCMC and related methods don’t have polynomial computational guarantees (</a:t>
            </a:r>
            <a:r>
              <a:rPr lang="en-US" dirty="0" err="1"/>
              <a:t>Chewi</a:t>
            </a:r>
            <a:r>
              <a:rPr lang="en-US" dirty="0"/>
              <a:t> 2023)</a:t>
            </a:r>
          </a:p>
          <a:p>
            <a:r>
              <a:rPr lang="en-US" dirty="0"/>
              <a:t>Using a parametric density estimator via maximum likelihood are roughly quadratic/polynomial in cost (Farrell 2021)</a:t>
            </a:r>
          </a:p>
        </p:txBody>
      </p:sp>
      <p:pic>
        <p:nvPicPr>
          <p:cNvPr id="7" name="Content Placeholder 6" descr="A graph of a graph&#10;&#10;Description automatically generated">
            <a:extLst>
              <a:ext uri="{FF2B5EF4-FFF2-40B4-BE49-F238E27FC236}">
                <a16:creationId xmlns:a16="http://schemas.microsoft.com/office/drawing/2014/main" id="{1D843686-3561-96A6-C3C0-5B613258E68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96000" y="1825625"/>
            <a:ext cx="5257800" cy="4351337"/>
          </a:xfrm>
        </p:spPr>
      </p:pic>
    </p:spTree>
    <p:extLst>
      <p:ext uri="{BB962C8B-B14F-4D97-AF65-F5344CB8AC3E}">
        <p14:creationId xmlns:p14="http://schemas.microsoft.com/office/powerpoint/2010/main" val="1708308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11DFB3F-F0D8-D431-68DE-EA87DBDF618C}"/>
              </a:ext>
            </a:extLst>
          </p:cNvPr>
          <p:cNvSpPr>
            <a:spLocks noGrp="1"/>
          </p:cNvSpPr>
          <p:nvPr>
            <p:ph type="ctrTitle"/>
          </p:nvPr>
        </p:nvSpPr>
        <p:spPr/>
        <p:txBody>
          <a:bodyPr/>
          <a:lstStyle/>
          <a:p>
            <a:r>
              <a:rPr lang="en-US" dirty="0"/>
              <a:t>An Explanation of SNPE</a:t>
            </a:r>
          </a:p>
        </p:txBody>
      </p:sp>
      <p:sp>
        <p:nvSpPr>
          <p:cNvPr id="9" name="Subtitle 8">
            <a:extLst>
              <a:ext uri="{FF2B5EF4-FFF2-40B4-BE49-F238E27FC236}">
                <a16:creationId xmlns:a16="http://schemas.microsoft.com/office/drawing/2014/main" id="{9FF80ADE-ECB8-CBD0-9CEC-543463DAD01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54818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D2045-0D22-0D64-189D-3F42934068F8}"/>
              </a:ext>
            </a:extLst>
          </p:cNvPr>
          <p:cNvSpPr>
            <a:spLocks noGrp="1"/>
          </p:cNvSpPr>
          <p:nvPr>
            <p:ph type="title"/>
          </p:nvPr>
        </p:nvSpPr>
        <p:spPr/>
        <p:txBody>
          <a:bodyPr/>
          <a:lstStyle/>
          <a:p>
            <a:r>
              <a:rPr lang="en-US" dirty="0"/>
              <a:t>Bayes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B65E83-9056-9C68-E258-43517256E76A}"/>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r>
                            <a:rPr lang="en-US" b="0" i="1" smtClean="0">
                              <a:latin typeface="Cambria Math" panose="02040503050406030204" pitchFamily="18" charset="0"/>
                            </a:rPr>
                            <m:t>𝑋</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e>
                              <m:r>
                                <a:rPr lang="en-US" b="0" i="1" smtClean="0">
                                  <a:latin typeface="Cambria Math" panose="02040503050406030204" pitchFamily="18" charset="0"/>
                                </a:rPr>
                                <m:t>𝜃</m:t>
                              </m:r>
                            </m:e>
                          </m:d>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den>
                      </m:f>
                    </m:oMath>
                  </m:oMathPara>
                </a14:m>
                <a:endParaRPr lang="en-US" b="0" dirty="0"/>
              </a:p>
              <a:p>
                <a:endParaRPr lang="en-US" dirty="0"/>
              </a:p>
            </p:txBody>
          </p:sp>
        </mc:Choice>
        <mc:Fallback xmlns="">
          <p:sp>
            <p:nvSpPr>
              <p:cNvPr id="3" name="Content Placeholder 2">
                <a:extLst>
                  <a:ext uri="{FF2B5EF4-FFF2-40B4-BE49-F238E27FC236}">
                    <a16:creationId xmlns:a16="http://schemas.microsoft.com/office/drawing/2014/main" id="{ADB65E83-9056-9C68-E258-43517256E76A}"/>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48FFCB0-59A6-6CAB-94C1-1DC0E71DFEEC}"/>
              </a:ext>
            </a:extLst>
          </p:cNvPr>
          <p:cNvPicPr>
            <a:picLocks noChangeAspect="1"/>
          </p:cNvPicPr>
          <p:nvPr/>
        </p:nvPicPr>
        <p:blipFill>
          <a:blip r:embed="rId3"/>
          <a:stretch>
            <a:fillRect/>
          </a:stretch>
        </p:blipFill>
        <p:spPr>
          <a:xfrm>
            <a:off x="4000137" y="3268979"/>
            <a:ext cx="4740003" cy="2419583"/>
          </a:xfrm>
          <a:prstGeom prst="rect">
            <a:avLst/>
          </a:prstGeom>
        </p:spPr>
      </p:pic>
    </p:spTree>
    <p:extLst>
      <p:ext uri="{BB962C8B-B14F-4D97-AF65-F5344CB8AC3E}">
        <p14:creationId xmlns:p14="http://schemas.microsoft.com/office/powerpoint/2010/main" val="2945745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BF55B-7060-C3F4-71A4-963BACDB8098}"/>
              </a:ext>
            </a:extLst>
          </p:cNvPr>
          <p:cNvSpPr>
            <a:spLocks noGrp="1"/>
          </p:cNvSpPr>
          <p:nvPr>
            <p:ph type="title"/>
          </p:nvPr>
        </p:nvSpPr>
        <p:spPr/>
        <p:txBody>
          <a:bodyPr/>
          <a:lstStyle/>
          <a:p>
            <a:r>
              <a:rPr lang="en-US" dirty="0"/>
              <a:t>MCMC and SNPE</a:t>
            </a:r>
          </a:p>
        </p:txBody>
      </p:sp>
      <p:sp>
        <p:nvSpPr>
          <p:cNvPr id="3" name="Content Placeholder 2">
            <a:extLst>
              <a:ext uri="{FF2B5EF4-FFF2-40B4-BE49-F238E27FC236}">
                <a16:creationId xmlns:a16="http://schemas.microsoft.com/office/drawing/2014/main" id="{B164514F-D9A6-7DA8-F5CC-03892A6F82E5}"/>
              </a:ext>
            </a:extLst>
          </p:cNvPr>
          <p:cNvSpPr>
            <a:spLocks noGrp="1"/>
          </p:cNvSpPr>
          <p:nvPr>
            <p:ph idx="1"/>
          </p:nvPr>
        </p:nvSpPr>
        <p:spPr/>
        <p:txBody>
          <a:bodyPr/>
          <a:lstStyle/>
          <a:p>
            <a:r>
              <a:rPr lang="en-US" dirty="0"/>
              <a:t>High level differences of MCMC and SNPE</a:t>
            </a:r>
          </a:p>
          <a:p>
            <a:endParaRPr lang="en-US" dirty="0"/>
          </a:p>
          <a:p>
            <a:r>
              <a:rPr lang="en-US" dirty="0"/>
              <a:t>Whereas MCMC attempts to sample from the posterior by randomly walking to different points in proportion to the posterior probability…</a:t>
            </a:r>
          </a:p>
          <a:p>
            <a:endParaRPr lang="en-US" dirty="0"/>
          </a:p>
          <a:p>
            <a:r>
              <a:rPr lang="en-US" dirty="0"/>
              <a:t>…SNPE samples from the joint distribution of data and the parameters and then attempts to estimate a conditional density from the joint samples</a:t>
            </a:r>
          </a:p>
        </p:txBody>
      </p:sp>
    </p:spTree>
    <p:extLst>
      <p:ext uri="{BB962C8B-B14F-4D97-AF65-F5344CB8AC3E}">
        <p14:creationId xmlns:p14="http://schemas.microsoft.com/office/powerpoint/2010/main" val="4139444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111F4-64F3-6128-739D-3C404D3D2151}"/>
              </a:ext>
            </a:extLst>
          </p:cNvPr>
          <p:cNvSpPr>
            <a:spLocks noGrp="1"/>
          </p:cNvSpPr>
          <p:nvPr>
            <p:ph type="title"/>
          </p:nvPr>
        </p:nvSpPr>
        <p:spPr/>
        <p:txBody>
          <a:bodyPr/>
          <a:lstStyle/>
          <a:p>
            <a:r>
              <a:rPr lang="en-US" dirty="0"/>
              <a:t>What if the Likelihood is Intractable?</a:t>
            </a:r>
          </a:p>
        </p:txBody>
      </p:sp>
      <p:sp>
        <p:nvSpPr>
          <p:cNvPr id="3" name="Content Placeholder 2">
            <a:extLst>
              <a:ext uri="{FF2B5EF4-FFF2-40B4-BE49-F238E27FC236}">
                <a16:creationId xmlns:a16="http://schemas.microsoft.com/office/drawing/2014/main" id="{5CE9B4EC-91F6-CF5F-7BF1-9EABD8F86F86}"/>
              </a:ext>
            </a:extLst>
          </p:cNvPr>
          <p:cNvSpPr>
            <a:spLocks noGrp="1"/>
          </p:cNvSpPr>
          <p:nvPr>
            <p:ph idx="1"/>
          </p:nvPr>
        </p:nvSpPr>
        <p:spPr/>
        <p:txBody>
          <a:bodyPr>
            <a:normAutofit lnSpcReduction="10000"/>
          </a:bodyPr>
          <a:lstStyle/>
          <a:p>
            <a:r>
              <a:rPr lang="en-US" dirty="0"/>
              <a:t>This is likely to happen in the case of a macro model</a:t>
            </a:r>
          </a:p>
          <a:p>
            <a:endParaRPr lang="en-US" dirty="0"/>
          </a:p>
          <a:p>
            <a:r>
              <a:rPr lang="en-US" dirty="0"/>
              <a:t>For example, both value function iteration and projection take normal shocks and transforms them with nonlinear functions</a:t>
            </a:r>
          </a:p>
          <a:p>
            <a:endParaRPr lang="en-US" dirty="0"/>
          </a:p>
          <a:p>
            <a:pPr lvl="1"/>
            <a:r>
              <a:rPr lang="en-US" dirty="0"/>
              <a:t>Distribution likely will not have a parametric form and so likelihood evaluations are impossible</a:t>
            </a:r>
          </a:p>
          <a:p>
            <a:pPr lvl="1"/>
            <a:endParaRPr lang="en-US" dirty="0"/>
          </a:p>
          <a:p>
            <a:r>
              <a:rPr lang="en-US" dirty="0"/>
              <a:t>With these model solutions, it’s much harder to do MCMC or even maximum likelihood estimation</a:t>
            </a:r>
          </a:p>
        </p:txBody>
      </p:sp>
    </p:spTree>
    <p:extLst>
      <p:ext uri="{BB962C8B-B14F-4D97-AF65-F5344CB8AC3E}">
        <p14:creationId xmlns:p14="http://schemas.microsoft.com/office/powerpoint/2010/main" val="1416581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E4FEB-02F2-1B6C-FF2D-5C488F934193}"/>
              </a:ext>
            </a:extLst>
          </p:cNvPr>
          <p:cNvSpPr>
            <a:spLocks noGrp="1"/>
          </p:cNvSpPr>
          <p:nvPr>
            <p:ph type="title"/>
          </p:nvPr>
        </p:nvSpPr>
        <p:spPr/>
        <p:txBody>
          <a:bodyPr/>
          <a:lstStyle/>
          <a:p>
            <a:r>
              <a:rPr lang="en-US" dirty="0"/>
              <a:t>If You can’t Evaluate, Just Simulate</a:t>
            </a:r>
          </a:p>
        </p:txBody>
      </p:sp>
      <p:sp>
        <p:nvSpPr>
          <p:cNvPr id="3" name="Content Placeholder 2">
            <a:extLst>
              <a:ext uri="{FF2B5EF4-FFF2-40B4-BE49-F238E27FC236}">
                <a16:creationId xmlns:a16="http://schemas.microsoft.com/office/drawing/2014/main" id="{0DEBE771-F9EE-760D-1855-C8CF4A3608D4}"/>
              </a:ext>
            </a:extLst>
          </p:cNvPr>
          <p:cNvSpPr>
            <a:spLocks noGrp="1"/>
          </p:cNvSpPr>
          <p:nvPr>
            <p:ph idx="1"/>
          </p:nvPr>
        </p:nvSpPr>
        <p:spPr/>
        <p:txBody>
          <a:bodyPr>
            <a:normAutofit/>
          </a:bodyPr>
          <a:lstStyle/>
          <a:p>
            <a:r>
              <a:rPr lang="en-US" dirty="0"/>
              <a:t>SNPE can estimate these models, even when the likelihood is intractable, just by simulating from the likelihood</a:t>
            </a:r>
          </a:p>
          <a:p>
            <a:pPr marL="0" indent="0">
              <a:buNone/>
            </a:pPr>
            <a:endParaRPr lang="en-US" dirty="0"/>
          </a:p>
          <a:p>
            <a:pPr marL="0" indent="0">
              <a:buNone/>
            </a:pPr>
            <a:endParaRPr lang="en-US" dirty="0"/>
          </a:p>
          <a:p>
            <a:r>
              <a:rPr lang="en-US" dirty="0"/>
              <a:t>Typically, simulation-based techniques like Method of Simulated Moments (MSM) aren't full information techniques, but can estimate more flexible models (</a:t>
            </a:r>
            <a:r>
              <a:rPr lang="en-US" dirty="0" err="1"/>
              <a:t>ie</a:t>
            </a:r>
            <a:r>
              <a:rPr lang="en-US" dirty="0"/>
              <a:t> ones without tractable likelihoods)</a:t>
            </a:r>
          </a:p>
        </p:txBody>
      </p:sp>
      <p:sp>
        <p:nvSpPr>
          <p:cNvPr id="5" name="TextBox 4">
            <a:extLst>
              <a:ext uri="{FF2B5EF4-FFF2-40B4-BE49-F238E27FC236}">
                <a16:creationId xmlns:a16="http://schemas.microsoft.com/office/drawing/2014/main" id="{FBA5EC5C-A295-C1AC-46A4-B73E5B584F74}"/>
              </a:ext>
            </a:extLst>
          </p:cNvPr>
          <p:cNvSpPr txBox="1"/>
          <p:nvPr/>
        </p:nvSpPr>
        <p:spPr>
          <a:xfrm>
            <a:off x="923925" y="6123543"/>
            <a:ext cx="6096000" cy="369332"/>
          </a:xfrm>
          <a:prstGeom prst="rect">
            <a:avLst/>
          </a:prstGeom>
          <a:noFill/>
        </p:spPr>
        <p:txBody>
          <a:bodyPr wrap="square">
            <a:spAutoFit/>
          </a:bodyPr>
          <a:lstStyle/>
          <a:p>
            <a:r>
              <a:rPr lang="en-US" dirty="0">
                <a:hlinkClick r:id="rId2" action="ppaction://hlinksldjump"/>
              </a:rPr>
              <a:t>Simulation estimation literature</a:t>
            </a:r>
            <a:endParaRPr lang="en-US" dirty="0"/>
          </a:p>
        </p:txBody>
      </p:sp>
    </p:spTree>
    <p:extLst>
      <p:ext uri="{BB962C8B-B14F-4D97-AF65-F5344CB8AC3E}">
        <p14:creationId xmlns:p14="http://schemas.microsoft.com/office/powerpoint/2010/main" val="2612503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E4FEB-02F2-1B6C-FF2D-5C488F934193}"/>
              </a:ext>
            </a:extLst>
          </p:cNvPr>
          <p:cNvSpPr>
            <a:spLocks noGrp="1"/>
          </p:cNvSpPr>
          <p:nvPr>
            <p:ph type="title"/>
          </p:nvPr>
        </p:nvSpPr>
        <p:spPr/>
        <p:txBody>
          <a:bodyPr/>
          <a:lstStyle/>
          <a:p>
            <a:r>
              <a:rPr lang="en-US" dirty="0"/>
              <a:t>SNPE: Best of Both Worlds</a:t>
            </a:r>
          </a:p>
        </p:txBody>
      </p:sp>
      <p:sp>
        <p:nvSpPr>
          <p:cNvPr id="3" name="Content Placeholder 2">
            <a:extLst>
              <a:ext uri="{FF2B5EF4-FFF2-40B4-BE49-F238E27FC236}">
                <a16:creationId xmlns:a16="http://schemas.microsoft.com/office/drawing/2014/main" id="{0DEBE771-F9EE-760D-1855-C8CF4A3608D4}"/>
              </a:ext>
            </a:extLst>
          </p:cNvPr>
          <p:cNvSpPr>
            <a:spLocks noGrp="1"/>
          </p:cNvSpPr>
          <p:nvPr>
            <p:ph idx="1"/>
          </p:nvPr>
        </p:nvSpPr>
        <p:spPr/>
        <p:txBody>
          <a:bodyPr>
            <a:normAutofit/>
          </a:bodyPr>
          <a:lstStyle/>
          <a:p>
            <a:r>
              <a:rPr lang="en-US" dirty="0"/>
              <a:t>SNPE combines the best of both words:</a:t>
            </a:r>
          </a:p>
          <a:p>
            <a:endParaRPr lang="en-US" dirty="0"/>
          </a:p>
          <a:p>
            <a:pPr lvl="1"/>
            <a:r>
              <a:rPr lang="en-US" dirty="0"/>
              <a:t>Can estimate any model that MSM can, but performs likelihood/Bayesian estimation</a:t>
            </a:r>
          </a:p>
          <a:p>
            <a:pPr lvl="1"/>
            <a:endParaRPr lang="en-US" dirty="0"/>
          </a:p>
          <a:p>
            <a:pPr lvl="1"/>
            <a:endParaRPr lang="en-US" dirty="0"/>
          </a:p>
          <a:p>
            <a:r>
              <a:rPr lang="en-US" dirty="0"/>
              <a:t>Additionally, </a:t>
            </a:r>
            <a:r>
              <a:rPr lang="en-US" dirty="0">
                <a:hlinkClick r:id="rId2" action="ppaction://hlinksldjump"/>
              </a:rPr>
              <a:t>adheres</a:t>
            </a:r>
            <a:r>
              <a:rPr lang="en-US" dirty="0"/>
              <a:t> to the state-space assumption for the data generating process rather than a Markovian assumption for MSM</a:t>
            </a:r>
          </a:p>
        </p:txBody>
      </p:sp>
    </p:spTree>
    <p:extLst>
      <p:ext uri="{BB962C8B-B14F-4D97-AF65-F5344CB8AC3E}">
        <p14:creationId xmlns:p14="http://schemas.microsoft.com/office/powerpoint/2010/main" val="159102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9F130-F00C-7531-5146-41C200614BE7}"/>
              </a:ext>
            </a:extLst>
          </p:cNvPr>
          <p:cNvSpPr>
            <a:spLocks noGrp="1"/>
          </p:cNvSpPr>
          <p:nvPr>
            <p:ph type="ctrTitle"/>
          </p:nvPr>
        </p:nvSpPr>
        <p:spPr/>
        <p:txBody>
          <a:bodyPr/>
          <a:lstStyle/>
          <a:p>
            <a:r>
              <a:rPr lang="en-US" dirty="0"/>
              <a:t>SNPE: Estimation Exposition</a:t>
            </a:r>
          </a:p>
        </p:txBody>
      </p:sp>
      <p:sp>
        <p:nvSpPr>
          <p:cNvPr id="3" name="Subtitle 2">
            <a:extLst>
              <a:ext uri="{FF2B5EF4-FFF2-40B4-BE49-F238E27FC236}">
                <a16:creationId xmlns:a16="http://schemas.microsoft.com/office/drawing/2014/main" id="{A49A58CA-B323-4DD4-B482-B04798AAC78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761386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BD9287A-382C-9407-641C-F3A40E9823B5}"/>
                  </a:ext>
                </a:extLst>
              </p:cNvPr>
              <p:cNvSpPr>
                <a:spLocks noGrp="1"/>
              </p:cNvSpPr>
              <p:nvPr>
                <p:ph type="title"/>
              </p:nvPr>
            </p:nvSpPr>
            <p:spPr/>
            <p:txBody>
              <a:bodyPr>
                <a:normAutofit/>
              </a:bodyPr>
              <a:lstStyle/>
              <a:p>
                <a:r>
                  <a:rPr lang="en-US" dirty="0"/>
                  <a:t>SNPE Toy Model: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 </m:t>
                    </m:r>
                    <m:r>
                      <m:rPr>
                        <m:sty m:val="p"/>
                      </m:rPr>
                      <a:rPr lang="en-US" b="0" i="1" smtClean="0">
                        <a:latin typeface="Cambria Math" panose="02040503050406030204" pitchFamily="18" charset="0"/>
                      </a:rPr>
                      <m:t>ϵ</m:t>
                    </m:r>
                    <m:r>
                      <a:rPr lang="en-US" b="0" i="1" smtClean="0">
                        <a:latin typeface="Cambria Math" panose="02040503050406030204" pitchFamily="18" charset="0"/>
                      </a:rPr>
                      <m:t> </m:t>
                    </m:r>
                  </m:oMath>
                </a14:m>
                <a:endParaRPr lang="en-US" dirty="0"/>
              </a:p>
            </p:txBody>
          </p:sp>
        </mc:Choice>
        <mc:Fallback xmlns="">
          <p:sp>
            <p:nvSpPr>
              <p:cNvPr id="2" name="Title 1">
                <a:extLst>
                  <a:ext uri="{FF2B5EF4-FFF2-40B4-BE49-F238E27FC236}">
                    <a16:creationId xmlns:a16="http://schemas.microsoft.com/office/drawing/2014/main" id="{0BD9287A-382C-9407-641C-F3A40E9823B5}"/>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A5E6D8-682A-078E-9376-5A4474ED834E}"/>
                  </a:ext>
                </a:extLst>
              </p:cNvPr>
              <p:cNvSpPr>
                <a:spLocks noGrp="1"/>
              </p:cNvSpPr>
              <p:nvPr>
                <p:ph idx="1"/>
              </p:nvPr>
            </p:nvSpPr>
            <p:spPr>
              <a:xfrm>
                <a:off x="838200" y="1825625"/>
                <a:ext cx="10515600" cy="4351338"/>
              </a:xfrm>
            </p:spPr>
            <p:txBody>
              <a:bodyPr>
                <a:normAutofit lnSpcReduction="10000"/>
              </a:bodyPr>
              <a:lstStyle/>
              <a:p>
                <a14:m>
                  <m:oMath xmlns:m="http://schemas.openxmlformats.org/officeDocument/2006/math">
                    <m:r>
                      <a:rPr lang="en-US" b="0" i="1" smtClean="0">
                        <a:latin typeface="Cambria Math" panose="02040503050406030204" pitchFamily="18" charset="0"/>
                      </a:rPr>
                      <m:t>𝑋</m:t>
                    </m:r>
                  </m:oMath>
                </a14:m>
                <a:r>
                  <a:rPr lang="en-US" dirty="0"/>
                  <a:t> = data,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dirty="0"/>
                  <a:t>= model simulations,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 prior over </a:t>
                </a:r>
                <a14:m>
                  <m:oMath xmlns:m="http://schemas.openxmlformats.org/officeDocument/2006/math">
                    <m:r>
                      <a:rPr lang="en-US" b="0" i="1" smtClean="0">
                        <a:latin typeface="Cambria Math" panose="02040503050406030204" pitchFamily="18" charset="0"/>
                      </a:rPr>
                      <m:t>𝜃</m:t>
                    </m:r>
                  </m:oMath>
                </a14:m>
                <a:r>
                  <a:rPr lang="en-US" dirty="0"/>
                  <a:t>, </a:t>
                </a:r>
                <a14:m>
                  <m:oMath xmlns:m="http://schemas.openxmlformats.org/officeDocument/2006/math">
                    <m:r>
                      <a:rPr lang="en-US" b="0" i="1" dirty="0" smtClean="0">
                        <a:latin typeface="Cambria Math" panose="02040503050406030204" pitchFamily="18" charset="0"/>
                      </a:rPr>
                      <m:t>𝜖</m:t>
                    </m:r>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b="0" i="1" dirty="0" smtClean="0">
                        <a:latin typeface="Cambria Math" panose="02040503050406030204" pitchFamily="18" charset="0"/>
                      </a:rPr>
                      <m:t>(0,1)</m:t>
                    </m:r>
                  </m:oMath>
                </a14:m>
                <a:endParaRPr lang="en-US" dirty="0"/>
              </a:p>
              <a:p>
                <a:r>
                  <a:rPr lang="en-US" dirty="0"/>
                  <a:t>Objective: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endParaRPr lang="en-US" dirty="0"/>
              </a:p>
              <a:p>
                <a:r>
                  <a:rPr lang="en-US" b="1" dirty="0"/>
                  <a:t>Step 1: </a:t>
                </a:r>
                <a14:m>
                  <m:oMath xmlns:m="http://schemas.openxmlformats.org/officeDocument/2006/math">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e>
                        </m:d>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𝐼</m:t>
                        </m:r>
                      </m:sup>
                    </m:sSubSup>
                  </m:oMath>
                </a14:m>
                <a:r>
                  <a:rPr lang="en-US" b="0" dirty="0"/>
                  <a:t> = simulated via Monte Carlo</a:t>
                </a:r>
              </a:p>
              <a:p>
                <a:pPr marL="914400" lvl="1" indent="-457200">
                  <a:buFont typeface="+mj-lt"/>
                  <a:buAutoNum type="arabicPeriod"/>
                </a:pPr>
                <a:r>
                  <a:rPr lang="en-US" dirty="0"/>
                  <a:t>Sample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b="0" dirty="0"/>
                  <a:t> from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endParaRPr lang="en-US" b="0" dirty="0"/>
              </a:p>
              <a:p>
                <a:pPr marL="914400" lvl="1" indent="-457200">
                  <a:buFont typeface="+mj-lt"/>
                  <a:buAutoNum type="arabicPeriod"/>
                </a:pPr>
                <a:r>
                  <a:rPr lang="en-US" dirty="0"/>
                  <a:t>Sample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b="0" dirty="0"/>
                  <a:t> from simulated model conditional on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dirty="0"/>
                  <a: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 </m:t>
                    </m:r>
                    <m:r>
                      <m:rPr>
                        <m:sty m:val="p"/>
                      </m:rPr>
                      <a:rPr lang="en-US" b="0" i="1" smtClean="0">
                        <a:latin typeface="Cambria Math" panose="02040503050406030204" pitchFamily="18" charset="0"/>
                      </a:rPr>
                      <m:t>ϵ</m:t>
                    </m:r>
                  </m:oMath>
                </a14:m>
                <a:endParaRPr lang="en-US" b="0" dirty="0"/>
              </a:p>
              <a:p>
                <a:r>
                  <a:rPr lang="en-US" b="1" dirty="0"/>
                  <a:t>Step 2: </a:t>
                </a:r>
                <a:r>
                  <a:rPr lang="en-US" dirty="0"/>
                  <a:t>Estimate the conditional density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oMath>
                </a14:m>
                <a:r>
                  <a:rPr lang="en-US" b="0" dirty="0"/>
                  <a:t> </a:t>
                </a:r>
              </a:p>
              <a:p>
                <a:pPr marL="914400" lvl="1" indent="-457200">
                  <a:buFont typeface="+mj-lt"/>
                  <a:buAutoNum type="arabicPeriod"/>
                </a:pPr>
                <a:r>
                  <a:rPr lang="en-US" dirty="0"/>
                  <a:t>Use a conditional density estimator</a:t>
                </a:r>
              </a:p>
              <a:p>
                <a:pPr lvl="2">
                  <a:buFont typeface="Wingdings" panose="05000000000000000000" pitchFamily="2" charset="2"/>
                  <a:buChar char="§"/>
                </a:pPr>
                <a:r>
                  <a:rPr lang="en-US" dirty="0"/>
                  <a:t>Many different CDEs can be used, I will discuss a Conditional Mixture of Gaussians and Normalizing Flows</a:t>
                </a:r>
              </a:p>
              <a:p>
                <a:r>
                  <a:rPr lang="en-US" b="1" dirty="0"/>
                  <a:t>Step 3: </a:t>
                </a:r>
                <a:r>
                  <a:rPr lang="en-US" dirty="0"/>
                  <a:t>Condition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b="1" dirty="0"/>
                  <a:t> </a:t>
                </a:r>
                <a:r>
                  <a:rPr lang="en-US" dirty="0"/>
                  <a:t>on the real data, </a:t>
                </a:r>
                <a14:m>
                  <m:oMath xmlns:m="http://schemas.openxmlformats.org/officeDocument/2006/math">
                    <m:r>
                      <a:rPr lang="en-US" b="0" i="1" smtClean="0">
                        <a:latin typeface="Cambria Math" panose="02040503050406030204" pitchFamily="18" charset="0"/>
                      </a:rPr>
                      <m:t>𝑋</m:t>
                    </m:r>
                  </m:oMath>
                </a14:m>
                <a:r>
                  <a:rPr lang="en-US" dirty="0"/>
                  <a:t>, forming the posterior: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9CA5E6D8-682A-078E-9376-5A4474ED834E}"/>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3"/>
                <a:stretch>
                  <a:fillRect l="-1043" t="-308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9F4E1B9-D63F-73D3-2F95-104B0CA79D8E}"/>
              </a:ext>
            </a:extLst>
          </p:cNvPr>
          <p:cNvSpPr txBox="1"/>
          <p:nvPr/>
        </p:nvSpPr>
        <p:spPr>
          <a:xfrm>
            <a:off x="8648700" y="2713038"/>
            <a:ext cx="2105025" cy="369332"/>
          </a:xfrm>
          <a:prstGeom prst="rect">
            <a:avLst/>
          </a:prstGeom>
          <a:noFill/>
        </p:spPr>
        <p:txBody>
          <a:bodyPr wrap="square" rtlCol="0">
            <a:spAutoFit/>
          </a:bodyPr>
          <a:lstStyle/>
          <a:p>
            <a:r>
              <a:rPr lang="en-US" dirty="0">
                <a:hlinkClick r:id="rId4" action="ppaction://hlinksldjump"/>
              </a:rPr>
              <a:t>Simulate diagram</a:t>
            </a:r>
            <a:endParaRPr lang="en-US" dirty="0"/>
          </a:p>
        </p:txBody>
      </p:sp>
      <p:sp>
        <p:nvSpPr>
          <p:cNvPr id="5" name="TextBox 4">
            <a:extLst>
              <a:ext uri="{FF2B5EF4-FFF2-40B4-BE49-F238E27FC236}">
                <a16:creationId xmlns:a16="http://schemas.microsoft.com/office/drawing/2014/main" id="{F8E25899-86EF-D141-C91D-65CACE6AD21C}"/>
              </a:ext>
            </a:extLst>
          </p:cNvPr>
          <p:cNvSpPr txBox="1">
            <a:spLocks/>
          </p:cNvSpPr>
          <p:nvPr/>
        </p:nvSpPr>
        <p:spPr>
          <a:xfrm>
            <a:off x="8648700" y="4001294"/>
            <a:ext cx="2105025" cy="369332"/>
          </a:xfrm>
          <a:prstGeom prst="rect">
            <a:avLst/>
          </a:prstGeom>
          <a:noFill/>
        </p:spPr>
        <p:txBody>
          <a:bodyPr wrap="square" rtlCol="0">
            <a:spAutoFit/>
          </a:bodyPr>
          <a:lstStyle/>
          <a:p>
            <a:r>
              <a:rPr lang="en-US" dirty="0">
                <a:hlinkClick r:id="rId5" action="ppaction://hlinksldjump"/>
              </a:rPr>
              <a:t>Estimate diagram</a:t>
            </a:r>
            <a:endParaRPr lang="en-US" dirty="0"/>
          </a:p>
        </p:txBody>
      </p:sp>
      <p:sp>
        <p:nvSpPr>
          <p:cNvPr id="6" name="TextBox 5">
            <a:extLst>
              <a:ext uri="{FF2B5EF4-FFF2-40B4-BE49-F238E27FC236}">
                <a16:creationId xmlns:a16="http://schemas.microsoft.com/office/drawing/2014/main" id="{544DE18B-236B-8F84-22C0-4FCE0A5BF428}"/>
              </a:ext>
            </a:extLst>
          </p:cNvPr>
          <p:cNvSpPr txBox="1">
            <a:spLocks/>
          </p:cNvSpPr>
          <p:nvPr/>
        </p:nvSpPr>
        <p:spPr>
          <a:xfrm>
            <a:off x="8648700" y="5734844"/>
            <a:ext cx="2105025" cy="369332"/>
          </a:xfrm>
          <a:prstGeom prst="rect">
            <a:avLst/>
          </a:prstGeom>
          <a:noFill/>
        </p:spPr>
        <p:txBody>
          <a:bodyPr wrap="square" rtlCol="0">
            <a:spAutoFit/>
          </a:bodyPr>
          <a:lstStyle/>
          <a:p>
            <a:r>
              <a:rPr lang="en-US" dirty="0">
                <a:hlinkClick r:id="rId6" action="ppaction://hlinksldjump"/>
              </a:rPr>
              <a:t>Condition diagram</a:t>
            </a:r>
            <a:endParaRPr lang="en-US" dirty="0"/>
          </a:p>
        </p:txBody>
      </p:sp>
      <p:sp>
        <p:nvSpPr>
          <p:cNvPr id="7" name="TextBox 6">
            <a:extLst>
              <a:ext uri="{FF2B5EF4-FFF2-40B4-BE49-F238E27FC236}">
                <a16:creationId xmlns:a16="http://schemas.microsoft.com/office/drawing/2014/main" id="{7EAEC5CF-5F53-8F8D-3831-A6DE3ED907F2}"/>
              </a:ext>
            </a:extLst>
          </p:cNvPr>
          <p:cNvSpPr txBox="1"/>
          <p:nvPr/>
        </p:nvSpPr>
        <p:spPr>
          <a:xfrm>
            <a:off x="8648700" y="6429375"/>
            <a:ext cx="1695450" cy="369332"/>
          </a:xfrm>
          <a:prstGeom prst="rect">
            <a:avLst/>
          </a:prstGeom>
          <a:noFill/>
        </p:spPr>
        <p:txBody>
          <a:bodyPr wrap="square" rtlCol="0">
            <a:spAutoFit/>
          </a:bodyPr>
          <a:lstStyle/>
          <a:p>
            <a:r>
              <a:rPr lang="en-US" dirty="0">
                <a:hlinkClick r:id="rId7" action="ppaction://hlinksldjump"/>
              </a:rPr>
              <a:t>Skip Intuition</a:t>
            </a:r>
            <a:endParaRPr lang="en-US" dirty="0"/>
          </a:p>
        </p:txBody>
      </p:sp>
      <p:sp>
        <p:nvSpPr>
          <p:cNvPr id="8" name="TextBox 7">
            <a:extLst>
              <a:ext uri="{FF2B5EF4-FFF2-40B4-BE49-F238E27FC236}">
                <a16:creationId xmlns:a16="http://schemas.microsoft.com/office/drawing/2014/main" id="{AA4154CE-EEA3-28E8-6E3E-20B5F7C71CA7}"/>
              </a:ext>
            </a:extLst>
          </p:cNvPr>
          <p:cNvSpPr txBox="1"/>
          <p:nvPr/>
        </p:nvSpPr>
        <p:spPr>
          <a:xfrm>
            <a:off x="495301" y="6429375"/>
            <a:ext cx="6096000" cy="369332"/>
          </a:xfrm>
          <a:prstGeom prst="rect">
            <a:avLst/>
          </a:prstGeom>
          <a:noFill/>
        </p:spPr>
        <p:txBody>
          <a:bodyPr wrap="square">
            <a:spAutoFit/>
          </a:bodyPr>
          <a:lstStyle/>
          <a:p>
            <a:r>
              <a:rPr lang="en-US" dirty="0">
                <a:hlinkClick r:id="rId8" action="ppaction://hlinksldjump"/>
              </a:rPr>
              <a:t>SNVI</a:t>
            </a:r>
            <a:endParaRPr lang="en-US" dirty="0"/>
          </a:p>
        </p:txBody>
      </p:sp>
      <p:sp>
        <p:nvSpPr>
          <p:cNvPr id="9" name="TextBox 8">
            <a:extLst>
              <a:ext uri="{FF2B5EF4-FFF2-40B4-BE49-F238E27FC236}">
                <a16:creationId xmlns:a16="http://schemas.microsoft.com/office/drawing/2014/main" id="{4D578B12-F576-434C-5B83-B69713A649A9}"/>
              </a:ext>
            </a:extLst>
          </p:cNvPr>
          <p:cNvSpPr txBox="1"/>
          <p:nvPr/>
        </p:nvSpPr>
        <p:spPr>
          <a:xfrm>
            <a:off x="1367083" y="6425800"/>
            <a:ext cx="810705" cy="369332"/>
          </a:xfrm>
          <a:prstGeom prst="rect">
            <a:avLst/>
          </a:prstGeom>
          <a:noFill/>
        </p:spPr>
        <p:txBody>
          <a:bodyPr wrap="square" rtlCol="0">
            <a:spAutoFit/>
          </a:bodyPr>
          <a:lstStyle/>
          <a:p>
            <a:r>
              <a:rPr lang="en-US" dirty="0">
                <a:hlinkClick r:id="rId9" action="ppaction://hlinksldjump"/>
              </a:rPr>
              <a:t>SNPE</a:t>
            </a:r>
            <a:endParaRPr lang="en-US" dirty="0"/>
          </a:p>
        </p:txBody>
      </p:sp>
    </p:spTree>
    <p:extLst>
      <p:ext uri="{BB962C8B-B14F-4D97-AF65-F5344CB8AC3E}">
        <p14:creationId xmlns:p14="http://schemas.microsoft.com/office/powerpoint/2010/main" val="1980329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9DAEA0E-032A-57A4-3049-5E97FF2A246F}"/>
                  </a:ext>
                </a:extLst>
              </p:cNvPr>
              <p:cNvSpPr>
                <a:spLocks noGrp="1"/>
              </p:cNvSpPr>
              <p:nvPr>
                <p:ph type="title"/>
              </p:nvPr>
            </p:nvSpPr>
            <p:spPr/>
            <p:txBody>
              <a:bodyPr>
                <a:normAutofit fontScale="90000"/>
              </a:bodyPr>
              <a:lstStyle/>
              <a:p>
                <a:r>
                  <a:rPr lang="en-US" b="1" dirty="0"/>
                  <a:t>Step 1: </a:t>
                </a:r>
                <a:r>
                  <a:rPr lang="en-US" dirty="0"/>
                  <a:t>Sample </a:t>
                </a:r>
                <a14:m>
                  <m:oMath xmlns:m="http://schemas.openxmlformats.org/officeDocument/2006/math">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e>
                        </m:d>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𝐼</m:t>
                        </m:r>
                      </m:sup>
                    </m:sSubSup>
                    <m:r>
                      <a:rPr lang="en-US" b="0" i="1" smtClean="0">
                        <a:latin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oMath>
                </a14:m>
                <a:r>
                  <a:rPr lang="en-US" b="0" dirty="0"/>
                  <a:t> via Monte Carlo Simulation</a:t>
                </a:r>
                <a:endParaRPr lang="en-US" dirty="0"/>
              </a:p>
            </p:txBody>
          </p:sp>
        </mc:Choice>
        <mc:Fallback xmlns="">
          <p:sp>
            <p:nvSpPr>
              <p:cNvPr id="2" name="Title 1">
                <a:extLst>
                  <a:ext uri="{FF2B5EF4-FFF2-40B4-BE49-F238E27FC236}">
                    <a16:creationId xmlns:a16="http://schemas.microsoft.com/office/drawing/2014/main" id="{D9DAEA0E-032A-57A4-3049-5E97FF2A246F}"/>
                  </a:ext>
                </a:extLst>
              </p:cNvPr>
              <p:cNvSpPr>
                <a:spLocks noGrp="1" noRot="1" noChangeAspect="1" noMove="1" noResize="1" noEditPoints="1" noAdjustHandles="1" noChangeArrowheads="1" noChangeShapeType="1" noTextEdit="1"/>
              </p:cNvSpPr>
              <p:nvPr>
                <p:ph type="title"/>
              </p:nvPr>
            </p:nvSpPr>
            <p:spPr>
              <a:blipFill>
                <a:blip r:embed="rId2"/>
                <a:stretch>
                  <a:fillRect l="-2087" t="-6452" b="-16129"/>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E9A62C99-BF44-63C3-7B0C-405A22128D32}"/>
              </a:ext>
            </a:extLst>
          </p:cNvPr>
          <p:cNvPicPr>
            <a:picLocks noGrp="1" noChangeAspect="1"/>
          </p:cNvPicPr>
          <p:nvPr>
            <p:ph idx="1"/>
          </p:nvPr>
        </p:nvPicPr>
        <p:blipFill>
          <a:blip r:embed="rId3"/>
          <a:stretch>
            <a:fillRect/>
          </a:stretch>
        </p:blipFill>
        <p:spPr>
          <a:xfrm>
            <a:off x="2425147" y="1815686"/>
            <a:ext cx="7089913" cy="4351338"/>
          </a:xfrm>
        </p:spPr>
      </p:pic>
      <p:cxnSp>
        <p:nvCxnSpPr>
          <p:cNvPr id="25" name="Straight Connector 24">
            <a:extLst>
              <a:ext uri="{FF2B5EF4-FFF2-40B4-BE49-F238E27FC236}">
                <a16:creationId xmlns:a16="http://schemas.microsoft.com/office/drawing/2014/main" id="{AFD5C395-7BAE-FEF5-1645-89853DCC539E}"/>
              </a:ext>
            </a:extLst>
          </p:cNvPr>
          <p:cNvCxnSpPr/>
          <p:nvPr/>
        </p:nvCxnSpPr>
        <p:spPr>
          <a:xfrm>
            <a:off x="3041780" y="1903445"/>
            <a:ext cx="5467738"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D8BB2D1B-4F25-D39E-0FB1-AF0FD9334023}"/>
              </a:ext>
            </a:extLst>
          </p:cNvPr>
          <p:cNvSpPr/>
          <p:nvPr/>
        </p:nvSpPr>
        <p:spPr>
          <a:xfrm>
            <a:off x="3032450" y="4568347"/>
            <a:ext cx="130629" cy="8952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8" name="Straight Connector 27">
            <a:extLst>
              <a:ext uri="{FF2B5EF4-FFF2-40B4-BE49-F238E27FC236}">
                <a16:creationId xmlns:a16="http://schemas.microsoft.com/office/drawing/2014/main" id="{82B3E8AB-31FF-AFED-AB5F-34617E3AF257}"/>
              </a:ext>
            </a:extLst>
          </p:cNvPr>
          <p:cNvCxnSpPr/>
          <p:nvPr/>
        </p:nvCxnSpPr>
        <p:spPr>
          <a:xfrm>
            <a:off x="3032450" y="1878563"/>
            <a:ext cx="5467738"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99D0BEBF-CA2B-C596-18AF-00B532127B2B}"/>
              </a:ext>
            </a:extLst>
          </p:cNvPr>
          <p:cNvSpPr/>
          <p:nvPr/>
        </p:nvSpPr>
        <p:spPr>
          <a:xfrm>
            <a:off x="3184850" y="4720747"/>
            <a:ext cx="130629" cy="8952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5818BE71-4314-F862-C5B7-20DAF39EC7D8}"/>
              </a:ext>
            </a:extLst>
          </p:cNvPr>
          <p:cNvSpPr txBox="1"/>
          <p:nvPr/>
        </p:nvSpPr>
        <p:spPr>
          <a:xfrm>
            <a:off x="838200" y="6167024"/>
            <a:ext cx="1162050" cy="369332"/>
          </a:xfrm>
          <a:prstGeom prst="rect">
            <a:avLst/>
          </a:prstGeom>
          <a:noFill/>
        </p:spPr>
        <p:txBody>
          <a:bodyPr wrap="square" rtlCol="0">
            <a:spAutoFit/>
          </a:bodyPr>
          <a:lstStyle/>
          <a:p>
            <a:r>
              <a:rPr lang="en-US" dirty="0">
                <a:hlinkClick r:id="rId4" action="ppaction://hlinksldjump"/>
              </a:rPr>
              <a:t>Back</a:t>
            </a:r>
            <a:endParaRPr lang="en-US" dirty="0"/>
          </a:p>
        </p:txBody>
      </p:sp>
    </p:spTree>
    <p:extLst>
      <p:ext uri="{BB962C8B-B14F-4D97-AF65-F5344CB8AC3E}">
        <p14:creationId xmlns:p14="http://schemas.microsoft.com/office/powerpoint/2010/main" val="634572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69 0.00393 L -0.0069 0.00416 C -0.00651 0.00787 -0.00599 0.01203 -0.00547 0.0162 C -0.00417 0.02523 -0.00261 0.03426 -0.00156 0.04328 C -0.00104 0.04814 -0.00104 0.05324 -0.00078 0.05833 C -0.00052 0.07963 -0.00052 0.10092 2.08333E-6 0.12222 C 0.00026 0.13773 0.00169 0.15301 0.00143 0.16851 C 0.00104 0.19676 -0.00169 0.23171 -0.00391 0.26111 C -0.00339 0.26967 -0.00274 0.27824 -0.00235 0.2868 C -0.00196 0.29421 -0.00196 0.30139 -0.00156 0.30879 C -0.00143 0.31088 -0.00104 0.31319 -0.00078 0.31551 C 2.08333E-6 0.325 0.00091 0.33449 0.00143 0.34398 C 0.00221 0.35532 0.00247 0.36666 0.00299 0.37801 C 0.00351 0.41111 0.0039 0.44421 0.00456 0.47731 C 0.00469 0.48333 0.00534 0.48912 0.00534 0.49514 C 0.00534 0.52106 0.00482 0.54676 0.00456 0.57268 C 0.00208 0.55509 0.00351 0.56713 0.00456 0.52916 C 0.00508 0.51088 0.00508 0.51435 0.00768 0.49652 C 0.00794 0.48703 0.00846 0.47754 0.00846 0.46782 C 0.00846 0.45486 0.0056 0.42268 0.00456 0.41481 C 0.00351 0.40671 0.00221 0.39861 0.00143 0.39027 C 0.00065 0.38125 -0.00078 0.35833 -0.00156 0.34537 C -0.00104 0.33402 -0.00104 0.32268 2.08333E-6 0.31134 C 0.00078 0.30139 0.00351 0.29166 0.00377 0.28148 C 0.00429 0.2625 0.00273 0.24328 0.00221 0.2243 C 0.00273 0.19838 0.00364 0.17268 0.00377 0.14676 C 0.00416 0.0868 0.0013 0.1412 0.00456 0.09236 C 0.00429 0.0625 0.00377 0.0324 0.00377 0.00254 C 0.00377 -0.00255 0.00416 0.0125 0.00456 0.01759 C 0.00521 0.0243 0.00612 0.03101 0.0069 0.03796 C 0.00664 0.06157 0.00651 0.08518 0.00612 0.10856 C 0.00599 0.11551 0.00586 0.12222 0.00534 0.12916 C 0.00482 0.13541 0.00377 0.14166 0.00299 0.14814 C 0.00273 0.16273 0.0026 0.17708 0.00221 0.19166 C 0.00182 0.20578 0.00104 0.21967 0.00078 0.23379 C 0.00052 0.24652 0.00052 0.25926 2.08333E-6 0.27199 C -0.00143 0.30139 -0.00404 0.33078 -0.00547 0.36041 L -0.0069 0.39166 C -0.00677 0.40162 -0.00638 0.41157 -0.00625 0.42152 C -0.00586 0.43981 -0.00599 0.45787 -0.00547 0.47615 C -0.00521 0.48611 -0.00456 0.49606 -0.00391 0.50601 C -0.00196 0.53703 -0.00456 0.47777 -0.00235 0.52361 C -0.00196 0.53101 -0.00196 0.53819 -0.00156 0.54537 C -0.00143 0.54722 -0.00104 0.54907 -0.00078 0.55092 C -0.00026 0.55532 0.00026 0.55995 0.00078 0.56458 L 0.00143 0.57824 C 0.00338 0.50995 0.00286 0.54097 0.00143 0.4162 C 0.00143 0.41389 0.00078 0.4118 0.00078 0.40949 C 0.00052 0.40393 0.00078 0.39861 0.00078 0.39305 " pathEditMode="relative" rAng="0" ptsTypes="AAAAAAAAAAAAAAAAAAAAAAAAAAAAAAAAAAAAAAAAAAAAAAAAA">
                                      <p:cBhvr>
                                        <p:cTn id="6" dur="5000" fill="hold"/>
                                        <p:tgtEl>
                                          <p:spTgt spid="25"/>
                                        </p:tgtEl>
                                        <p:attrNameLst>
                                          <p:attrName>ppt_x</p:attrName>
                                          <p:attrName>ppt_y</p:attrName>
                                        </p:attrNameLst>
                                      </p:cBhvr>
                                      <p:rCtr x="768" y="28588"/>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grpId="1" nodeType="clickEffect">
                                  <p:stCondLst>
                                    <p:cond delay="0"/>
                                  </p:stCondLst>
                                  <p:childTnLst>
                                    <p:animMotion origin="layout" path="M 0.00143 0.00069 L 0.00143 0.00069 L 0.03971 0.00462 C 0.0431 0.00509 0.04635 0.00671 0.04974 0.0074 C 0.05273 0.0081 0.05586 0.00833 0.05885 0.00879 L 0.10247 0.00462 C 0.10716 0.00416 0.11172 0.003 0.11627 0.00208 C 0.11966 0.00115 0.12291 -0.00024 0.1263 -0.0007 C 0.13593 -0.00209 0.14557 -0.00255 0.15534 -0.00348 C 0.17851 -0.00926 0.16302 -0.00602 0.21575 -0.00348 C 0.21705 -0.00348 0.21836 -0.00232 0.21966 -0.00209 C 0.22474 -0.00093 0.22981 -0.00093 0.23489 0.00069 C 0.2375 0.00138 0.24336 0.00324 0.2457 0.00324 C 0.26145 0.00416 0.27734 0.00416 0.2931 0.00462 C 0.30794 0.00763 0.29284 0.00625 0.30534 0.00324 C 0.31145 0.00185 0.31757 0.00092 0.32369 0.00069 C 0.33906 -0.00047 0.35429 -0.00024 0.36966 -0.0007 C 0.38489 -0.00255 0.3901 -0.00394 0.40872 -0.0007 C 0.41067 -0.00047 0.41224 0.00208 0.41406 0.00324 L 0.42864 0.00069 C 0.4164 0.0037 0.40416 0.00648 0.39179 0.00879 L 0.38489 0.01018 C 0.3832 0.01064 0.38138 0.01111 0.37955 0.01157 L 0.37343 0.01296 C 0.36484 0.0125 0.35612 0.01111 0.34739 0.01157 C 0.34336 0.01157 0.33932 0.01342 0.33515 0.01435 L 0.32825 0.01574 L 0.30299 0.01435 C 0.29909 0.01388 0.2875 0.01226 0.2832 0.01157 C 0.27968 0.01041 0.27226 0.00717 0.26862 0.0074 C 0.25703 0.0081 0.24557 0.01041 0.23411 0.01296 L 0.14388 0.01157 C 0.14179 0.01157 0.13971 0.01064 0.13776 0.01018 L 0.13086 0.00879 C 0.12018 0.00393 0.13203 0.00879 0.1056 0.00879 C 0.08971 0.00879 0.07395 0.00787 0.05807 0.0074 C 0.05013 0.00324 0.05494 0.00509 0.04505 0.00324 C 0.02448 -0.00047 0.04778 0.00231 0.00078 0.00069 C 0.03685 -0.00533 -0.01654 0.003 0.08489 -0.00209 C 0.08672 -0.00232 0.08841 -0.00417 0.09023 -0.00487 C 0.09479 -0.00649 0.09948 -0.00764 0.10403 -0.00903 L 0.10859 -0.01019 C 0.11471 -0.00996 0.12083 -0.00973 0.12695 -0.00903 C 0.12786 -0.0088 0.12864 -0.00811 0.12929 -0.00764 C 0.12955 -0.00741 0.12877 -0.00764 0.12851 -0.00764 " pathEditMode="relative" ptsTypes="AAAAAAAAAAAAAAAAAAAAAAAAAAAAAAAAAAAAAAAAAAAAA">
                                      <p:cBhvr>
                                        <p:cTn id="14" dur="3000" fill="hold"/>
                                        <p:tgtEl>
                                          <p:spTgt spid="27"/>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par>
                          <p:cTn id="19" fill="hold">
                            <p:stCondLst>
                              <p:cond delay="0"/>
                            </p:stCondLst>
                            <p:childTnLst>
                              <p:par>
                                <p:cTn id="20" presetID="0" presetClass="path" presetSubtype="0" accel="50000" decel="50000" fill="hold" nodeType="afterEffect">
                                  <p:stCondLst>
                                    <p:cond delay="0"/>
                                  </p:stCondLst>
                                  <p:childTnLst>
                                    <p:animMotion origin="layout" path="M 0.00612 0.00787 L 0.00612 0.00787 C 0.00768 0.03357 0.01185 0.09375 0.01302 0.12477 C 0.01341 0.13843 0.01354 0.15185 0.0138 0.16551 C 0.01354 0.19375 0.01341 0.22176 0.01302 0.25 C 0.01289 0.25533 0.01237 0.26088 0.01224 0.26621 C 0.01185 0.27523 0.01159 0.28426 0.01146 0.29352 C 0.0108 0.32338 0.01172 0.35347 0.00989 0.3831 C 0.0082 0.41088 0.00898 0.39954 0.00768 0.41713 C 0.00742 0.44213 0.00729 0.46713 0.0069 0.49213 C 0.00677 0.49514 0.00638 0.49838 0.00612 0.50162 C 0.00586 0.5051 0.0056 0.5088 0.00534 0.5125 C 0.00507 0.53241 0.00521 0.55232 0.00455 0.57222 C 0.00442 0.57732 0.00416 0.56227 0.00377 0.55741 C 0.00299 0.54722 0.00182 0.53727 0.00078 0.52732 C 0.00104 0.49699 0.00078 0.46667 0.00156 0.43635 C 0.00182 0.42199 0.00416 0.40787 0.00612 0.39398 C 0.00481 0.3882 0.00273 0.38264 0.00234 0.37639 C -0.00013 0.34329 0.0013 0.32847 0.00455 0.29746 C 0.00494 0.29422 0.0056 0.29121 0.00612 0.28797 C 0.00534 0.28033 0.00468 0.27246 0.00377 0.26482 C 0.00338 0.26065 0.00273 0.25672 0.00234 0.25255 C 0.00169 0.24769 0.0013 0.2426 0.00078 0.23773 C 0.0013 0.20417 0.00208 0.1706 0.00234 0.13704 C 0.00247 0.10232 -0.00104 0.1507 0.00234 0.10023 C 0.00351 0.08241 0.00442 0.07523 0.00833 0.05949 C 0.0095 0.0551 0.01106 0.05139 0.01224 0.04722 C 0.01289 0.04468 0.0138 0.03912 0.0138 0.03912 C 0.01354 0.03403 0.01354 0.02894 0.01302 0.02408 C 0.01276 0.02246 0.01185 0.02153 0.01146 0.01991 C 0.01106 0.01875 0.01093 0.01736 0.01067 0.01597 C 0.0125 0.06945 0.0125 0.05255 0.00768 0.14653 C 0.0069 0.16181 0.00494 0.16922 0.00234 0.18195 C 0.00182 0.21042 0.00143 0.23912 0.00078 0.2676 C 0.00065 0.27037 0.00026 0.27292 3.33333E-6 0.2757 C -0.00091 0.28565 -0.00118 0.29074 -0.00157 0.30162 C -0.00378 0.37917 -0.00065 0.34028 -0.0069 0.39815 C -0.00716 0.40463 -0.00743 0.41088 -0.00769 0.41713 C -0.00782 0.42222 -0.00821 0.42709 -0.00847 0.43218 C -0.00873 0.43797 -0.00899 0.44398 -0.00912 0.44977 C -0.00821 0.46435 -0.00743 0.47894 -0.00612 0.49329 C -0.00534 0.50162 -0.00378 0.50972 -0.00313 0.51783 C -0.0017 0.53426 -0.00026 0.55047 0.00078 0.5669 C 0.0013 0.57547 0.00143 0.58426 0.00234 0.5926 C 0.00286 0.59861 0.00182 0.58102 0.00156 0.575 C 0.00208 0.53658 0.00182 0.49792 0.00299 0.45949 C 0.00325 0.45139 0.00573 0.44422 0.00612 0.43635 C 0.00768 0.40463 0.00807 0.37269 0.00911 0.34097 C 0.00885 0.33519 0.00924 0.32917 0.00833 0.32338 C 0.00742 0.31713 0.00494 0.31181 0.00377 0.30556 C 0.00273 0.3 0.00234 0.29398 0.00156 0.28797 C 0.0013 0.28357 0.00078 0.27894 0.00078 0.27431 C 0.00078 0.25602 0.00156 0.2456 0.00377 0.22824 C 0.00442 0.22338 0.00586 0.21783 0.0069 0.2132 C 0.00716 0.21181 0.00755 0.21042 0.00768 0.20903 C 0.00781 0.20278 0.00768 0.1963 0.00768 0.19005 " pathEditMode="relative" ptsTypes="AAAAAAAAAAAAAAAAAAAAAAAAAAAAAAAAAAAAAAAAAAAAAAAAAAAAAAAA">
                                      <p:cBhvr>
                                        <p:cTn id="21" dur="5000" fill="hold"/>
                                        <p:tgtEl>
                                          <p:spTgt spid="28"/>
                                        </p:tgtEl>
                                        <p:attrNameLst>
                                          <p:attrName>ppt_x</p:attrName>
                                          <p:attrName>ppt_y</p:attrName>
                                        </p:attrNameLst>
                                      </p:cBhvr>
                                    </p:animMotion>
                                  </p:childTnLst>
                                </p:cTn>
                              </p:par>
                            </p:childTnLst>
                          </p:cTn>
                        </p:par>
                        <p:par>
                          <p:cTn id="22" fill="hold">
                            <p:stCondLst>
                              <p:cond delay="5000"/>
                            </p:stCondLst>
                            <p:childTnLst>
                              <p:par>
                                <p:cTn id="23" presetID="1" presetClass="entr" presetSubtype="0" fill="hold" grpId="0" nodeType="after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childTnLst>
                          </p:cTn>
                        </p:par>
                        <p:par>
                          <p:cTn id="25" fill="hold">
                            <p:stCondLst>
                              <p:cond delay="5000"/>
                            </p:stCondLst>
                            <p:childTnLst>
                              <p:par>
                                <p:cTn id="26" presetID="0" presetClass="path" presetSubtype="0" accel="50000" decel="50000" fill="hold" grpId="1" nodeType="afterEffect">
                                  <p:stCondLst>
                                    <p:cond delay="0"/>
                                  </p:stCondLst>
                                  <p:childTnLst>
                                    <p:animMotion origin="layout" path="M -0.00677 -0.23102 L -0.00677 -0.23033 L 0.03177 -0.22685 C 0.03489 -0.22616 0.03815 -0.22454 0.04153 -0.22385 C 0.04453 -0.22315 0.04765 -0.22292 0.05065 -0.22292 L 0.09453 -0.22685 C 0.09895 -0.22709 0.10377 -0.22847 0.10807 -0.2294 C 0.11145 -0.2301 0.11497 -0.23172 0.11836 -0.23195 C 0.12799 -0.23334 0.13737 -0.23426 0.14713 -0.23496 C 0.17057 -0.24074 0.15507 -0.2375 0.20755 -0.23496 C 0.20911 -0.23496 0.21015 -0.23357 0.21172 -0.23334 C 0.21653 -0.23264 0.22174 -0.23264 0.22695 -0.23102 C 0.22955 -0.2301 0.23541 -0.22801 0.2375 -0.22801 C 0.25351 -0.22709 0.2694 -0.22709 0.28502 -0.22685 C 0.3 -0.22361 0.28489 -0.22523 0.29713 -0.22801 C 0.30325 -0.2294 0.30937 -0.23033 0.31549 -0.23102 C 0.33086 -0.23172 0.34609 -0.23172 0.36145 -0.23195 C 0.37669 -0.23426 0.3819 -0.23519 0.40052 -0.23195 C 0.4026 -0.23172 0.40429 -0.2294 0.40586 -0.22801 C 0.4108 -0.22894 0.41575 -0.2301 0.4207 -0.23102 C 0.40846 -0.22778 0.39622 -0.22477 0.38385 -0.22292 L 0.37669 -0.2213 C 0.37526 -0.2206 0.37317 -0.22037 0.37161 -0.21968 C 0.3694 -0.21945 0.36731 -0.21875 0.36549 -0.21829 C 0.3569 -0.21875 0.34817 -0.22037 0.33932 -0.21968 C 0.33541 -0.21968 0.33112 -0.21806 0.32721 -0.21713 C 0.32474 -0.21644 0.32239 -0.21644 0.32031 -0.21551 L 0.29479 -0.21713 C 0.29101 -0.21736 0.27929 -0.21898 0.27526 -0.21968 C 0.27174 -0.2213 0.26406 -0.22454 0.26067 -0.22385 C 0.24882 -0.22315 0.23737 -0.2213 0.22591 -0.21829 L 0.13567 -0.21968 C 0.13385 -0.21968 0.13151 -0.2206 0.12955 -0.2213 C 0.12747 -0.22199 0.12513 -0.22199 0.12265 -0.22292 C 0.11224 -0.22778 0.12409 -0.22292 0.09765 -0.22292 C 0.08177 -0.22292 0.06575 -0.22361 0.05 -0.22385 C 0.04192 -0.22801 0.047 -0.22616 0.03711 -0.22801 C 0.01653 -0.23172 0.03984 -0.2294 -0.00716 -0.23102 C 0.0289 -0.23658 -0.02474 -0.22847 0.07695 -0.23334 C 0.07877 -0.23357 0.0802 -0.23588 0.08229 -0.23611 C 0.08659 -0.23773 0.09153 -0.23912 0.09583 -0.24074 C 0.09752 -0.24074 0.09895 -0.24144 0.10065 -0.24144 C 0.10677 -0.24144 0.11289 -0.24097 0.11901 -0.24074 C 0.11966 -0.24005 0.12044 -0.23935 0.12135 -0.23912 C 0.12161 -0.23912 0.27461 -0.24051 0.27435 -0.24051 " pathEditMode="relative" rAng="0" ptsTypes="AAAAAAAAAAAAAAAAAAAAAAAAAAAAAAAAAAAAAAAAAAAAA">
                                      <p:cBhvr>
                                        <p:cTn id="27" dur="3000" fill="hold"/>
                                        <p:tgtEl>
                                          <p:spTgt spid="32"/>
                                        </p:tgtEl>
                                        <p:attrNameLst>
                                          <p:attrName>ppt_x</p:attrName>
                                          <p:attrName>ppt_y</p:attrName>
                                        </p:attrNameLst>
                                      </p:cBhvr>
                                      <p:rCtr x="21354" y="25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7" grpId="1" animBg="1"/>
      <p:bldP spid="32" grpId="0" animBg="1"/>
      <p:bldP spid="32"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9DAEA0E-032A-57A4-3049-5E97FF2A246F}"/>
                  </a:ext>
                </a:extLst>
              </p:cNvPr>
              <p:cNvSpPr>
                <a:spLocks noGrp="1"/>
              </p:cNvSpPr>
              <p:nvPr>
                <p:ph type="title"/>
              </p:nvPr>
            </p:nvSpPr>
            <p:spPr/>
            <p:txBody>
              <a:bodyPr>
                <a:normAutofit fontScale="90000"/>
              </a:bodyPr>
              <a:lstStyle/>
              <a:p>
                <a:pPr/>
                <a:r>
                  <a:rPr lang="en-US" dirty="0"/>
                  <a:t>In this way one samples from the joint distribution of the prior and simulated data from the model: </a:t>
                </a:r>
                <a:br>
                  <a:rPr lang="en-US" dirty="0"/>
                </a:b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𝜃</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𝜃</m:t>
                              </m:r>
                              <m:r>
                                <a:rPr lang="en-US" b="0" i="1" smtClean="0">
                                  <a:latin typeface="Cambria Math" panose="02040503050406030204" pitchFamily="18" charset="0"/>
                                </a:rPr>
                                <m:t>, </m:t>
                              </m:r>
                              <m:r>
                                <m:rPr>
                                  <m:sty m:val="p"/>
                                </m:rPr>
                                <a:rPr lang="en-US" b="0" i="1" smtClean="0">
                                  <a:latin typeface="Cambria Math" panose="02040503050406030204" pitchFamily="18" charset="0"/>
                                </a:rPr>
                                <m:t>X</m:t>
                              </m:r>
                            </m:e>
                            <m:sup>
                              <m:r>
                                <a:rPr lang="en-US" b="0" i="1" smtClean="0">
                                  <a:latin typeface="Cambria Math" panose="02040503050406030204" pitchFamily="18" charset="0"/>
                                </a:rPr>
                                <m:t>∗</m:t>
                              </m:r>
                            </m:sup>
                          </m:sSup>
                        </m:e>
                      </m:d>
                      <m:r>
                        <a:rPr lang="en-US" b="0" i="1" smtClean="0">
                          <a:latin typeface="Cambria Math" panose="02040503050406030204" pitchFamily="18" charset="0"/>
                        </a:rPr>
                        <m:t>= </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e>
                          <m:r>
                            <a:rPr lang="en-US" b="0" i="1" smtClean="0">
                              <a:latin typeface="Cambria Math" panose="02040503050406030204" pitchFamily="18" charset="0"/>
                            </a:rPr>
                            <m:t>𝜃</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m:oMathPara>
                </a14:m>
                <a:endParaRPr lang="en-US" dirty="0"/>
              </a:p>
            </p:txBody>
          </p:sp>
        </mc:Choice>
        <mc:Fallback xmlns="">
          <p:sp>
            <p:nvSpPr>
              <p:cNvPr id="2" name="Title 1">
                <a:extLst>
                  <a:ext uri="{FF2B5EF4-FFF2-40B4-BE49-F238E27FC236}">
                    <a16:creationId xmlns:a16="http://schemas.microsoft.com/office/drawing/2014/main" id="{D9DAEA0E-032A-57A4-3049-5E97FF2A246F}"/>
                  </a:ext>
                </a:extLst>
              </p:cNvPr>
              <p:cNvSpPr>
                <a:spLocks noGrp="1" noRot="1" noChangeAspect="1" noMove="1" noResize="1" noEditPoints="1" noAdjustHandles="1" noChangeArrowheads="1" noChangeShapeType="1" noTextEdit="1"/>
              </p:cNvSpPr>
              <p:nvPr>
                <p:ph type="title"/>
              </p:nvPr>
            </p:nvSpPr>
            <p:spPr>
              <a:blipFill>
                <a:blip r:embed="rId2"/>
                <a:stretch>
                  <a:fillRect l="-2087" t="-28571" r="-2145" b="-9217"/>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E9A62C99-BF44-63C3-7B0C-405A22128D32}"/>
              </a:ext>
            </a:extLst>
          </p:cNvPr>
          <p:cNvPicPr>
            <a:picLocks noGrp="1" noChangeAspect="1"/>
          </p:cNvPicPr>
          <p:nvPr>
            <p:ph idx="1"/>
          </p:nvPr>
        </p:nvPicPr>
        <p:blipFill>
          <a:blip r:embed="rId3"/>
          <a:stretch>
            <a:fillRect/>
          </a:stretch>
        </p:blipFill>
        <p:spPr>
          <a:xfrm>
            <a:off x="2425147" y="1815686"/>
            <a:ext cx="7089913" cy="4351338"/>
          </a:xfrm>
        </p:spPr>
      </p:pic>
      <p:sp>
        <p:nvSpPr>
          <p:cNvPr id="4" name="Oval 3">
            <a:extLst>
              <a:ext uri="{FF2B5EF4-FFF2-40B4-BE49-F238E27FC236}">
                <a16:creationId xmlns:a16="http://schemas.microsoft.com/office/drawing/2014/main" id="{0F554FAD-6920-4238-63C6-AF649CD8CB83}"/>
              </a:ext>
            </a:extLst>
          </p:cNvPr>
          <p:cNvSpPr/>
          <p:nvPr/>
        </p:nvSpPr>
        <p:spPr>
          <a:xfrm>
            <a:off x="6531429" y="308843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A7E3AD9-9C83-54ED-43A6-27A22C461FA8}"/>
              </a:ext>
            </a:extLst>
          </p:cNvPr>
          <p:cNvSpPr/>
          <p:nvPr/>
        </p:nvSpPr>
        <p:spPr>
          <a:xfrm>
            <a:off x="4547119" y="45657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C723F60D-A0DA-82BB-A4CD-7B8E93A59283}"/>
              </a:ext>
            </a:extLst>
          </p:cNvPr>
          <p:cNvSpPr/>
          <p:nvPr/>
        </p:nvSpPr>
        <p:spPr>
          <a:xfrm>
            <a:off x="6630955" y="332636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8FE01AE-4898-E99E-7E59-77563F7C17FE}"/>
              </a:ext>
            </a:extLst>
          </p:cNvPr>
          <p:cNvSpPr/>
          <p:nvPr/>
        </p:nvSpPr>
        <p:spPr>
          <a:xfrm>
            <a:off x="4320075" y="435739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ED11DA49-95E5-D540-B621-1C0501954E70}"/>
              </a:ext>
            </a:extLst>
          </p:cNvPr>
          <p:cNvSpPr/>
          <p:nvPr/>
        </p:nvSpPr>
        <p:spPr>
          <a:xfrm>
            <a:off x="4578220" y="440871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508AF6-C120-0B93-E6EB-9CA40D120B8B}"/>
              </a:ext>
            </a:extLst>
          </p:cNvPr>
          <p:cNvSpPr/>
          <p:nvPr/>
        </p:nvSpPr>
        <p:spPr>
          <a:xfrm>
            <a:off x="4699519" y="47181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71C18D5-7534-C3CF-0B01-C3CC501F4EDB}"/>
              </a:ext>
            </a:extLst>
          </p:cNvPr>
          <p:cNvSpPr/>
          <p:nvPr/>
        </p:nvSpPr>
        <p:spPr>
          <a:xfrm>
            <a:off x="5047862" y="482081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E6B1E29D-B583-4D5F-D848-73106E5A73EF}"/>
              </a:ext>
            </a:extLst>
          </p:cNvPr>
          <p:cNvSpPr/>
          <p:nvPr/>
        </p:nvSpPr>
        <p:spPr>
          <a:xfrm>
            <a:off x="5204928" y="451446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16E40DBF-31E5-6805-D64A-64DCF8AE7B67}"/>
              </a:ext>
            </a:extLst>
          </p:cNvPr>
          <p:cNvSpPr/>
          <p:nvPr/>
        </p:nvSpPr>
        <p:spPr>
          <a:xfrm>
            <a:off x="6229739" y="480030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8EC7B347-112E-A813-4524-715377C18189}"/>
              </a:ext>
            </a:extLst>
          </p:cNvPr>
          <p:cNvSpPr/>
          <p:nvPr/>
        </p:nvSpPr>
        <p:spPr>
          <a:xfrm>
            <a:off x="4315410" y="412976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8F2CBFED-9351-A636-0E14-2971DADF6B30}"/>
              </a:ext>
            </a:extLst>
          </p:cNvPr>
          <p:cNvSpPr/>
          <p:nvPr/>
        </p:nvSpPr>
        <p:spPr>
          <a:xfrm>
            <a:off x="6332375" y="342900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3500AF1A-CEA0-639D-9016-90A0B3B28D3A}"/>
              </a:ext>
            </a:extLst>
          </p:cNvPr>
          <p:cNvSpPr/>
          <p:nvPr/>
        </p:nvSpPr>
        <p:spPr>
          <a:xfrm>
            <a:off x="6489441" y="361561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18112A7F-01EA-2DDF-D9CE-66914104C534}"/>
              </a:ext>
            </a:extLst>
          </p:cNvPr>
          <p:cNvSpPr/>
          <p:nvPr/>
        </p:nvSpPr>
        <p:spPr>
          <a:xfrm>
            <a:off x="4533121" y="409865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C40ED861-1692-F548-45DC-26FC3998C080}"/>
              </a:ext>
            </a:extLst>
          </p:cNvPr>
          <p:cNvSpPr/>
          <p:nvPr/>
        </p:nvSpPr>
        <p:spPr>
          <a:xfrm>
            <a:off x="5033866" y="390271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228063AF-9FC1-6F44-CC3C-EFDAD82EB7B7}"/>
              </a:ext>
            </a:extLst>
          </p:cNvPr>
          <p:cNvSpPr/>
          <p:nvPr/>
        </p:nvSpPr>
        <p:spPr>
          <a:xfrm>
            <a:off x="4851919" y="48705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361855D-F6B6-FD6C-3868-14793CB2DDFC}"/>
              </a:ext>
            </a:extLst>
          </p:cNvPr>
          <p:cNvSpPr/>
          <p:nvPr/>
        </p:nvSpPr>
        <p:spPr>
          <a:xfrm>
            <a:off x="4177006" y="476949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2A1A0B38-CDE9-1C6D-72E6-DE9730CC9F41}"/>
              </a:ext>
            </a:extLst>
          </p:cNvPr>
          <p:cNvSpPr/>
          <p:nvPr/>
        </p:nvSpPr>
        <p:spPr>
          <a:xfrm>
            <a:off x="4419195" y="299668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195824B5-C786-BB3F-7B9D-40278C8DCEC5}"/>
              </a:ext>
            </a:extLst>
          </p:cNvPr>
          <p:cNvSpPr/>
          <p:nvPr/>
        </p:nvSpPr>
        <p:spPr>
          <a:xfrm>
            <a:off x="5561046" y="404733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F230AF58-4C6A-10C8-0CCA-1518968AC4A6}"/>
              </a:ext>
            </a:extLst>
          </p:cNvPr>
          <p:cNvSpPr/>
          <p:nvPr/>
        </p:nvSpPr>
        <p:spPr>
          <a:xfrm>
            <a:off x="5570377" y="31941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E19AF942-7226-4A43-BC8F-2D755F67C7DD}"/>
              </a:ext>
            </a:extLst>
          </p:cNvPr>
          <p:cNvSpPr/>
          <p:nvPr/>
        </p:nvSpPr>
        <p:spPr>
          <a:xfrm>
            <a:off x="4335626" y="375868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CCD8A66-3032-4489-4659-D4AC77926E1A}"/>
              </a:ext>
            </a:extLst>
          </p:cNvPr>
          <p:cNvSpPr/>
          <p:nvPr/>
        </p:nvSpPr>
        <p:spPr>
          <a:xfrm>
            <a:off x="5477071" y="464635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86112287-C961-54CB-0522-07E6B846C4CF}"/>
              </a:ext>
            </a:extLst>
          </p:cNvPr>
          <p:cNvSpPr/>
          <p:nvPr/>
        </p:nvSpPr>
        <p:spPr>
          <a:xfrm>
            <a:off x="5886128" y="4697668"/>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1EFFC5B7-DD49-72DD-9DD7-C4A065F35414}"/>
              </a:ext>
            </a:extLst>
          </p:cNvPr>
          <p:cNvSpPr/>
          <p:nvPr/>
        </p:nvSpPr>
        <p:spPr>
          <a:xfrm>
            <a:off x="4547119" y="492967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81CF1B06-A059-88F4-A196-CA1A275E4102}"/>
              </a:ext>
            </a:extLst>
          </p:cNvPr>
          <p:cNvSpPr/>
          <p:nvPr/>
        </p:nvSpPr>
        <p:spPr>
          <a:xfrm>
            <a:off x="5204927" y="414997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C1CFDCD4-6B87-34BA-CD17-F6B293D9879F}"/>
              </a:ext>
            </a:extLst>
          </p:cNvPr>
          <p:cNvSpPr/>
          <p:nvPr/>
        </p:nvSpPr>
        <p:spPr>
          <a:xfrm>
            <a:off x="4860473" y="446314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00E4EE31-CA3A-74B2-6724-5326A9980D22}"/>
              </a:ext>
            </a:extLst>
          </p:cNvPr>
          <p:cNvSpPr/>
          <p:nvPr/>
        </p:nvSpPr>
        <p:spPr>
          <a:xfrm>
            <a:off x="5928115" y="299823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3CDA6C7E-D9E5-6ED7-4756-F5E7C304A0B6}"/>
              </a:ext>
            </a:extLst>
          </p:cNvPr>
          <p:cNvSpPr txBox="1"/>
          <p:nvPr/>
        </p:nvSpPr>
        <p:spPr>
          <a:xfrm>
            <a:off x="838200" y="6167024"/>
            <a:ext cx="1162050" cy="369332"/>
          </a:xfrm>
          <a:prstGeom prst="rect">
            <a:avLst/>
          </a:prstGeom>
          <a:noFill/>
        </p:spPr>
        <p:txBody>
          <a:bodyPr wrap="square" rtlCol="0">
            <a:spAutoFit/>
          </a:bodyPr>
          <a:lstStyle/>
          <a:p>
            <a:r>
              <a:rPr lang="en-US" dirty="0">
                <a:hlinkClick r:id="rId4" action="ppaction://hlinksldjump"/>
              </a:rPr>
              <a:t>Back</a:t>
            </a:r>
            <a:endParaRPr lang="en-US" dirty="0"/>
          </a:p>
        </p:txBody>
      </p:sp>
    </p:spTree>
    <p:extLst>
      <p:ext uri="{BB962C8B-B14F-4D97-AF65-F5344CB8AC3E}">
        <p14:creationId xmlns:p14="http://schemas.microsoft.com/office/powerpoint/2010/main" val="3124672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9DAEA0E-032A-57A4-3049-5E97FF2A246F}"/>
                  </a:ext>
                </a:extLst>
              </p:cNvPr>
              <p:cNvSpPr>
                <a:spLocks noGrp="1"/>
              </p:cNvSpPr>
              <p:nvPr>
                <p:ph type="title"/>
              </p:nvPr>
            </p:nvSpPr>
            <p:spPr/>
            <p:txBody>
              <a:bodyPr>
                <a:normAutofit fontScale="90000"/>
              </a:bodyPr>
              <a:lstStyle/>
              <a:p>
                <a:r>
                  <a:rPr lang="en-US" b="1" dirty="0"/>
                  <a:t>Step 2: </a:t>
                </a:r>
                <a:r>
                  <a:rPr lang="en-US" dirty="0"/>
                  <a:t>Estimate the conditional density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oMath>
                </a14:m>
                <a:r>
                  <a:rPr lang="en-US" b="0" dirty="0"/>
                  <a:t> </a:t>
                </a:r>
                <a:br>
                  <a:rPr lang="en-US" b="0" dirty="0"/>
                </a:br>
                <a:endParaRPr lang="en-US" dirty="0"/>
              </a:p>
            </p:txBody>
          </p:sp>
        </mc:Choice>
        <mc:Fallback xmlns="">
          <p:sp>
            <p:nvSpPr>
              <p:cNvPr id="2" name="Title 1">
                <a:extLst>
                  <a:ext uri="{FF2B5EF4-FFF2-40B4-BE49-F238E27FC236}">
                    <a16:creationId xmlns:a16="http://schemas.microsoft.com/office/drawing/2014/main" id="{D9DAEA0E-032A-57A4-3049-5E97FF2A246F}"/>
                  </a:ext>
                </a:extLst>
              </p:cNvPr>
              <p:cNvSpPr>
                <a:spLocks noGrp="1" noRot="1" noChangeAspect="1" noMove="1" noResize="1" noEditPoints="1" noAdjustHandles="1" noChangeArrowheads="1" noChangeShapeType="1" noTextEdit="1"/>
              </p:cNvSpPr>
              <p:nvPr>
                <p:ph type="title"/>
              </p:nvPr>
            </p:nvSpPr>
            <p:spPr>
              <a:blipFill>
                <a:blip r:embed="rId2"/>
                <a:stretch>
                  <a:fillRect l="-2087" t="-7834"/>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E9A62C99-BF44-63C3-7B0C-405A22128D32}"/>
              </a:ext>
            </a:extLst>
          </p:cNvPr>
          <p:cNvPicPr>
            <a:picLocks noGrp="1" noChangeAspect="1"/>
          </p:cNvPicPr>
          <p:nvPr>
            <p:ph idx="1"/>
          </p:nvPr>
        </p:nvPicPr>
        <p:blipFill>
          <a:blip r:embed="rId3"/>
          <a:stretch>
            <a:fillRect/>
          </a:stretch>
        </p:blipFill>
        <p:spPr>
          <a:xfrm>
            <a:off x="2425147" y="1815686"/>
            <a:ext cx="7089913" cy="4351338"/>
          </a:xfrm>
        </p:spPr>
      </p:pic>
      <p:sp>
        <p:nvSpPr>
          <p:cNvPr id="4" name="Oval 3">
            <a:extLst>
              <a:ext uri="{FF2B5EF4-FFF2-40B4-BE49-F238E27FC236}">
                <a16:creationId xmlns:a16="http://schemas.microsoft.com/office/drawing/2014/main" id="{0F554FAD-6920-4238-63C6-AF649CD8CB83}"/>
              </a:ext>
            </a:extLst>
          </p:cNvPr>
          <p:cNvSpPr/>
          <p:nvPr/>
        </p:nvSpPr>
        <p:spPr>
          <a:xfrm>
            <a:off x="6531429" y="308843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A7E3AD9-9C83-54ED-43A6-27A22C461FA8}"/>
              </a:ext>
            </a:extLst>
          </p:cNvPr>
          <p:cNvSpPr/>
          <p:nvPr/>
        </p:nvSpPr>
        <p:spPr>
          <a:xfrm>
            <a:off x="4547119" y="45657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C723F60D-A0DA-82BB-A4CD-7B8E93A59283}"/>
              </a:ext>
            </a:extLst>
          </p:cNvPr>
          <p:cNvSpPr/>
          <p:nvPr/>
        </p:nvSpPr>
        <p:spPr>
          <a:xfrm>
            <a:off x="6630955" y="332636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8FE01AE-4898-E99E-7E59-77563F7C17FE}"/>
              </a:ext>
            </a:extLst>
          </p:cNvPr>
          <p:cNvSpPr/>
          <p:nvPr/>
        </p:nvSpPr>
        <p:spPr>
          <a:xfrm>
            <a:off x="4320075" y="435739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ED11DA49-95E5-D540-B621-1C0501954E70}"/>
              </a:ext>
            </a:extLst>
          </p:cNvPr>
          <p:cNvSpPr/>
          <p:nvPr/>
        </p:nvSpPr>
        <p:spPr>
          <a:xfrm>
            <a:off x="4578220" y="440871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508AF6-C120-0B93-E6EB-9CA40D120B8B}"/>
              </a:ext>
            </a:extLst>
          </p:cNvPr>
          <p:cNvSpPr/>
          <p:nvPr/>
        </p:nvSpPr>
        <p:spPr>
          <a:xfrm>
            <a:off x="4699519" y="47181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71C18D5-7534-C3CF-0B01-C3CC501F4EDB}"/>
              </a:ext>
            </a:extLst>
          </p:cNvPr>
          <p:cNvSpPr/>
          <p:nvPr/>
        </p:nvSpPr>
        <p:spPr>
          <a:xfrm>
            <a:off x="5047862" y="482081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E6B1E29D-B583-4D5F-D848-73106E5A73EF}"/>
              </a:ext>
            </a:extLst>
          </p:cNvPr>
          <p:cNvSpPr/>
          <p:nvPr/>
        </p:nvSpPr>
        <p:spPr>
          <a:xfrm>
            <a:off x="5204928" y="451446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16E40DBF-31E5-6805-D64A-64DCF8AE7B67}"/>
              </a:ext>
            </a:extLst>
          </p:cNvPr>
          <p:cNvSpPr/>
          <p:nvPr/>
        </p:nvSpPr>
        <p:spPr>
          <a:xfrm>
            <a:off x="6229739" y="480030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8EC7B347-112E-A813-4524-715377C18189}"/>
              </a:ext>
            </a:extLst>
          </p:cNvPr>
          <p:cNvSpPr/>
          <p:nvPr/>
        </p:nvSpPr>
        <p:spPr>
          <a:xfrm>
            <a:off x="4315410" y="412976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8F2CBFED-9351-A636-0E14-2971DADF6B30}"/>
              </a:ext>
            </a:extLst>
          </p:cNvPr>
          <p:cNvSpPr/>
          <p:nvPr/>
        </p:nvSpPr>
        <p:spPr>
          <a:xfrm>
            <a:off x="6332375" y="342900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3500AF1A-CEA0-639D-9016-90A0B3B28D3A}"/>
              </a:ext>
            </a:extLst>
          </p:cNvPr>
          <p:cNvSpPr/>
          <p:nvPr/>
        </p:nvSpPr>
        <p:spPr>
          <a:xfrm>
            <a:off x="6489441" y="361561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18112A7F-01EA-2DDF-D9CE-66914104C534}"/>
              </a:ext>
            </a:extLst>
          </p:cNvPr>
          <p:cNvSpPr/>
          <p:nvPr/>
        </p:nvSpPr>
        <p:spPr>
          <a:xfrm>
            <a:off x="4533121" y="409865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C40ED861-1692-F548-45DC-26FC3998C080}"/>
              </a:ext>
            </a:extLst>
          </p:cNvPr>
          <p:cNvSpPr/>
          <p:nvPr/>
        </p:nvSpPr>
        <p:spPr>
          <a:xfrm>
            <a:off x="5033866" y="390271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228063AF-9FC1-6F44-CC3C-EFDAD82EB7B7}"/>
              </a:ext>
            </a:extLst>
          </p:cNvPr>
          <p:cNvSpPr/>
          <p:nvPr/>
        </p:nvSpPr>
        <p:spPr>
          <a:xfrm>
            <a:off x="4851919" y="48705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361855D-F6B6-FD6C-3868-14793CB2DDFC}"/>
              </a:ext>
            </a:extLst>
          </p:cNvPr>
          <p:cNvSpPr/>
          <p:nvPr/>
        </p:nvSpPr>
        <p:spPr>
          <a:xfrm>
            <a:off x="4177006" y="476949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2A1A0B38-CDE9-1C6D-72E6-DE9730CC9F41}"/>
              </a:ext>
            </a:extLst>
          </p:cNvPr>
          <p:cNvSpPr/>
          <p:nvPr/>
        </p:nvSpPr>
        <p:spPr>
          <a:xfrm>
            <a:off x="4419195" y="299668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195824B5-C786-BB3F-7B9D-40278C8DCEC5}"/>
              </a:ext>
            </a:extLst>
          </p:cNvPr>
          <p:cNvSpPr/>
          <p:nvPr/>
        </p:nvSpPr>
        <p:spPr>
          <a:xfrm>
            <a:off x="5561046" y="404733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F230AF58-4C6A-10C8-0CCA-1518968AC4A6}"/>
              </a:ext>
            </a:extLst>
          </p:cNvPr>
          <p:cNvSpPr/>
          <p:nvPr/>
        </p:nvSpPr>
        <p:spPr>
          <a:xfrm>
            <a:off x="5570377" y="31941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E19AF942-7226-4A43-BC8F-2D755F67C7DD}"/>
              </a:ext>
            </a:extLst>
          </p:cNvPr>
          <p:cNvSpPr/>
          <p:nvPr/>
        </p:nvSpPr>
        <p:spPr>
          <a:xfrm>
            <a:off x="4335626" y="375868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CCD8A66-3032-4489-4659-D4AC77926E1A}"/>
              </a:ext>
            </a:extLst>
          </p:cNvPr>
          <p:cNvSpPr/>
          <p:nvPr/>
        </p:nvSpPr>
        <p:spPr>
          <a:xfrm>
            <a:off x="5477071" y="464635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86112287-C961-54CB-0522-07E6B846C4CF}"/>
              </a:ext>
            </a:extLst>
          </p:cNvPr>
          <p:cNvSpPr/>
          <p:nvPr/>
        </p:nvSpPr>
        <p:spPr>
          <a:xfrm>
            <a:off x="5886128" y="4697668"/>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1EFFC5B7-DD49-72DD-9DD7-C4A065F35414}"/>
              </a:ext>
            </a:extLst>
          </p:cNvPr>
          <p:cNvSpPr/>
          <p:nvPr/>
        </p:nvSpPr>
        <p:spPr>
          <a:xfrm>
            <a:off x="4547119" y="492967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81CF1B06-A059-88F4-A196-CA1A275E4102}"/>
              </a:ext>
            </a:extLst>
          </p:cNvPr>
          <p:cNvSpPr/>
          <p:nvPr/>
        </p:nvSpPr>
        <p:spPr>
          <a:xfrm>
            <a:off x="5204927" y="414997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C1CFDCD4-6B87-34BA-CD17-F6B293D9879F}"/>
              </a:ext>
            </a:extLst>
          </p:cNvPr>
          <p:cNvSpPr/>
          <p:nvPr/>
        </p:nvSpPr>
        <p:spPr>
          <a:xfrm>
            <a:off x="4860473" y="446314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00E4EE31-CA3A-74B2-6724-5326A9980D22}"/>
              </a:ext>
            </a:extLst>
          </p:cNvPr>
          <p:cNvSpPr/>
          <p:nvPr/>
        </p:nvSpPr>
        <p:spPr>
          <a:xfrm>
            <a:off x="5928115" y="299823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FE67F2B0-6BB8-5144-0C05-D56E67340F9E}"/>
              </a:ext>
            </a:extLst>
          </p:cNvPr>
          <p:cNvSpPr txBox="1"/>
          <p:nvPr/>
        </p:nvSpPr>
        <p:spPr>
          <a:xfrm>
            <a:off x="838200" y="6167024"/>
            <a:ext cx="1162050" cy="369332"/>
          </a:xfrm>
          <a:prstGeom prst="rect">
            <a:avLst/>
          </a:prstGeom>
          <a:noFill/>
        </p:spPr>
        <p:txBody>
          <a:bodyPr wrap="square" rtlCol="0">
            <a:spAutoFit/>
          </a:bodyPr>
          <a:lstStyle/>
          <a:p>
            <a:r>
              <a:rPr lang="en-US" dirty="0">
                <a:hlinkClick r:id="rId4" action="ppaction://hlinksldjump"/>
              </a:rPr>
              <a:t>Back</a:t>
            </a:r>
            <a:endParaRPr lang="en-US" dirty="0"/>
          </a:p>
        </p:txBody>
      </p:sp>
    </p:spTree>
    <p:extLst>
      <p:ext uri="{BB962C8B-B14F-4D97-AF65-F5344CB8AC3E}">
        <p14:creationId xmlns:p14="http://schemas.microsoft.com/office/powerpoint/2010/main" val="3295303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9DAEA0E-032A-57A4-3049-5E97FF2A246F}"/>
                  </a:ext>
                </a:extLst>
              </p:cNvPr>
              <p:cNvSpPr>
                <a:spLocks noGrp="1"/>
              </p:cNvSpPr>
              <p:nvPr>
                <p:ph type="title"/>
              </p:nvPr>
            </p:nvSpPr>
            <p:spPr/>
            <p:txBody>
              <a:bodyPr>
                <a:normAutofit fontScale="90000"/>
              </a:bodyPr>
              <a:lstStyle/>
              <a:p>
                <a:r>
                  <a:rPr lang="en-US" b="1" dirty="0"/>
                  <a:t>Step 2: </a:t>
                </a:r>
                <a:r>
                  <a:rPr lang="en-US" dirty="0"/>
                  <a:t>Estimate the conditional density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oMath>
                </a14:m>
                <a:r>
                  <a:rPr lang="en-US" b="0" dirty="0"/>
                  <a:t> </a:t>
                </a:r>
                <a:br>
                  <a:rPr lang="en-US" b="0" dirty="0"/>
                </a:br>
                <a:endParaRPr lang="en-US" dirty="0"/>
              </a:p>
            </p:txBody>
          </p:sp>
        </mc:Choice>
        <mc:Fallback xmlns="">
          <p:sp>
            <p:nvSpPr>
              <p:cNvPr id="2" name="Title 1">
                <a:extLst>
                  <a:ext uri="{FF2B5EF4-FFF2-40B4-BE49-F238E27FC236}">
                    <a16:creationId xmlns:a16="http://schemas.microsoft.com/office/drawing/2014/main" id="{D9DAEA0E-032A-57A4-3049-5E97FF2A246F}"/>
                  </a:ext>
                </a:extLst>
              </p:cNvPr>
              <p:cNvSpPr>
                <a:spLocks noGrp="1" noRot="1" noChangeAspect="1" noMove="1" noResize="1" noEditPoints="1" noAdjustHandles="1" noChangeArrowheads="1" noChangeShapeType="1" noTextEdit="1"/>
              </p:cNvSpPr>
              <p:nvPr>
                <p:ph type="title"/>
              </p:nvPr>
            </p:nvSpPr>
            <p:spPr>
              <a:blipFill>
                <a:blip r:embed="rId2"/>
                <a:stretch>
                  <a:fillRect l="-2087" t="-7834"/>
                </a:stretch>
              </a:blipFill>
            </p:spPr>
            <p:txBody>
              <a:bodyPr/>
              <a:lstStyle/>
              <a:p>
                <a:r>
                  <a:rPr lang="en-US">
                    <a:noFill/>
                  </a:rPr>
                  <a:t> </a:t>
                </a:r>
              </a:p>
            </p:txBody>
          </p:sp>
        </mc:Fallback>
      </mc:AlternateContent>
      <p:pic>
        <p:nvPicPr>
          <p:cNvPr id="5" name="Content Placeholder 4">
            <a:extLst>
              <a:ext uri="{FF2B5EF4-FFF2-40B4-BE49-F238E27FC236}">
                <a16:creationId xmlns:a16="http://schemas.microsoft.com/office/drawing/2014/main" id="{E9A62C99-BF44-63C3-7B0C-405A22128D32}"/>
              </a:ext>
            </a:extLst>
          </p:cNvPr>
          <p:cNvPicPr>
            <a:picLocks noGrp="1" noChangeAspect="1"/>
          </p:cNvPicPr>
          <p:nvPr>
            <p:ph idx="1"/>
          </p:nvPr>
        </p:nvPicPr>
        <p:blipFill>
          <a:blip r:embed="rId3"/>
          <a:stretch>
            <a:fillRect/>
          </a:stretch>
        </p:blipFill>
        <p:spPr>
          <a:xfrm>
            <a:off x="2425147" y="1815686"/>
            <a:ext cx="7089913" cy="4351338"/>
          </a:xfrm>
        </p:spPr>
      </p:pic>
      <p:sp>
        <p:nvSpPr>
          <p:cNvPr id="4" name="Oval 3">
            <a:extLst>
              <a:ext uri="{FF2B5EF4-FFF2-40B4-BE49-F238E27FC236}">
                <a16:creationId xmlns:a16="http://schemas.microsoft.com/office/drawing/2014/main" id="{0F554FAD-6920-4238-63C6-AF649CD8CB83}"/>
              </a:ext>
            </a:extLst>
          </p:cNvPr>
          <p:cNvSpPr/>
          <p:nvPr/>
        </p:nvSpPr>
        <p:spPr>
          <a:xfrm>
            <a:off x="6531429" y="308843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A7E3AD9-9C83-54ED-43A6-27A22C461FA8}"/>
              </a:ext>
            </a:extLst>
          </p:cNvPr>
          <p:cNvSpPr/>
          <p:nvPr/>
        </p:nvSpPr>
        <p:spPr>
          <a:xfrm>
            <a:off x="4547119" y="45657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C723F60D-A0DA-82BB-A4CD-7B8E93A59283}"/>
              </a:ext>
            </a:extLst>
          </p:cNvPr>
          <p:cNvSpPr/>
          <p:nvPr/>
        </p:nvSpPr>
        <p:spPr>
          <a:xfrm>
            <a:off x="6630955" y="332636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8FE01AE-4898-E99E-7E59-77563F7C17FE}"/>
              </a:ext>
            </a:extLst>
          </p:cNvPr>
          <p:cNvSpPr/>
          <p:nvPr/>
        </p:nvSpPr>
        <p:spPr>
          <a:xfrm>
            <a:off x="4320075" y="435739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ED11DA49-95E5-D540-B621-1C0501954E70}"/>
              </a:ext>
            </a:extLst>
          </p:cNvPr>
          <p:cNvSpPr/>
          <p:nvPr/>
        </p:nvSpPr>
        <p:spPr>
          <a:xfrm>
            <a:off x="4578220" y="440871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E6508AF6-C120-0B93-E6EB-9CA40D120B8B}"/>
              </a:ext>
            </a:extLst>
          </p:cNvPr>
          <p:cNvSpPr/>
          <p:nvPr/>
        </p:nvSpPr>
        <p:spPr>
          <a:xfrm>
            <a:off x="4699519" y="47181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71C18D5-7534-C3CF-0B01-C3CC501F4EDB}"/>
              </a:ext>
            </a:extLst>
          </p:cNvPr>
          <p:cNvSpPr/>
          <p:nvPr/>
        </p:nvSpPr>
        <p:spPr>
          <a:xfrm>
            <a:off x="5047862" y="482081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E6B1E29D-B583-4D5F-D848-73106E5A73EF}"/>
              </a:ext>
            </a:extLst>
          </p:cNvPr>
          <p:cNvSpPr/>
          <p:nvPr/>
        </p:nvSpPr>
        <p:spPr>
          <a:xfrm>
            <a:off x="5204928" y="451446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16E40DBF-31E5-6805-D64A-64DCF8AE7B67}"/>
              </a:ext>
            </a:extLst>
          </p:cNvPr>
          <p:cNvSpPr/>
          <p:nvPr/>
        </p:nvSpPr>
        <p:spPr>
          <a:xfrm>
            <a:off x="6229739" y="480030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8EC7B347-112E-A813-4524-715377C18189}"/>
              </a:ext>
            </a:extLst>
          </p:cNvPr>
          <p:cNvSpPr/>
          <p:nvPr/>
        </p:nvSpPr>
        <p:spPr>
          <a:xfrm>
            <a:off x="4315410" y="412976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8F2CBFED-9351-A636-0E14-2971DADF6B30}"/>
              </a:ext>
            </a:extLst>
          </p:cNvPr>
          <p:cNvSpPr/>
          <p:nvPr/>
        </p:nvSpPr>
        <p:spPr>
          <a:xfrm>
            <a:off x="6332375" y="342900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3500AF1A-CEA0-639D-9016-90A0B3B28D3A}"/>
              </a:ext>
            </a:extLst>
          </p:cNvPr>
          <p:cNvSpPr/>
          <p:nvPr/>
        </p:nvSpPr>
        <p:spPr>
          <a:xfrm>
            <a:off x="6489441" y="361561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18112A7F-01EA-2DDF-D9CE-66914104C534}"/>
              </a:ext>
            </a:extLst>
          </p:cNvPr>
          <p:cNvSpPr/>
          <p:nvPr/>
        </p:nvSpPr>
        <p:spPr>
          <a:xfrm>
            <a:off x="4533121" y="409865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C40ED861-1692-F548-45DC-26FC3998C080}"/>
              </a:ext>
            </a:extLst>
          </p:cNvPr>
          <p:cNvSpPr/>
          <p:nvPr/>
        </p:nvSpPr>
        <p:spPr>
          <a:xfrm>
            <a:off x="5033866" y="390271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228063AF-9FC1-6F44-CC3C-EFDAD82EB7B7}"/>
              </a:ext>
            </a:extLst>
          </p:cNvPr>
          <p:cNvSpPr/>
          <p:nvPr/>
        </p:nvSpPr>
        <p:spPr>
          <a:xfrm>
            <a:off x="4851919" y="48705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D361855D-F6B6-FD6C-3868-14793CB2DDFC}"/>
              </a:ext>
            </a:extLst>
          </p:cNvPr>
          <p:cNvSpPr/>
          <p:nvPr/>
        </p:nvSpPr>
        <p:spPr>
          <a:xfrm>
            <a:off x="4177006" y="476949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2A1A0B38-CDE9-1C6D-72E6-DE9730CC9F41}"/>
              </a:ext>
            </a:extLst>
          </p:cNvPr>
          <p:cNvSpPr/>
          <p:nvPr/>
        </p:nvSpPr>
        <p:spPr>
          <a:xfrm>
            <a:off x="4419195" y="299668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195824B5-C786-BB3F-7B9D-40278C8DCEC5}"/>
              </a:ext>
            </a:extLst>
          </p:cNvPr>
          <p:cNvSpPr/>
          <p:nvPr/>
        </p:nvSpPr>
        <p:spPr>
          <a:xfrm>
            <a:off x="5561046" y="404733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F230AF58-4C6A-10C8-0CCA-1518968AC4A6}"/>
              </a:ext>
            </a:extLst>
          </p:cNvPr>
          <p:cNvSpPr/>
          <p:nvPr/>
        </p:nvSpPr>
        <p:spPr>
          <a:xfrm>
            <a:off x="5570377" y="319417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E19AF942-7226-4A43-BC8F-2D755F67C7DD}"/>
              </a:ext>
            </a:extLst>
          </p:cNvPr>
          <p:cNvSpPr/>
          <p:nvPr/>
        </p:nvSpPr>
        <p:spPr>
          <a:xfrm>
            <a:off x="4335626" y="375868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CCD8A66-3032-4489-4659-D4AC77926E1A}"/>
              </a:ext>
            </a:extLst>
          </p:cNvPr>
          <p:cNvSpPr/>
          <p:nvPr/>
        </p:nvSpPr>
        <p:spPr>
          <a:xfrm>
            <a:off x="5477071" y="464635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86112287-C961-54CB-0522-07E6B846C4CF}"/>
              </a:ext>
            </a:extLst>
          </p:cNvPr>
          <p:cNvSpPr/>
          <p:nvPr/>
        </p:nvSpPr>
        <p:spPr>
          <a:xfrm>
            <a:off x="5886128" y="4697668"/>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1EFFC5B7-DD49-72DD-9DD7-C4A065F35414}"/>
              </a:ext>
            </a:extLst>
          </p:cNvPr>
          <p:cNvSpPr/>
          <p:nvPr/>
        </p:nvSpPr>
        <p:spPr>
          <a:xfrm>
            <a:off x="4547119" y="492967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81CF1B06-A059-88F4-A196-CA1A275E4102}"/>
              </a:ext>
            </a:extLst>
          </p:cNvPr>
          <p:cNvSpPr/>
          <p:nvPr/>
        </p:nvSpPr>
        <p:spPr>
          <a:xfrm>
            <a:off x="5204927" y="414997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C1CFDCD4-6B87-34BA-CD17-F6B293D9879F}"/>
              </a:ext>
            </a:extLst>
          </p:cNvPr>
          <p:cNvSpPr/>
          <p:nvPr/>
        </p:nvSpPr>
        <p:spPr>
          <a:xfrm>
            <a:off x="4860473" y="446314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00E4EE31-CA3A-74B2-6724-5326A9980D22}"/>
              </a:ext>
            </a:extLst>
          </p:cNvPr>
          <p:cNvSpPr/>
          <p:nvPr/>
        </p:nvSpPr>
        <p:spPr>
          <a:xfrm>
            <a:off x="5928115" y="299823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5" name="Straight Connector 24">
            <a:extLst>
              <a:ext uri="{FF2B5EF4-FFF2-40B4-BE49-F238E27FC236}">
                <a16:creationId xmlns:a16="http://schemas.microsoft.com/office/drawing/2014/main" id="{CF77CB09-40E9-DE59-276D-C27E0B03BC04}"/>
              </a:ext>
            </a:extLst>
          </p:cNvPr>
          <p:cNvCxnSpPr/>
          <p:nvPr/>
        </p:nvCxnSpPr>
        <p:spPr>
          <a:xfrm>
            <a:off x="4533121" y="1815686"/>
            <a:ext cx="0" cy="4351338"/>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071469F-4572-C63C-4466-3862BDA5C561}"/>
              </a:ext>
            </a:extLst>
          </p:cNvPr>
          <p:cNvCxnSpPr/>
          <p:nvPr/>
        </p:nvCxnSpPr>
        <p:spPr>
          <a:xfrm>
            <a:off x="6332375" y="1815686"/>
            <a:ext cx="0" cy="4351338"/>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EBED98F-466F-FF55-C896-432CFA4EAA97}"/>
              </a:ext>
            </a:extLst>
          </p:cNvPr>
          <p:cNvCxnSpPr/>
          <p:nvPr/>
        </p:nvCxnSpPr>
        <p:spPr>
          <a:xfrm>
            <a:off x="5204927" y="1829681"/>
            <a:ext cx="0" cy="4351338"/>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32" name="Freeform: Shape 31">
            <a:extLst>
              <a:ext uri="{FF2B5EF4-FFF2-40B4-BE49-F238E27FC236}">
                <a16:creationId xmlns:a16="http://schemas.microsoft.com/office/drawing/2014/main" id="{D7F421B0-579F-B9F2-1DBB-08CD19A5AD9C}"/>
              </a:ext>
            </a:extLst>
          </p:cNvPr>
          <p:cNvSpPr/>
          <p:nvPr/>
        </p:nvSpPr>
        <p:spPr>
          <a:xfrm>
            <a:off x="4171595" y="1947950"/>
            <a:ext cx="363861" cy="4012163"/>
          </a:xfrm>
          <a:custGeom>
            <a:avLst/>
            <a:gdLst>
              <a:gd name="connsiteX0" fmla="*/ 354530 w 363861"/>
              <a:gd name="connsiteY0" fmla="*/ 0 h 4012163"/>
              <a:gd name="connsiteX1" fmla="*/ 335869 w 363861"/>
              <a:gd name="connsiteY1" fmla="*/ 438538 h 4012163"/>
              <a:gd name="connsiteX2" fmla="*/ 317208 w 363861"/>
              <a:gd name="connsiteY2" fmla="*/ 485191 h 4012163"/>
              <a:gd name="connsiteX3" fmla="*/ 279886 w 363861"/>
              <a:gd name="connsiteY3" fmla="*/ 615820 h 4012163"/>
              <a:gd name="connsiteX4" fmla="*/ 195910 w 363861"/>
              <a:gd name="connsiteY4" fmla="*/ 774440 h 4012163"/>
              <a:gd name="connsiteX5" fmla="*/ 177249 w 363861"/>
              <a:gd name="connsiteY5" fmla="*/ 811763 h 4012163"/>
              <a:gd name="connsiteX6" fmla="*/ 167918 w 363861"/>
              <a:gd name="connsiteY6" fmla="*/ 839755 h 4012163"/>
              <a:gd name="connsiteX7" fmla="*/ 149257 w 363861"/>
              <a:gd name="connsiteY7" fmla="*/ 886408 h 4012163"/>
              <a:gd name="connsiteX8" fmla="*/ 167918 w 363861"/>
              <a:gd name="connsiteY8" fmla="*/ 1156995 h 4012163"/>
              <a:gd name="connsiteX9" fmla="*/ 261224 w 363861"/>
              <a:gd name="connsiteY9" fmla="*/ 1231640 h 4012163"/>
              <a:gd name="connsiteX10" fmla="*/ 270555 w 363861"/>
              <a:gd name="connsiteY10" fmla="*/ 1259632 h 4012163"/>
              <a:gd name="connsiteX11" fmla="*/ 307877 w 363861"/>
              <a:gd name="connsiteY11" fmla="*/ 1380930 h 4012163"/>
              <a:gd name="connsiteX12" fmla="*/ 326539 w 363861"/>
              <a:gd name="connsiteY12" fmla="*/ 1427583 h 4012163"/>
              <a:gd name="connsiteX13" fmla="*/ 363861 w 363861"/>
              <a:gd name="connsiteY13" fmla="*/ 1548881 h 4012163"/>
              <a:gd name="connsiteX14" fmla="*/ 326539 w 363861"/>
              <a:gd name="connsiteY14" fmla="*/ 1735493 h 4012163"/>
              <a:gd name="connsiteX15" fmla="*/ 111935 w 363861"/>
              <a:gd name="connsiteY15" fmla="*/ 1968759 h 4012163"/>
              <a:gd name="connsiteX16" fmla="*/ 37290 w 363861"/>
              <a:gd name="connsiteY16" fmla="*/ 2099387 h 4012163"/>
              <a:gd name="connsiteX17" fmla="*/ 18628 w 363861"/>
              <a:gd name="connsiteY17" fmla="*/ 2612571 h 4012163"/>
              <a:gd name="connsiteX18" fmla="*/ 37290 w 363861"/>
              <a:gd name="connsiteY18" fmla="*/ 2649893 h 4012163"/>
              <a:gd name="connsiteX19" fmla="*/ 27959 w 363861"/>
              <a:gd name="connsiteY19" fmla="*/ 2799183 h 4012163"/>
              <a:gd name="connsiteX20" fmla="*/ 37290 w 363861"/>
              <a:gd name="connsiteY20" fmla="*/ 3069771 h 4012163"/>
              <a:gd name="connsiteX21" fmla="*/ 111935 w 363861"/>
              <a:gd name="connsiteY21" fmla="*/ 3275044 h 4012163"/>
              <a:gd name="connsiteX22" fmla="*/ 130596 w 363861"/>
              <a:gd name="connsiteY22" fmla="*/ 3312367 h 4012163"/>
              <a:gd name="connsiteX23" fmla="*/ 205241 w 363861"/>
              <a:gd name="connsiteY23" fmla="*/ 3536302 h 4012163"/>
              <a:gd name="connsiteX24" fmla="*/ 261224 w 363861"/>
              <a:gd name="connsiteY24" fmla="*/ 3676261 h 4012163"/>
              <a:gd name="connsiteX25" fmla="*/ 289216 w 363861"/>
              <a:gd name="connsiteY25" fmla="*/ 3760236 h 4012163"/>
              <a:gd name="connsiteX26" fmla="*/ 307877 w 363861"/>
              <a:gd name="connsiteY26" fmla="*/ 3788228 h 4012163"/>
              <a:gd name="connsiteX27" fmla="*/ 317208 w 363861"/>
              <a:gd name="connsiteY27" fmla="*/ 3956179 h 4012163"/>
              <a:gd name="connsiteX28" fmla="*/ 326539 w 363861"/>
              <a:gd name="connsiteY28" fmla="*/ 4012163 h 4012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63861" h="4012163">
                <a:moveTo>
                  <a:pt x="354530" y="0"/>
                </a:moveTo>
                <a:cubicBezTo>
                  <a:pt x="348310" y="146179"/>
                  <a:pt x="347090" y="292657"/>
                  <a:pt x="335869" y="438538"/>
                </a:cubicBezTo>
                <a:cubicBezTo>
                  <a:pt x="334584" y="455238"/>
                  <a:pt x="322252" y="469220"/>
                  <a:pt x="317208" y="485191"/>
                </a:cubicBezTo>
                <a:cubicBezTo>
                  <a:pt x="303571" y="528374"/>
                  <a:pt x="295117" y="573173"/>
                  <a:pt x="279886" y="615820"/>
                </a:cubicBezTo>
                <a:cubicBezTo>
                  <a:pt x="234567" y="742714"/>
                  <a:pt x="252981" y="717369"/>
                  <a:pt x="195910" y="774440"/>
                </a:cubicBezTo>
                <a:cubicBezTo>
                  <a:pt x="189690" y="786881"/>
                  <a:pt x="182728" y="798978"/>
                  <a:pt x="177249" y="811763"/>
                </a:cubicBezTo>
                <a:cubicBezTo>
                  <a:pt x="173375" y="820803"/>
                  <a:pt x="171371" y="830546"/>
                  <a:pt x="167918" y="839755"/>
                </a:cubicBezTo>
                <a:cubicBezTo>
                  <a:pt x="162037" y="855437"/>
                  <a:pt x="155477" y="870857"/>
                  <a:pt x="149257" y="886408"/>
                </a:cubicBezTo>
                <a:cubicBezTo>
                  <a:pt x="155477" y="976604"/>
                  <a:pt x="147772" y="1068858"/>
                  <a:pt x="167918" y="1156995"/>
                </a:cubicBezTo>
                <a:cubicBezTo>
                  <a:pt x="176411" y="1194151"/>
                  <a:pt x="230510" y="1216283"/>
                  <a:pt x="261224" y="1231640"/>
                </a:cubicBezTo>
                <a:cubicBezTo>
                  <a:pt x="264334" y="1240971"/>
                  <a:pt x="267729" y="1250211"/>
                  <a:pt x="270555" y="1259632"/>
                </a:cubicBezTo>
                <a:cubicBezTo>
                  <a:pt x="288755" y="1320299"/>
                  <a:pt x="287151" y="1323934"/>
                  <a:pt x="307877" y="1380930"/>
                </a:cubicBezTo>
                <a:cubicBezTo>
                  <a:pt x="313601" y="1396671"/>
                  <a:pt x="321613" y="1411575"/>
                  <a:pt x="326539" y="1427583"/>
                </a:cubicBezTo>
                <a:cubicBezTo>
                  <a:pt x="371991" y="1575299"/>
                  <a:pt x="320832" y="1441308"/>
                  <a:pt x="363861" y="1548881"/>
                </a:cubicBezTo>
                <a:cubicBezTo>
                  <a:pt x="360904" y="1572537"/>
                  <a:pt x="362794" y="1691987"/>
                  <a:pt x="326539" y="1735493"/>
                </a:cubicBezTo>
                <a:cubicBezTo>
                  <a:pt x="241771" y="1837215"/>
                  <a:pt x="195546" y="1829409"/>
                  <a:pt x="111935" y="1968759"/>
                </a:cubicBezTo>
                <a:cubicBezTo>
                  <a:pt x="48795" y="2073992"/>
                  <a:pt x="72172" y="2029623"/>
                  <a:pt x="37290" y="2099387"/>
                </a:cubicBezTo>
                <a:cubicBezTo>
                  <a:pt x="-12621" y="2332304"/>
                  <a:pt x="-5559" y="2249765"/>
                  <a:pt x="18628" y="2612571"/>
                </a:cubicBezTo>
                <a:cubicBezTo>
                  <a:pt x="19553" y="2626449"/>
                  <a:pt x="31069" y="2637452"/>
                  <a:pt x="37290" y="2649893"/>
                </a:cubicBezTo>
                <a:cubicBezTo>
                  <a:pt x="67541" y="2891916"/>
                  <a:pt x="34557" y="2555044"/>
                  <a:pt x="27959" y="2799183"/>
                </a:cubicBezTo>
                <a:cubicBezTo>
                  <a:pt x="25521" y="2889400"/>
                  <a:pt x="26365" y="2980185"/>
                  <a:pt x="37290" y="3069771"/>
                </a:cubicBezTo>
                <a:cubicBezTo>
                  <a:pt x="41003" y="3100215"/>
                  <a:pt x="97638" y="3241684"/>
                  <a:pt x="111935" y="3275044"/>
                </a:cubicBezTo>
                <a:cubicBezTo>
                  <a:pt x="117414" y="3287829"/>
                  <a:pt x="125918" y="3299268"/>
                  <a:pt x="130596" y="3312367"/>
                </a:cubicBezTo>
                <a:cubicBezTo>
                  <a:pt x="157060" y="3386466"/>
                  <a:pt x="178657" y="3462246"/>
                  <a:pt x="205241" y="3536302"/>
                </a:cubicBezTo>
                <a:cubicBezTo>
                  <a:pt x="222218" y="3583594"/>
                  <a:pt x="249037" y="3627515"/>
                  <a:pt x="261224" y="3676261"/>
                </a:cubicBezTo>
                <a:cubicBezTo>
                  <a:pt x="270133" y="3711897"/>
                  <a:pt x="271649" y="3725102"/>
                  <a:pt x="289216" y="3760236"/>
                </a:cubicBezTo>
                <a:cubicBezTo>
                  <a:pt x="294231" y="3770266"/>
                  <a:pt x="301657" y="3778897"/>
                  <a:pt x="307877" y="3788228"/>
                </a:cubicBezTo>
                <a:cubicBezTo>
                  <a:pt x="310987" y="3844212"/>
                  <a:pt x="311892" y="3900362"/>
                  <a:pt x="317208" y="3956179"/>
                </a:cubicBezTo>
                <a:cubicBezTo>
                  <a:pt x="329490" y="4085132"/>
                  <a:pt x="326539" y="3886954"/>
                  <a:pt x="326539" y="4012163"/>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DF1DE3F3-C264-3B67-D85B-5A4F241FC382}"/>
              </a:ext>
            </a:extLst>
          </p:cNvPr>
          <p:cNvSpPr/>
          <p:nvPr/>
        </p:nvSpPr>
        <p:spPr>
          <a:xfrm>
            <a:off x="4925352" y="1761313"/>
            <a:ext cx="262122" cy="4460084"/>
          </a:xfrm>
          <a:custGeom>
            <a:avLst/>
            <a:gdLst>
              <a:gd name="connsiteX0" fmla="*/ 262122 w 262122"/>
              <a:gd name="connsiteY0" fmla="*/ 0 h 4460084"/>
              <a:gd name="connsiteX1" fmla="*/ 252792 w 262122"/>
              <a:gd name="connsiteY1" fmla="*/ 989045 h 4460084"/>
              <a:gd name="connsiteX2" fmla="*/ 234130 w 262122"/>
              <a:gd name="connsiteY2" fmla="*/ 1045029 h 4460084"/>
              <a:gd name="connsiteX3" fmla="*/ 224800 w 262122"/>
              <a:gd name="connsiteY3" fmla="*/ 1101013 h 4460084"/>
              <a:gd name="connsiteX4" fmla="*/ 215469 w 262122"/>
              <a:gd name="connsiteY4" fmla="*/ 1147666 h 4460084"/>
              <a:gd name="connsiteX5" fmla="*/ 206138 w 262122"/>
              <a:gd name="connsiteY5" fmla="*/ 1903445 h 4460084"/>
              <a:gd name="connsiteX6" fmla="*/ 187477 w 262122"/>
              <a:gd name="connsiteY6" fmla="*/ 1950098 h 4460084"/>
              <a:gd name="connsiteX7" fmla="*/ 150155 w 262122"/>
              <a:gd name="connsiteY7" fmla="*/ 2099388 h 4460084"/>
              <a:gd name="connsiteX8" fmla="*/ 103502 w 262122"/>
              <a:gd name="connsiteY8" fmla="*/ 2258009 h 4460084"/>
              <a:gd name="connsiteX9" fmla="*/ 66179 w 262122"/>
              <a:gd name="connsiteY9" fmla="*/ 2425960 h 4460084"/>
              <a:gd name="connsiteX10" fmla="*/ 38187 w 262122"/>
              <a:gd name="connsiteY10" fmla="*/ 2491274 h 4460084"/>
              <a:gd name="connsiteX11" fmla="*/ 865 w 262122"/>
              <a:gd name="connsiteY11" fmla="*/ 2715209 h 4460084"/>
              <a:gd name="connsiteX12" fmla="*/ 865 w 262122"/>
              <a:gd name="connsiteY12" fmla="*/ 2864498 h 4460084"/>
              <a:gd name="connsiteX13" fmla="*/ 19526 w 262122"/>
              <a:gd name="connsiteY13" fmla="*/ 3004458 h 4460084"/>
              <a:gd name="connsiteX14" fmla="*/ 56849 w 262122"/>
              <a:gd name="connsiteY14" fmla="*/ 3172409 h 4460084"/>
              <a:gd name="connsiteX15" fmla="*/ 103502 w 262122"/>
              <a:gd name="connsiteY15" fmla="*/ 3573625 h 4460084"/>
              <a:gd name="connsiteX16" fmla="*/ 131494 w 262122"/>
              <a:gd name="connsiteY16" fmla="*/ 3629609 h 4460084"/>
              <a:gd name="connsiteX17" fmla="*/ 140824 w 262122"/>
              <a:gd name="connsiteY17" fmla="*/ 3890866 h 4460084"/>
              <a:gd name="connsiteX18" fmla="*/ 159485 w 262122"/>
              <a:gd name="connsiteY18" fmla="*/ 3965511 h 4460084"/>
              <a:gd name="connsiteX19" fmla="*/ 187477 w 262122"/>
              <a:gd name="connsiteY19" fmla="*/ 4152123 h 4460084"/>
              <a:gd name="connsiteX20" fmla="*/ 196808 w 262122"/>
              <a:gd name="connsiteY20" fmla="*/ 4422711 h 4460084"/>
              <a:gd name="connsiteX21" fmla="*/ 215469 w 262122"/>
              <a:gd name="connsiteY21" fmla="*/ 4460033 h 4460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2122" h="4460084">
                <a:moveTo>
                  <a:pt x="262122" y="0"/>
                </a:moveTo>
                <a:cubicBezTo>
                  <a:pt x="259012" y="329682"/>
                  <a:pt x="261620" y="659467"/>
                  <a:pt x="252792" y="989045"/>
                </a:cubicBezTo>
                <a:cubicBezTo>
                  <a:pt x="252265" y="1008709"/>
                  <a:pt x="238901" y="1025945"/>
                  <a:pt x="234130" y="1045029"/>
                </a:cubicBezTo>
                <a:cubicBezTo>
                  <a:pt x="229542" y="1063383"/>
                  <a:pt x="228184" y="1082399"/>
                  <a:pt x="224800" y="1101013"/>
                </a:cubicBezTo>
                <a:cubicBezTo>
                  <a:pt x="221963" y="1116616"/>
                  <a:pt x="218579" y="1132115"/>
                  <a:pt x="215469" y="1147666"/>
                </a:cubicBezTo>
                <a:cubicBezTo>
                  <a:pt x="223779" y="1480058"/>
                  <a:pt x="235184" y="1569416"/>
                  <a:pt x="206138" y="1903445"/>
                </a:cubicBezTo>
                <a:cubicBezTo>
                  <a:pt x="204687" y="1920131"/>
                  <a:pt x="192078" y="1933994"/>
                  <a:pt x="187477" y="1950098"/>
                </a:cubicBezTo>
                <a:cubicBezTo>
                  <a:pt x="173385" y="1999419"/>
                  <a:pt x="160547" y="2049157"/>
                  <a:pt x="150155" y="2099388"/>
                </a:cubicBezTo>
                <a:cubicBezTo>
                  <a:pt x="119117" y="2249406"/>
                  <a:pt x="159845" y="2182884"/>
                  <a:pt x="103502" y="2258009"/>
                </a:cubicBezTo>
                <a:cubicBezTo>
                  <a:pt x="91061" y="2313993"/>
                  <a:pt x="81642" y="2370735"/>
                  <a:pt x="66179" y="2425960"/>
                </a:cubicBezTo>
                <a:cubicBezTo>
                  <a:pt x="59792" y="2448769"/>
                  <a:pt x="44419" y="2468422"/>
                  <a:pt x="38187" y="2491274"/>
                </a:cubicBezTo>
                <a:cubicBezTo>
                  <a:pt x="13052" y="2583435"/>
                  <a:pt x="10490" y="2628591"/>
                  <a:pt x="865" y="2715209"/>
                </a:cubicBezTo>
                <a:cubicBezTo>
                  <a:pt x="27032" y="2793704"/>
                  <a:pt x="-5589" y="2683780"/>
                  <a:pt x="865" y="2864498"/>
                </a:cubicBezTo>
                <a:cubicBezTo>
                  <a:pt x="2545" y="2911534"/>
                  <a:pt x="12870" y="2957865"/>
                  <a:pt x="19526" y="3004458"/>
                </a:cubicBezTo>
                <a:cubicBezTo>
                  <a:pt x="38377" y="3136419"/>
                  <a:pt x="23958" y="3090186"/>
                  <a:pt x="56849" y="3172409"/>
                </a:cubicBezTo>
                <a:cubicBezTo>
                  <a:pt x="72400" y="3306148"/>
                  <a:pt x="81807" y="3440745"/>
                  <a:pt x="103502" y="3573625"/>
                </a:cubicBezTo>
                <a:cubicBezTo>
                  <a:pt x="106864" y="3594216"/>
                  <a:pt x="129056" y="3608888"/>
                  <a:pt x="131494" y="3629609"/>
                </a:cubicBezTo>
                <a:cubicBezTo>
                  <a:pt x="141676" y="3716153"/>
                  <a:pt x="133588" y="3804026"/>
                  <a:pt x="140824" y="3890866"/>
                </a:cubicBezTo>
                <a:cubicBezTo>
                  <a:pt x="142954" y="3916425"/>
                  <a:pt x="154897" y="3940277"/>
                  <a:pt x="159485" y="3965511"/>
                </a:cubicBezTo>
                <a:cubicBezTo>
                  <a:pt x="183185" y="4095857"/>
                  <a:pt x="174307" y="4033587"/>
                  <a:pt x="187477" y="4152123"/>
                </a:cubicBezTo>
                <a:cubicBezTo>
                  <a:pt x="190587" y="4242319"/>
                  <a:pt x="191348" y="4332627"/>
                  <a:pt x="196808" y="4422711"/>
                </a:cubicBezTo>
                <a:cubicBezTo>
                  <a:pt x="199253" y="4463050"/>
                  <a:pt x="195167" y="4460033"/>
                  <a:pt x="215469" y="4460033"/>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Shape 37">
            <a:extLst>
              <a:ext uri="{FF2B5EF4-FFF2-40B4-BE49-F238E27FC236}">
                <a16:creationId xmlns:a16="http://schemas.microsoft.com/office/drawing/2014/main" id="{EB1AC0DD-CD2A-F346-1C8B-ADE5D1CF8804}"/>
              </a:ext>
            </a:extLst>
          </p:cNvPr>
          <p:cNvSpPr/>
          <p:nvPr/>
        </p:nvSpPr>
        <p:spPr>
          <a:xfrm>
            <a:off x="6120882" y="1847461"/>
            <a:ext cx="195942" cy="4264090"/>
          </a:xfrm>
          <a:custGeom>
            <a:avLst/>
            <a:gdLst>
              <a:gd name="connsiteX0" fmla="*/ 195942 w 195942"/>
              <a:gd name="connsiteY0" fmla="*/ 0 h 4264090"/>
              <a:gd name="connsiteX1" fmla="*/ 186612 w 195942"/>
              <a:gd name="connsiteY1" fmla="*/ 233266 h 4264090"/>
              <a:gd name="connsiteX2" fmla="*/ 177281 w 195942"/>
              <a:gd name="connsiteY2" fmla="*/ 261257 h 4264090"/>
              <a:gd name="connsiteX3" fmla="*/ 149289 w 195942"/>
              <a:gd name="connsiteY3" fmla="*/ 895739 h 4264090"/>
              <a:gd name="connsiteX4" fmla="*/ 130628 w 195942"/>
              <a:gd name="connsiteY4" fmla="*/ 961053 h 4264090"/>
              <a:gd name="connsiteX5" fmla="*/ 93306 w 195942"/>
              <a:gd name="connsiteY5" fmla="*/ 1073021 h 4264090"/>
              <a:gd name="connsiteX6" fmla="*/ 74645 w 195942"/>
              <a:gd name="connsiteY6" fmla="*/ 1166327 h 4264090"/>
              <a:gd name="connsiteX7" fmla="*/ 65314 w 195942"/>
              <a:gd name="connsiteY7" fmla="*/ 1194319 h 4264090"/>
              <a:gd name="connsiteX8" fmla="*/ 37322 w 195942"/>
              <a:gd name="connsiteY8" fmla="*/ 1371600 h 4264090"/>
              <a:gd name="connsiteX9" fmla="*/ 9330 w 195942"/>
              <a:gd name="connsiteY9" fmla="*/ 1502229 h 4264090"/>
              <a:gd name="connsiteX10" fmla="*/ 27991 w 195942"/>
              <a:gd name="connsiteY10" fmla="*/ 1670180 h 4264090"/>
              <a:gd name="connsiteX11" fmla="*/ 37322 w 195942"/>
              <a:gd name="connsiteY11" fmla="*/ 1698172 h 4264090"/>
              <a:gd name="connsiteX12" fmla="*/ 46653 w 195942"/>
              <a:gd name="connsiteY12" fmla="*/ 1810139 h 4264090"/>
              <a:gd name="connsiteX13" fmla="*/ 65314 w 195942"/>
              <a:gd name="connsiteY13" fmla="*/ 1847461 h 4264090"/>
              <a:gd name="connsiteX14" fmla="*/ 74645 w 195942"/>
              <a:gd name="connsiteY14" fmla="*/ 1884784 h 4264090"/>
              <a:gd name="connsiteX15" fmla="*/ 111967 w 195942"/>
              <a:gd name="connsiteY15" fmla="*/ 1968759 h 4264090"/>
              <a:gd name="connsiteX16" fmla="*/ 121298 w 195942"/>
              <a:gd name="connsiteY16" fmla="*/ 2006082 h 4264090"/>
              <a:gd name="connsiteX17" fmla="*/ 158620 w 195942"/>
              <a:gd name="connsiteY17" fmla="*/ 2062066 h 4264090"/>
              <a:gd name="connsiteX18" fmla="*/ 149289 w 195942"/>
              <a:gd name="connsiteY18" fmla="*/ 2453951 h 4264090"/>
              <a:gd name="connsiteX19" fmla="*/ 130628 w 195942"/>
              <a:gd name="connsiteY19" fmla="*/ 2509935 h 4264090"/>
              <a:gd name="connsiteX20" fmla="*/ 111967 w 195942"/>
              <a:gd name="connsiteY20" fmla="*/ 2593910 h 4264090"/>
              <a:gd name="connsiteX21" fmla="*/ 93306 w 195942"/>
              <a:gd name="connsiteY21" fmla="*/ 2752531 h 4264090"/>
              <a:gd name="connsiteX22" fmla="*/ 83975 w 195942"/>
              <a:gd name="connsiteY22" fmla="*/ 2817845 h 4264090"/>
              <a:gd name="connsiteX23" fmla="*/ 18661 w 195942"/>
              <a:gd name="connsiteY23" fmla="*/ 3032449 h 4264090"/>
              <a:gd name="connsiteX24" fmla="*/ 0 w 195942"/>
              <a:gd name="connsiteY24" fmla="*/ 3144417 h 4264090"/>
              <a:gd name="connsiteX25" fmla="*/ 18661 w 195942"/>
              <a:gd name="connsiteY25" fmla="*/ 3265715 h 4264090"/>
              <a:gd name="connsiteX26" fmla="*/ 27991 w 195942"/>
              <a:gd name="connsiteY26" fmla="*/ 3303037 h 4264090"/>
              <a:gd name="connsiteX27" fmla="*/ 46653 w 195942"/>
              <a:gd name="connsiteY27" fmla="*/ 3331029 h 4264090"/>
              <a:gd name="connsiteX28" fmla="*/ 55983 w 195942"/>
              <a:gd name="connsiteY28" fmla="*/ 3359021 h 4264090"/>
              <a:gd name="connsiteX29" fmla="*/ 74645 w 195942"/>
              <a:gd name="connsiteY29" fmla="*/ 3424335 h 4264090"/>
              <a:gd name="connsiteX30" fmla="*/ 121298 w 195942"/>
              <a:gd name="connsiteY30" fmla="*/ 3536302 h 4264090"/>
              <a:gd name="connsiteX31" fmla="*/ 149289 w 195942"/>
              <a:gd name="connsiteY31" fmla="*/ 3573625 h 4264090"/>
              <a:gd name="connsiteX32" fmla="*/ 186612 w 195942"/>
              <a:gd name="connsiteY32" fmla="*/ 3694923 h 4264090"/>
              <a:gd name="connsiteX33" fmla="*/ 177281 w 195942"/>
              <a:gd name="connsiteY33" fmla="*/ 4264090 h 42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5942" h="4264090">
                <a:moveTo>
                  <a:pt x="195942" y="0"/>
                </a:moveTo>
                <a:cubicBezTo>
                  <a:pt x="192832" y="77755"/>
                  <a:pt x="192156" y="155646"/>
                  <a:pt x="186612" y="233266"/>
                </a:cubicBezTo>
                <a:cubicBezTo>
                  <a:pt x="185911" y="243076"/>
                  <a:pt x="177834" y="251437"/>
                  <a:pt x="177281" y="261257"/>
                </a:cubicBezTo>
                <a:cubicBezTo>
                  <a:pt x="165373" y="472622"/>
                  <a:pt x="163371" y="684508"/>
                  <a:pt x="149289" y="895739"/>
                </a:cubicBezTo>
                <a:cubicBezTo>
                  <a:pt x="147783" y="918331"/>
                  <a:pt x="137446" y="939461"/>
                  <a:pt x="130628" y="961053"/>
                </a:cubicBezTo>
                <a:cubicBezTo>
                  <a:pt x="118781" y="998568"/>
                  <a:pt x="102848" y="1034854"/>
                  <a:pt x="93306" y="1073021"/>
                </a:cubicBezTo>
                <a:cubicBezTo>
                  <a:pt x="56136" y="1221695"/>
                  <a:pt x="120385" y="960494"/>
                  <a:pt x="74645" y="1166327"/>
                </a:cubicBezTo>
                <a:cubicBezTo>
                  <a:pt x="72511" y="1175928"/>
                  <a:pt x="68424" y="1184988"/>
                  <a:pt x="65314" y="1194319"/>
                </a:cubicBezTo>
                <a:cubicBezTo>
                  <a:pt x="43323" y="1370236"/>
                  <a:pt x="72043" y="1151701"/>
                  <a:pt x="37322" y="1371600"/>
                </a:cubicBezTo>
                <a:cubicBezTo>
                  <a:pt x="19666" y="1483418"/>
                  <a:pt x="40537" y="1408607"/>
                  <a:pt x="9330" y="1502229"/>
                </a:cubicBezTo>
                <a:cubicBezTo>
                  <a:pt x="15550" y="1558213"/>
                  <a:pt x="20025" y="1614418"/>
                  <a:pt x="27991" y="1670180"/>
                </a:cubicBezTo>
                <a:cubicBezTo>
                  <a:pt x="29382" y="1679917"/>
                  <a:pt x="36022" y="1688423"/>
                  <a:pt x="37322" y="1698172"/>
                </a:cubicBezTo>
                <a:cubicBezTo>
                  <a:pt x="42272" y="1735295"/>
                  <a:pt x="39751" y="1773329"/>
                  <a:pt x="46653" y="1810139"/>
                </a:cubicBezTo>
                <a:cubicBezTo>
                  <a:pt x="49216" y="1823810"/>
                  <a:pt x="60430" y="1834438"/>
                  <a:pt x="65314" y="1847461"/>
                </a:cubicBezTo>
                <a:cubicBezTo>
                  <a:pt x="69817" y="1859468"/>
                  <a:pt x="70590" y="1872618"/>
                  <a:pt x="74645" y="1884784"/>
                </a:cubicBezTo>
                <a:cubicBezTo>
                  <a:pt x="125713" y="2037988"/>
                  <a:pt x="63193" y="1838696"/>
                  <a:pt x="111967" y="1968759"/>
                </a:cubicBezTo>
                <a:cubicBezTo>
                  <a:pt x="116470" y="1980766"/>
                  <a:pt x="115563" y="1994612"/>
                  <a:pt x="121298" y="2006082"/>
                </a:cubicBezTo>
                <a:cubicBezTo>
                  <a:pt x="131328" y="2026142"/>
                  <a:pt x="158620" y="2062066"/>
                  <a:pt x="158620" y="2062066"/>
                </a:cubicBezTo>
                <a:cubicBezTo>
                  <a:pt x="155510" y="2192694"/>
                  <a:pt x="157440" y="2323540"/>
                  <a:pt x="149289" y="2453951"/>
                </a:cubicBezTo>
                <a:cubicBezTo>
                  <a:pt x="148062" y="2473583"/>
                  <a:pt x="136280" y="2491094"/>
                  <a:pt x="130628" y="2509935"/>
                </a:cubicBezTo>
                <a:cubicBezTo>
                  <a:pt x="124764" y="2529482"/>
                  <a:pt x="114770" y="2575693"/>
                  <a:pt x="111967" y="2593910"/>
                </a:cubicBezTo>
                <a:cubicBezTo>
                  <a:pt x="104780" y="2640624"/>
                  <a:pt x="99073" y="2706394"/>
                  <a:pt x="93306" y="2752531"/>
                </a:cubicBezTo>
                <a:cubicBezTo>
                  <a:pt x="90578" y="2774354"/>
                  <a:pt x="88849" y="2796400"/>
                  <a:pt x="83975" y="2817845"/>
                </a:cubicBezTo>
                <a:cubicBezTo>
                  <a:pt x="56368" y="2939315"/>
                  <a:pt x="54491" y="2936902"/>
                  <a:pt x="18661" y="3032449"/>
                </a:cubicBezTo>
                <a:cubicBezTo>
                  <a:pt x="12441" y="3069772"/>
                  <a:pt x="0" y="3106580"/>
                  <a:pt x="0" y="3144417"/>
                </a:cubicBezTo>
                <a:cubicBezTo>
                  <a:pt x="0" y="3185325"/>
                  <a:pt x="11552" y="3225429"/>
                  <a:pt x="18661" y="3265715"/>
                </a:cubicBezTo>
                <a:cubicBezTo>
                  <a:pt x="20889" y="3278343"/>
                  <a:pt x="22940" y="3291250"/>
                  <a:pt x="27991" y="3303037"/>
                </a:cubicBezTo>
                <a:cubicBezTo>
                  <a:pt x="32409" y="3313344"/>
                  <a:pt x="40432" y="3321698"/>
                  <a:pt x="46653" y="3331029"/>
                </a:cubicBezTo>
                <a:cubicBezTo>
                  <a:pt x="49763" y="3340360"/>
                  <a:pt x="53157" y="3349600"/>
                  <a:pt x="55983" y="3359021"/>
                </a:cubicBezTo>
                <a:cubicBezTo>
                  <a:pt x="62489" y="3380709"/>
                  <a:pt x="66817" y="3403089"/>
                  <a:pt x="74645" y="3424335"/>
                </a:cubicBezTo>
                <a:cubicBezTo>
                  <a:pt x="88623" y="3462275"/>
                  <a:pt x="103216" y="3500138"/>
                  <a:pt x="121298" y="3536302"/>
                </a:cubicBezTo>
                <a:cubicBezTo>
                  <a:pt x="128253" y="3550211"/>
                  <a:pt x="139959" y="3561184"/>
                  <a:pt x="149289" y="3573625"/>
                </a:cubicBezTo>
                <a:cubicBezTo>
                  <a:pt x="170150" y="3677927"/>
                  <a:pt x="150357" y="3640540"/>
                  <a:pt x="186612" y="3694923"/>
                </a:cubicBezTo>
                <a:cubicBezTo>
                  <a:pt x="176878" y="4220544"/>
                  <a:pt x="177281" y="4030796"/>
                  <a:pt x="177281" y="4264090"/>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E4B3BEE-BB74-F000-9AF5-95DAE3E174DA}"/>
                  </a:ext>
                </a:extLst>
              </p:cNvPr>
              <p:cNvSpPr txBox="1"/>
              <p:nvPr/>
            </p:nvSpPr>
            <p:spPr>
              <a:xfrm>
                <a:off x="4330758" y="6243248"/>
                <a:ext cx="4327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𝟏</m:t>
                          </m:r>
                        </m:sub>
                        <m:sup>
                          <m:r>
                            <a:rPr lang="en-US" b="1" i="1" smtClean="0">
                              <a:latin typeface="Cambria Math" panose="02040503050406030204" pitchFamily="18" charset="0"/>
                            </a:rPr>
                            <m:t>∗</m:t>
                          </m:r>
                        </m:sup>
                      </m:sSubSup>
                    </m:oMath>
                  </m:oMathPara>
                </a14:m>
                <a:endParaRPr lang="en-US" b="1" dirty="0"/>
              </a:p>
            </p:txBody>
          </p:sp>
        </mc:Choice>
        <mc:Fallback xmlns="">
          <p:sp>
            <p:nvSpPr>
              <p:cNvPr id="39" name="TextBox 38">
                <a:extLst>
                  <a:ext uri="{FF2B5EF4-FFF2-40B4-BE49-F238E27FC236}">
                    <a16:creationId xmlns:a16="http://schemas.microsoft.com/office/drawing/2014/main" id="{7E4B3BEE-BB74-F000-9AF5-95DAE3E174DA}"/>
                  </a:ext>
                </a:extLst>
              </p:cNvPr>
              <p:cNvSpPr txBox="1">
                <a:spLocks noRot="1" noChangeAspect="1" noMove="1" noResize="1" noEditPoints="1" noAdjustHandles="1" noChangeArrowheads="1" noChangeShapeType="1" noTextEdit="1"/>
              </p:cNvSpPr>
              <p:nvPr/>
            </p:nvSpPr>
            <p:spPr>
              <a:xfrm>
                <a:off x="4330758" y="6243248"/>
                <a:ext cx="432721" cy="369332"/>
              </a:xfrm>
              <a:prstGeom prst="rect">
                <a:avLst/>
              </a:prstGeom>
              <a:blipFill>
                <a:blip r:embed="rId4"/>
                <a:stretch>
                  <a:fillRect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8301B45F-35B6-7790-9403-0EA0C4779E15}"/>
                  </a:ext>
                </a:extLst>
              </p:cNvPr>
              <p:cNvSpPr txBox="1"/>
              <p:nvPr/>
            </p:nvSpPr>
            <p:spPr>
              <a:xfrm>
                <a:off x="2138697" y="6237990"/>
                <a:ext cx="6097554" cy="3754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𝟐</m:t>
                          </m:r>
                        </m:sub>
                        <m:sup>
                          <m:r>
                            <a:rPr lang="en-US" b="1" i="1" smtClean="0">
                              <a:latin typeface="Cambria Math" panose="02040503050406030204" pitchFamily="18" charset="0"/>
                            </a:rPr>
                            <m:t>∗</m:t>
                          </m:r>
                        </m:sup>
                      </m:sSubSup>
                    </m:oMath>
                  </m:oMathPara>
                </a14:m>
                <a:endParaRPr lang="en-US" dirty="0"/>
              </a:p>
            </p:txBody>
          </p:sp>
        </mc:Choice>
        <mc:Fallback xmlns="">
          <p:sp>
            <p:nvSpPr>
              <p:cNvPr id="41" name="TextBox 40">
                <a:extLst>
                  <a:ext uri="{FF2B5EF4-FFF2-40B4-BE49-F238E27FC236}">
                    <a16:creationId xmlns:a16="http://schemas.microsoft.com/office/drawing/2014/main" id="{8301B45F-35B6-7790-9403-0EA0C4779E15}"/>
                  </a:ext>
                </a:extLst>
              </p:cNvPr>
              <p:cNvSpPr txBox="1">
                <a:spLocks noRot="1" noChangeAspect="1" noMove="1" noResize="1" noEditPoints="1" noAdjustHandles="1" noChangeArrowheads="1" noChangeShapeType="1" noTextEdit="1"/>
              </p:cNvSpPr>
              <p:nvPr/>
            </p:nvSpPr>
            <p:spPr>
              <a:xfrm>
                <a:off x="2138697" y="6237990"/>
                <a:ext cx="6097554" cy="37542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65D961F-0573-3DF9-406B-010EB1626B33}"/>
                  </a:ext>
                </a:extLst>
              </p:cNvPr>
              <p:cNvSpPr txBox="1"/>
              <p:nvPr/>
            </p:nvSpPr>
            <p:spPr>
              <a:xfrm>
                <a:off x="3264937" y="6221370"/>
                <a:ext cx="6097554" cy="3754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𝟑</m:t>
                          </m:r>
                        </m:sub>
                        <m:sup>
                          <m:r>
                            <a:rPr lang="en-US" b="1" i="1" smtClean="0">
                              <a:latin typeface="Cambria Math" panose="02040503050406030204" pitchFamily="18" charset="0"/>
                            </a:rPr>
                            <m:t>∗</m:t>
                          </m:r>
                        </m:sup>
                      </m:sSubSup>
                    </m:oMath>
                  </m:oMathPara>
                </a14:m>
                <a:endParaRPr lang="en-US" dirty="0"/>
              </a:p>
            </p:txBody>
          </p:sp>
        </mc:Choice>
        <mc:Fallback xmlns="">
          <p:sp>
            <p:nvSpPr>
              <p:cNvPr id="43" name="TextBox 42">
                <a:extLst>
                  <a:ext uri="{FF2B5EF4-FFF2-40B4-BE49-F238E27FC236}">
                    <a16:creationId xmlns:a16="http://schemas.microsoft.com/office/drawing/2014/main" id="{F65D961F-0573-3DF9-406B-010EB1626B33}"/>
                  </a:ext>
                </a:extLst>
              </p:cNvPr>
              <p:cNvSpPr txBox="1">
                <a:spLocks noRot="1" noChangeAspect="1" noMove="1" noResize="1" noEditPoints="1" noAdjustHandles="1" noChangeArrowheads="1" noChangeShapeType="1" noTextEdit="1"/>
              </p:cNvSpPr>
              <p:nvPr/>
            </p:nvSpPr>
            <p:spPr>
              <a:xfrm>
                <a:off x="3264937" y="6221370"/>
                <a:ext cx="6097554" cy="375424"/>
              </a:xfrm>
              <a:prstGeom prst="rect">
                <a:avLst/>
              </a:prstGeom>
              <a:blipFill>
                <a:blip r:embed="rId6"/>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27AFB62B-10F1-29F2-06B2-E09292C0E5A6}"/>
              </a:ext>
            </a:extLst>
          </p:cNvPr>
          <p:cNvSpPr txBox="1"/>
          <p:nvPr/>
        </p:nvSpPr>
        <p:spPr>
          <a:xfrm>
            <a:off x="838200" y="6167024"/>
            <a:ext cx="1162050" cy="369332"/>
          </a:xfrm>
          <a:prstGeom prst="rect">
            <a:avLst/>
          </a:prstGeom>
          <a:noFill/>
        </p:spPr>
        <p:txBody>
          <a:bodyPr wrap="square" rtlCol="0">
            <a:spAutoFit/>
          </a:bodyPr>
          <a:lstStyle/>
          <a:p>
            <a:r>
              <a:rPr lang="en-US" dirty="0">
                <a:hlinkClick r:id="rId7" action="ppaction://hlinksldjump"/>
              </a:rPr>
              <a:t>Back</a:t>
            </a:r>
            <a:endParaRPr lang="en-US" dirty="0"/>
          </a:p>
        </p:txBody>
      </p:sp>
    </p:spTree>
    <p:extLst>
      <p:ext uri="{BB962C8B-B14F-4D97-AF65-F5344CB8AC3E}">
        <p14:creationId xmlns:p14="http://schemas.microsoft.com/office/powerpoint/2010/main" val="204678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5" grpId="0" animBg="1"/>
      <p:bldP spid="3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280A5-EE7D-037A-82D4-29D67B83CBFE}"/>
              </a:ext>
            </a:extLst>
          </p:cNvPr>
          <p:cNvSpPr>
            <a:spLocks noGrp="1"/>
          </p:cNvSpPr>
          <p:nvPr>
            <p:ph type="title"/>
          </p:nvPr>
        </p:nvSpPr>
        <p:spPr/>
        <p:txBody>
          <a:bodyPr/>
          <a:lstStyle/>
          <a:p>
            <a:r>
              <a:rPr lang="en-US" dirty="0"/>
              <a:t>Gaussian Mixture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05D5D9F-C8DD-C127-4E78-9EC499AD8F5F}"/>
                  </a:ext>
                </a:extLst>
              </p:cNvPr>
              <p:cNvSpPr>
                <a:spLocks noGrp="1"/>
              </p:cNvSpPr>
              <p:nvPr>
                <p:ph idx="1"/>
              </p:nvPr>
            </p:nvSpPr>
            <p:spPr/>
            <p:txBody>
              <a:bodyPr/>
              <a:lstStyle/>
              <a:p>
                <a:r>
                  <a:rPr lang="en-US" dirty="0"/>
                  <a:t>One way to do density estimation is with a Gaussian Mixture Model (first unconditional):</a:t>
                </a:r>
              </a:p>
              <a:p>
                <a:pPr lvl="1">
                  <a:buFont typeface="Wingdings" panose="05000000000000000000" pitchFamily="2" charset="2"/>
                  <a:buChar char="§"/>
                </a:pP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𝑖</m:t>
                            </m:r>
                          </m:sub>
                        </m:sSub>
                      </m:e>
                    </m:d>
                  </m:oMath>
                </a14:m>
                <a:endParaRPr lang="en-US" b="0" dirty="0"/>
              </a:p>
              <a:p>
                <a:pPr lvl="2">
                  <a:buFont typeface="Courier New" panose="02070309020205020404" pitchFamily="49" charset="0"/>
                  <a:buChar char="o"/>
                </a:pPr>
                <a14:m>
                  <m:oMath xmlns:m="http://schemas.openxmlformats.org/officeDocument/2006/math">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sSup>
                              <m:sSupPr>
                                <m:ctrlPr>
                                  <a:rPr lang="en-US" b="0" i="1" smtClean="0">
                                    <a:latin typeface="Cambria Math" panose="02040503050406030204" pitchFamily="18" charset="0"/>
                                  </a:rPr>
                                </m:ctrlPr>
                              </m:sSup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det</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𝑖</m:t>
                                            </m:r>
                                          </m:sub>
                                        </m:sSub>
                                      </m:e>
                                    </m:d>
                                  </m:e>
                                </m:func>
                              </m:e>
                              <m:sup>
                                <m:r>
                                  <a:rPr lang="en-US" b="0" i="1" smtClean="0">
                                    <a:latin typeface="Cambria Math" panose="02040503050406030204" pitchFamily="18" charset="0"/>
                                  </a:rPr>
                                  <m:t>1/2</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𝜋</m:t>
                                </m:r>
                              </m:e>
                            </m:d>
                          </m:e>
                          <m:sup>
                            <m:r>
                              <a:rPr lang="en-US" b="0" i="1" smtClean="0">
                                <a:latin typeface="Cambria Math" panose="02040503050406030204" pitchFamily="18" charset="0"/>
                              </a:rPr>
                              <m:t>𝑘</m:t>
                            </m:r>
                            <m:r>
                              <a:rPr lang="en-US" b="0" i="1" smtClean="0">
                                <a:latin typeface="Cambria Math" panose="02040503050406030204" pitchFamily="18" charset="0"/>
                              </a:rPr>
                              <m:t>/2</m:t>
                            </m:r>
                          </m:sup>
                        </m:sSup>
                      </m:den>
                    </m:f>
                    <m:r>
                      <m:rPr>
                        <m:sty m:val="p"/>
                      </m:rPr>
                      <a:rPr lang="en-US" b="0" i="0" smtClean="0">
                        <a:latin typeface="Cambria Math" panose="02040503050406030204" pitchFamily="18" charset="0"/>
                      </a:rPr>
                      <m:t>exp</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𝑇</m:t>
                        </m:r>
                      </m:sup>
                    </m:sSup>
                    <m:sSubSup>
                      <m:sSubSupPr>
                        <m:ctrlPr>
                          <a:rPr lang="en-US" b="0" i="1" smtClean="0">
                            <a:latin typeface="Cambria Math" panose="02040503050406030204" pitchFamily="18" charset="0"/>
                          </a:rPr>
                        </m:ctrlPr>
                      </m:sSubSupPr>
                      <m:e>
                        <m:r>
                          <m:rPr>
                            <m:sty m:val="p"/>
                          </m:rPr>
                          <a:rPr lang="en-US" b="0" i="0" smtClean="0">
                            <a:latin typeface="Cambria Math" panose="02040503050406030204" pitchFamily="18" charset="0"/>
                          </a:rPr>
                          <m:t>Ω</m:t>
                        </m:r>
                      </m:e>
                      <m:sub>
                        <m:r>
                          <a:rPr lang="en-US" b="0" i="1" smtClean="0">
                            <a:latin typeface="Cambria Math" panose="02040503050406030204" pitchFamily="18" charset="0"/>
                          </a:rPr>
                          <m:t>𝑖</m:t>
                        </m:r>
                      </m:sub>
                      <m:sup>
                        <m:r>
                          <a:rPr lang="en-US" b="0" i="1" smtClean="0">
                            <a:latin typeface="Cambria Math" panose="02040503050406030204" pitchFamily="18" charset="0"/>
                          </a:rPr>
                          <m:t>−1</m:t>
                        </m:r>
                      </m:sup>
                    </m:sSubSup>
                  </m:oMath>
                </a14:m>
                <a:r>
                  <a:rPr lang="en-US" b="0"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105D5D9F-C8DD-C127-4E78-9EC499AD8F5F}"/>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pic>
        <p:nvPicPr>
          <p:cNvPr id="12" name="Picture 11">
            <a:extLst>
              <a:ext uri="{FF2B5EF4-FFF2-40B4-BE49-F238E27FC236}">
                <a16:creationId xmlns:a16="http://schemas.microsoft.com/office/drawing/2014/main" id="{5750E1AD-6C7D-045B-5515-2EC53697E97D}"/>
              </a:ext>
            </a:extLst>
          </p:cNvPr>
          <p:cNvPicPr>
            <a:picLocks noChangeAspect="1"/>
          </p:cNvPicPr>
          <p:nvPr/>
        </p:nvPicPr>
        <p:blipFill>
          <a:blip r:embed="rId3"/>
          <a:stretch>
            <a:fillRect/>
          </a:stretch>
        </p:blipFill>
        <p:spPr>
          <a:xfrm>
            <a:off x="1831133" y="3654781"/>
            <a:ext cx="7391400" cy="3019425"/>
          </a:xfrm>
          <a:prstGeom prst="rect">
            <a:avLst/>
          </a:prstGeom>
        </p:spPr>
      </p:pic>
    </p:spTree>
    <p:extLst>
      <p:ext uri="{BB962C8B-B14F-4D97-AF65-F5344CB8AC3E}">
        <p14:creationId xmlns:p14="http://schemas.microsoft.com/office/powerpoint/2010/main" val="574006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BD3AF-D8B1-9A87-7430-3D8B1EE636CA}"/>
              </a:ext>
            </a:extLst>
          </p:cNvPr>
          <p:cNvSpPr>
            <a:spLocks noGrp="1"/>
          </p:cNvSpPr>
          <p:nvPr>
            <p:ph type="title"/>
          </p:nvPr>
        </p:nvSpPr>
        <p:spPr/>
        <p:txBody>
          <a:bodyPr/>
          <a:lstStyle/>
          <a:p>
            <a:r>
              <a:rPr lang="en-US" dirty="0"/>
              <a:t>From Unconditional to Conditional Mixture of Gaussians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3E4645-B2EC-7842-69CB-BF33EF6A596D}"/>
                  </a:ext>
                </a:extLst>
              </p:cNvPr>
              <p:cNvSpPr>
                <a:spLocks noGrp="1"/>
              </p:cNvSpPr>
              <p:nvPr>
                <p:ph sz="half" idx="1"/>
              </p:nvPr>
            </p:nvSpPr>
            <p:spPr/>
            <p:txBody>
              <a:bodyPr>
                <a:normAutofit/>
              </a:bodyPr>
              <a:lstStyle/>
              <a:p>
                <a:r>
                  <a:rPr lang="en-US" dirty="0"/>
                  <a:t>Condition all the parameters in the mixture 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dirty="0"/>
                  <a:t>:</a:t>
                </a:r>
              </a:p>
              <a:p>
                <a:pPr lvl="1">
                  <a:buFont typeface="Wingdings" panose="05000000000000000000" pitchFamily="2" charset="2"/>
                  <a:buChar char="§"/>
                </a:pP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𝑗</m:t>
                        </m:r>
                      </m:sub>
                      <m:sup>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𝑘</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e>
                    </m:nary>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e>
                    </m:d>
                  </m:oMath>
                </a14:m>
                <a:endParaRPr lang="en-US" b="0" dirty="0"/>
              </a:p>
              <a:p>
                <a:r>
                  <a:rPr lang="en-US" dirty="0"/>
                  <a:t>In practice this means building a flexible but optimizable function </a:t>
                </a:r>
                <a14:m>
                  <m:oMath xmlns:m="http://schemas.openxmlformats.org/officeDocument/2006/math">
                    <m:r>
                      <a:rPr lang="en-US" b="0" i="1" smtClean="0">
                        <a:latin typeface="Cambria Math" panose="02040503050406030204" pitchFamily="18" charset="0"/>
                      </a:rPr>
                      <m:t>𝐹</m:t>
                    </m:r>
                  </m:oMath>
                </a14:m>
                <a:r>
                  <a:rPr lang="en-US" dirty="0"/>
                  <a:t> that maps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dirty="0"/>
                  <a:t>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𝑗</m:t>
                        </m:r>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r>
                  <a:rPr lang="en-US" b="0" dirty="0"/>
                  <a:t> and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𝑗</m:t>
                        </m:r>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oMath>
                </a14:m>
                <a:endParaRPr lang="en-US" b="0" dirty="0"/>
              </a:p>
              <a:p>
                <a:pPr lvl="1"/>
                <a:r>
                  <a:rPr lang="en-US" dirty="0"/>
                  <a:t>Usually, a feedforward neural network is used</a:t>
                </a:r>
                <a:endParaRPr lang="en-US" b="0" dirty="0"/>
              </a:p>
            </p:txBody>
          </p:sp>
        </mc:Choice>
        <mc:Fallback xmlns="">
          <p:sp>
            <p:nvSpPr>
              <p:cNvPr id="3" name="Content Placeholder 2">
                <a:extLst>
                  <a:ext uri="{FF2B5EF4-FFF2-40B4-BE49-F238E27FC236}">
                    <a16:creationId xmlns:a16="http://schemas.microsoft.com/office/drawing/2014/main" id="{173E4645-B2EC-7842-69CB-BF33EF6A596D}"/>
                  </a:ext>
                </a:extLst>
              </p:cNvPr>
              <p:cNvSpPr>
                <a:spLocks noGrp="1" noRot="1" noChangeAspect="1" noMove="1" noResize="1" noEditPoints="1" noAdjustHandles="1" noChangeArrowheads="1" noChangeShapeType="1" noTextEdit="1"/>
              </p:cNvSpPr>
              <p:nvPr>
                <p:ph sz="half" idx="1"/>
              </p:nvPr>
            </p:nvSpPr>
            <p:spPr>
              <a:blipFill>
                <a:blip r:embed="rId2"/>
                <a:stretch>
                  <a:fillRect l="-2118" t="-2241" r="-2000"/>
                </a:stretch>
              </a:blipFill>
            </p:spPr>
            <p:txBody>
              <a:bodyPr/>
              <a:lstStyle/>
              <a:p>
                <a:r>
                  <a:rPr lang="en-US">
                    <a:noFill/>
                  </a:rPr>
                  <a:t> </a:t>
                </a:r>
              </a:p>
            </p:txBody>
          </p:sp>
        </mc:Fallback>
      </mc:AlternateContent>
      <p:grpSp>
        <p:nvGrpSpPr>
          <p:cNvPr id="79" name="Group 78">
            <a:extLst>
              <a:ext uri="{FF2B5EF4-FFF2-40B4-BE49-F238E27FC236}">
                <a16:creationId xmlns:a16="http://schemas.microsoft.com/office/drawing/2014/main" id="{27296FBF-B015-ACA3-EB44-D7F381FDBBFB}"/>
              </a:ext>
            </a:extLst>
          </p:cNvPr>
          <p:cNvGrpSpPr/>
          <p:nvPr/>
        </p:nvGrpSpPr>
        <p:grpSpPr>
          <a:xfrm>
            <a:off x="5896947" y="1489058"/>
            <a:ext cx="6027576" cy="4921072"/>
            <a:chOff x="4815637" y="1636315"/>
            <a:chExt cx="7376363" cy="4852101"/>
          </a:xfrm>
        </p:grpSpPr>
        <p:pic>
          <p:nvPicPr>
            <p:cNvPr id="80" name="Content Placeholder 4">
              <a:extLst>
                <a:ext uri="{FF2B5EF4-FFF2-40B4-BE49-F238E27FC236}">
                  <a16:creationId xmlns:a16="http://schemas.microsoft.com/office/drawing/2014/main" id="{E68B3746-BD87-4686-B696-1841ED59EDF6}"/>
                </a:ext>
              </a:extLst>
            </p:cNvPr>
            <p:cNvPicPr>
              <a:picLocks noChangeAspect="1"/>
            </p:cNvPicPr>
            <p:nvPr/>
          </p:nvPicPr>
          <p:blipFill>
            <a:blip r:embed="rId3"/>
            <a:stretch>
              <a:fillRect/>
            </a:stretch>
          </p:blipFill>
          <p:spPr>
            <a:xfrm>
              <a:off x="5102087" y="1690688"/>
              <a:ext cx="7089913" cy="4351338"/>
            </a:xfrm>
            <a:prstGeom prst="rect">
              <a:avLst/>
            </a:prstGeom>
          </p:spPr>
        </p:pic>
        <p:sp>
          <p:nvSpPr>
            <p:cNvPr id="81" name="Oval 80">
              <a:extLst>
                <a:ext uri="{FF2B5EF4-FFF2-40B4-BE49-F238E27FC236}">
                  <a16:creationId xmlns:a16="http://schemas.microsoft.com/office/drawing/2014/main" id="{730B8BA7-5C73-4872-67C3-E40BB1C8A3DA}"/>
                </a:ext>
              </a:extLst>
            </p:cNvPr>
            <p:cNvSpPr/>
            <p:nvPr/>
          </p:nvSpPr>
          <p:spPr>
            <a:xfrm>
              <a:off x="9208369" y="296343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Oval 81">
              <a:extLst>
                <a:ext uri="{FF2B5EF4-FFF2-40B4-BE49-F238E27FC236}">
                  <a16:creationId xmlns:a16="http://schemas.microsoft.com/office/drawing/2014/main" id="{836E3A45-13F1-4BC9-AEA4-1149C994A051}"/>
                </a:ext>
              </a:extLst>
            </p:cNvPr>
            <p:cNvSpPr/>
            <p:nvPr/>
          </p:nvSpPr>
          <p:spPr>
            <a:xfrm>
              <a:off x="7224059" y="44407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Oval 82">
              <a:extLst>
                <a:ext uri="{FF2B5EF4-FFF2-40B4-BE49-F238E27FC236}">
                  <a16:creationId xmlns:a16="http://schemas.microsoft.com/office/drawing/2014/main" id="{15AEAAFF-2526-D933-6834-36DAF246EC7E}"/>
                </a:ext>
              </a:extLst>
            </p:cNvPr>
            <p:cNvSpPr/>
            <p:nvPr/>
          </p:nvSpPr>
          <p:spPr>
            <a:xfrm>
              <a:off x="9307895" y="320136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Oval 83">
              <a:extLst>
                <a:ext uri="{FF2B5EF4-FFF2-40B4-BE49-F238E27FC236}">
                  <a16:creationId xmlns:a16="http://schemas.microsoft.com/office/drawing/2014/main" id="{5C9431FE-B29B-8FFE-0F74-562C93B75C0D}"/>
                </a:ext>
              </a:extLst>
            </p:cNvPr>
            <p:cNvSpPr/>
            <p:nvPr/>
          </p:nvSpPr>
          <p:spPr>
            <a:xfrm>
              <a:off x="6997015" y="423239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Oval 84">
              <a:extLst>
                <a:ext uri="{FF2B5EF4-FFF2-40B4-BE49-F238E27FC236}">
                  <a16:creationId xmlns:a16="http://schemas.microsoft.com/office/drawing/2014/main" id="{5E708FED-1A35-50D9-D3B9-BCAE6C136E68}"/>
                </a:ext>
              </a:extLst>
            </p:cNvPr>
            <p:cNvSpPr/>
            <p:nvPr/>
          </p:nvSpPr>
          <p:spPr>
            <a:xfrm>
              <a:off x="7255160" y="428371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Oval 85">
              <a:extLst>
                <a:ext uri="{FF2B5EF4-FFF2-40B4-BE49-F238E27FC236}">
                  <a16:creationId xmlns:a16="http://schemas.microsoft.com/office/drawing/2014/main" id="{E679F817-5B93-B97E-1DB0-FD449941F234}"/>
                </a:ext>
              </a:extLst>
            </p:cNvPr>
            <p:cNvSpPr/>
            <p:nvPr/>
          </p:nvSpPr>
          <p:spPr>
            <a:xfrm>
              <a:off x="7376459" y="45931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Oval 86">
              <a:extLst>
                <a:ext uri="{FF2B5EF4-FFF2-40B4-BE49-F238E27FC236}">
                  <a16:creationId xmlns:a16="http://schemas.microsoft.com/office/drawing/2014/main" id="{B799A1AA-7D7C-4334-2D94-DCEB14C83F6F}"/>
                </a:ext>
              </a:extLst>
            </p:cNvPr>
            <p:cNvSpPr/>
            <p:nvPr/>
          </p:nvSpPr>
          <p:spPr>
            <a:xfrm>
              <a:off x="7724802" y="46958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Oval 87">
              <a:extLst>
                <a:ext uri="{FF2B5EF4-FFF2-40B4-BE49-F238E27FC236}">
                  <a16:creationId xmlns:a16="http://schemas.microsoft.com/office/drawing/2014/main" id="{5CA4C0C7-33E8-49E0-3DB9-3B090FAF718A}"/>
                </a:ext>
              </a:extLst>
            </p:cNvPr>
            <p:cNvSpPr/>
            <p:nvPr/>
          </p:nvSpPr>
          <p:spPr>
            <a:xfrm>
              <a:off x="7881868" y="438946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Oval 88">
              <a:extLst>
                <a:ext uri="{FF2B5EF4-FFF2-40B4-BE49-F238E27FC236}">
                  <a16:creationId xmlns:a16="http://schemas.microsoft.com/office/drawing/2014/main" id="{CBE29BD9-2EBA-E015-59DE-BFC48FAD2D52}"/>
                </a:ext>
              </a:extLst>
            </p:cNvPr>
            <p:cNvSpPr/>
            <p:nvPr/>
          </p:nvSpPr>
          <p:spPr>
            <a:xfrm>
              <a:off x="8906679" y="467530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Oval 89">
              <a:extLst>
                <a:ext uri="{FF2B5EF4-FFF2-40B4-BE49-F238E27FC236}">
                  <a16:creationId xmlns:a16="http://schemas.microsoft.com/office/drawing/2014/main" id="{7A6F0954-0E30-85D6-59CE-7D6BB95513AA}"/>
                </a:ext>
              </a:extLst>
            </p:cNvPr>
            <p:cNvSpPr/>
            <p:nvPr/>
          </p:nvSpPr>
          <p:spPr>
            <a:xfrm>
              <a:off x="6992350" y="400476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Oval 90">
              <a:extLst>
                <a:ext uri="{FF2B5EF4-FFF2-40B4-BE49-F238E27FC236}">
                  <a16:creationId xmlns:a16="http://schemas.microsoft.com/office/drawing/2014/main" id="{D99A3AFF-32D7-8FDE-DD38-3A83E12FD2D4}"/>
                </a:ext>
              </a:extLst>
            </p:cNvPr>
            <p:cNvSpPr/>
            <p:nvPr/>
          </p:nvSpPr>
          <p:spPr>
            <a:xfrm>
              <a:off x="9009315" y="330400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CFC08189-A4CB-3495-B5B5-05231CD05B55}"/>
                </a:ext>
              </a:extLst>
            </p:cNvPr>
            <p:cNvSpPr/>
            <p:nvPr/>
          </p:nvSpPr>
          <p:spPr>
            <a:xfrm>
              <a:off x="9166381" y="34906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Oval 92">
              <a:extLst>
                <a:ext uri="{FF2B5EF4-FFF2-40B4-BE49-F238E27FC236}">
                  <a16:creationId xmlns:a16="http://schemas.microsoft.com/office/drawing/2014/main" id="{A93BE89A-BFA5-4894-1FF7-1B395478B803}"/>
                </a:ext>
              </a:extLst>
            </p:cNvPr>
            <p:cNvSpPr/>
            <p:nvPr/>
          </p:nvSpPr>
          <p:spPr>
            <a:xfrm>
              <a:off x="7210061" y="397365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Oval 93">
              <a:extLst>
                <a:ext uri="{FF2B5EF4-FFF2-40B4-BE49-F238E27FC236}">
                  <a16:creationId xmlns:a16="http://schemas.microsoft.com/office/drawing/2014/main" id="{918962E3-20B2-B225-57AC-7FCE2344464D}"/>
                </a:ext>
              </a:extLst>
            </p:cNvPr>
            <p:cNvSpPr/>
            <p:nvPr/>
          </p:nvSpPr>
          <p:spPr>
            <a:xfrm>
              <a:off x="7710806" y="37777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Oval 94">
              <a:extLst>
                <a:ext uri="{FF2B5EF4-FFF2-40B4-BE49-F238E27FC236}">
                  <a16:creationId xmlns:a16="http://schemas.microsoft.com/office/drawing/2014/main" id="{536A0271-6D3B-F3C2-FBD9-CD7D8831C547}"/>
                </a:ext>
              </a:extLst>
            </p:cNvPr>
            <p:cNvSpPr/>
            <p:nvPr/>
          </p:nvSpPr>
          <p:spPr>
            <a:xfrm>
              <a:off x="7528859" y="47455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Oval 95">
              <a:extLst>
                <a:ext uri="{FF2B5EF4-FFF2-40B4-BE49-F238E27FC236}">
                  <a16:creationId xmlns:a16="http://schemas.microsoft.com/office/drawing/2014/main" id="{61DFE6B1-D109-2E5C-B60C-BFB39A88C9F0}"/>
                </a:ext>
              </a:extLst>
            </p:cNvPr>
            <p:cNvSpPr/>
            <p:nvPr/>
          </p:nvSpPr>
          <p:spPr>
            <a:xfrm>
              <a:off x="6853946" y="464449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Oval 96">
              <a:extLst>
                <a:ext uri="{FF2B5EF4-FFF2-40B4-BE49-F238E27FC236}">
                  <a16:creationId xmlns:a16="http://schemas.microsoft.com/office/drawing/2014/main" id="{3189D39E-D62A-C146-DC53-C9E2980550D0}"/>
                </a:ext>
              </a:extLst>
            </p:cNvPr>
            <p:cNvSpPr/>
            <p:nvPr/>
          </p:nvSpPr>
          <p:spPr>
            <a:xfrm>
              <a:off x="7096135" y="287168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Oval 97">
              <a:extLst>
                <a:ext uri="{FF2B5EF4-FFF2-40B4-BE49-F238E27FC236}">
                  <a16:creationId xmlns:a16="http://schemas.microsoft.com/office/drawing/2014/main" id="{FF91029B-993F-C019-32E5-D4D9068FC6FC}"/>
                </a:ext>
              </a:extLst>
            </p:cNvPr>
            <p:cNvSpPr/>
            <p:nvPr/>
          </p:nvSpPr>
          <p:spPr>
            <a:xfrm>
              <a:off x="8237986" y="392233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Oval 98">
              <a:extLst>
                <a:ext uri="{FF2B5EF4-FFF2-40B4-BE49-F238E27FC236}">
                  <a16:creationId xmlns:a16="http://schemas.microsoft.com/office/drawing/2014/main" id="{E81AAA12-BEDC-5978-1C90-3559292997F3}"/>
                </a:ext>
              </a:extLst>
            </p:cNvPr>
            <p:cNvSpPr/>
            <p:nvPr/>
          </p:nvSpPr>
          <p:spPr>
            <a:xfrm>
              <a:off x="8247317" y="30691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Oval 99">
              <a:extLst>
                <a:ext uri="{FF2B5EF4-FFF2-40B4-BE49-F238E27FC236}">
                  <a16:creationId xmlns:a16="http://schemas.microsoft.com/office/drawing/2014/main" id="{CD77A7B0-03BA-3276-AFE7-25FCE938CAC3}"/>
                </a:ext>
              </a:extLst>
            </p:cNvPr>
            <p:cNvSpPr/>
            <p:nvPr/>
          </p:nvSpPr>
          <p:spPr>
            <a:xfrm>
              <a:off x="7012566" y="363368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Oval 100">
              <a:extLst>
                <a:ext uri="{FF2B5EF4-FFF2-40B4-BE49-F238E27FC236}">
                  <a16:creationId xmlns:a16="http://schemas.microsoft.com/office/drawing/2014/main" id="{192463D1-0CD0-9E82-6547-D6288FC7E6BD}"/>
                </a:ext>
              </a:extLst>
            </p:cNvPr>
            <p:cNvSpPr/>
            <p:nvPr/>
          </p:nvSpPr>
          <p:spPr>
            <a:xfrm>
              <a:off x="8154011" y="452135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18F59A47-2195-15F5-7E0C-4B6B93215402}"/>
                </a:ext>
              </a:extLst>
            </p:cNvPr>
            <p:cNvSpPr/>
            <p:nvPr/>
          </p:nvSpPr>
          <p:spPr>
            <a:xfrm>
              <a:off x="8563068" y="457267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FF2F0DFD-F40C-77C6-DBC1-273E36C18475}"/>
                </a:ext>
              </a:extLst>
            </p:cNvPr>
            <p:cNvSpPr/>
            <p:nvPr/>
          </p:nvSpPr>
          <p:spPr>
            <a:xfrm>
              <a:off x="7224059" y="480467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Oval 103">
              <a:extLst>
                <a:ext uri="{FF2B5EF4-FFF2-40B4-BE49-F238E27FC236}">
                  <a16:creationId xmlns:a16="http://schemas.microsoft.com/office/drawing/2014/main" id="{8FED3FE2-84DE-A50D-150C-EDF7647E84D5}"/>
                </a:ext>
              </a:extLst>
            </p:cNvPr>
            <p:cNvSpPr/>
            <p:nvPr/>
          </p:nvSpPr>
          <p:spPr>
            <a:xfrm>
              <a:off x="7881867" y="402497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a:extLst>
                <a:ext uri="{FF2B5EF4-FFF2-40B4-BE49-F238E27FC236}">
                  <a16:creationId xmlns:a16="http://schemas.microsoft.com/office/drawing/2014/main" id="{F6DC83D5-6D6E-8546-130B-231AD3E2AC05}"/>
                </a:ext>
              </a:extLst>
            </p:cNvPr>
            <p:cNvSpPr/>
            <p:nvPr/>
          </p:nvSpPr>
          <p:spPr>
            <a:xfrm>
              <a:off x="7537413" y="433814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Oval 105">
              <a:extLst>
                <a:ext uri="{FF2B5EF4-FFF2-40B4-BE49-F238E27FC236}">
                  <a16:creationId xmlns:a16="http://schemas.microsoft.com/office/drawing/2014/main" id="{015FD07F-DF2D-5F83-173A-52353E684621}"/>
                </a:ext>
              </a:extLst>
            </p:cNvPr>
            <p:cNvSpPr/>
            <p:nvPr/>
          </p:nvSpPr>
          <p:spPr>
            <a:xfrm>
              <a:off x="8605055" y="2873238"/>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7" name="Straight Connector 106">
              <a:extLst>
                <a:ext uri="{FF2B5EF4-FFF2-40B4-BE49-F238E27FC236}">
                  <a16:creationId xmlns:a16="http://schemas.microsoft.com/office/drawing/2014/main" id="{914B6F86-6AF6-CEF1-1C26-AFBDAF73853A}"/>
                </a:ext>
              </a:extLst>
            </p:cNvPr>
            <p:cNvCxnSpPr/>
            <p:nvPr/>
          </p:nvCxnSpPr>
          <p:spPr>
            <a:xfrm>
              <a:off x="7210061" y="1690688"/>
              <a:ext cx="0" cy="4351338"/>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5BE00A83-B335-EFDE-1E04-7B0998AA8B95}"/>
                </a:ext>
              </a:extLst>
            </p:cNvPr>
            <p:cNvCxnSpPr/>
            <p:nvPr/>
          </p:nvCxnSpPr>
          <p:spPr>
            <a:xfrm>
              <a:off x="9009315" y="1690688"/>
              <a:ext cx="0" cy="4351338"/>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CB91B3B9-85D4-448B-ACFD-989EDEF2229B}"/>
                </a:ext>
              </a:extLst>
            </p:cNvPr>
            <p:cNvCxnSpPr/>
            <p:nvPr/>
          </p:nvCxnSpPr>
          <p:spPr>
            <a:xfrm>
              <a:off x="7881867" y="1704683"/>
              <a:ext cx="0" cy="4351338"/>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110" name="Freeform: Shape 109">
              <a:extLst>
                <a:ext uri="{FF2B5EF4-FFF2-40B4-BE49-F238E27FC236}">
                  <a16:creationId xmlns:a16="http://schemas.microsoft.com/office/drawing/2014/main" id="{5278EC28-EC06-9F81-DE73-81B893273F27}"/>
                </a:ext>
              </a:extLst>
            </p:cNvPr>
            <p:cNvSpPr/>
            <p:nvPr/>
          </p:nvSpPr>
          <p:spPr>
            <a:xfrm>
              <a:off x="6848535" y="1822952"/>
              <a:ext cx="363861" cy="4012163"/>
            </a:xfrm>
            <a:custGeom>
              <a:avLst/>
              <a:gdLst>
                <a:gd name="connsiteX0" fmla="*/ 354530 w 363861"/>
                <a:gd name="connsiteY0" fmla="*/ 0 h 4012163"/>
                <a:gd name="connsiteX1" fmla="*/ 335869 w 363861"/>
                <a:gd name="connsiteY1" fmla="*/ 438538 h 4012163"/>
                <a:gd name="connsiteX2" fmla="*/ 317208 w 363861"/>
                <a:gd name="connsiteY2" fmla="*/ 485191 h 4012163"/>
                <a:gd name="connsiteX3" fmla="*/ 279886 w 363861"/>
                <a:gd name="connsiteY3" fmla="*/ 615820 h 4012163"/>
                <a:gd name="connsiteX4" fmla="*/ 195910 w 363861"/>
                <a:gd name="connsiteY4" fmla="*/ 774440 h 4012163"/>
                <a:gd name="connsiteX5" fmla="*/ 177249 w 363861"/>
                <a:gd name="connsiteY5" fmla="*/ 811763 h 4012163"/>
                <a:gd name="connsiteX6" fmla="*/ 167918 w 363861"/>
                <a:gd name="connsiteY6" fmla="*/ 839755 h 4012163"/>
                <a:gd name="connsiteX7" fmla="*/ 149257 w 363861"/>
                <a:gd name="connsiteY7" fmla="*/ 886408 h 4012163"/>
                <a:gd name="connsiteX8" fmla="*/ 167918 w 363861"/>
                <a:gd name="connsiteY8" fmla="*/ 1156995 h 4012163"/>
                <a:gd name="connsiteX9" fmla="*/ 261224 w 363861"/>
                <a:gd name="connsiteY9" fmla="*/ 1231640 h 4012163"/>
                <a:gd name="connsiteX10" fmla="*/ 270555 w 363861"/>
                <a:gd name="connsiteY10" fmla="*/ 1259632 h 4012163"/>
                <a:gd name="connsiteX11" fmla="*/ 307877 w 363861"/>
                <a:gd name="connsiteY11" fmla="*/ 1380930 h 4012163"/>
                <a:gd name="connsiteX12" fmla="*/ 326539 w 363861"/>
                <a:gd name="connsiteY12" fmla="*/ 1427583 h 4012163"/>
                <a:gd name="connsiteX13" fmla="*/ 363861 w 363861"/>
                <a:gd name="connsiteY13" fmla="*/ 1548881 h 4012163"/>
                <a:gd name="connsiteX14" fmla="*/ 326539 w 363861"/>
                <a:gd name="connsiteY14" fmla="*/ 1735493 h 4012163"/>
                <a:gd name="connsiteX15" fmla="*/ 111935 w 363861"/>
                <a:gd name="connsiteY15" fmla="*/ 1968759 h 4012163"/>
                <a:gd name="connsiteX16" fmla="*/ 37290 w 363861"/>
                <a:gd name="connsiteY16" fmla="*/ 2099387 h 4012163"/>
                <a:gd name="connsiteX17" fmla="*/ 18628 w 363861"/>
                <a:gd name="connsiteY17" fmla="*/ 2612571 h 4012163"/>
                <a:gd name="connsiteX18" fmla="*/ 37290 w 363861"/>
                <a:gd name="connsiteY18" fmla="*/ 2649893 h 4012163"/>
                <a:gd name="connsiteX19" fmla="*/ 27959 w 363861"/>
                <a:gd name="connsiteY19" fmla="*/ 2799183 h 4012163"/>
                <a:gd name="connsiteX20" fmla="*/ 37290 w 363861"/>
                <a:gd name="connsiteY20" fmla="*/ 3069771 h 4012163"/>
                <a:gd name="connsiteX21" fmla="*/ 111935 w 363861"/>
                <a:gd name="connsiteY21" fmla="*/ 3275044 h 4012163"/>
                <a:gd name="connsiteX22" fmla="*/ 130596 w 363861"/>
                <a:gd name="connsiteY22" fmla="*/ 3312367 h 4012163"/>
                <a:gd name="connsiteX23" fmla="*/ 205241 w 363861"/>
                <a:gd name="connsiteY23" fmla="*/ 3536302 h 4012163"/>
                <a:gd name="connsiteX24" fmla="*/ 261224 w 363861"/>
                <a:gd name="connsiteY24" fmla="*/ 3676261 h 4012163"/>
                <a:gd name="connsiteX25" fmla="*/ 289216 w 363861"/>
                <a:gd name="connsiteY25" fmla="*/ 3760236 h 4012163"/>
                <a:gd name="connsiteX26" fmla="*/ 307877 w 363861"/>
                <a:gd name="connsiteY26" fmla="*/ 3788228 h 4012163"/>
                <a:gd name="connsiteX27" fmla="*/ 317208 w 363861"/>
                <a:gd name="connsiteY27" fmla="*/ 3956179 h 4012163"/>
                <a:gd name="connsiteX28" fmla="*/ 326539 w 363861"/>
                <a:gd name="connsiteY28" fmla="*/ 4012163 h 4012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63861" h="4012163">
                  <a:moveTo>
                    <a:pt x="354530" y="0"/>
                  </a:moveTo>
                  <a:cubicBezTo>
                    <a:pt x="348310" y="146179"/>
                    <a:pt x="347090" y="292657"/>
                    <a:pt x="335869" y="438538"/>
                  </a:cubicBezTo>
                  <a:cubicBezTo>
                    <a:pt x="334584" y="455238"/>
                    <a:pt x="322252" y="469220"/>
                    <a:pt x="317208" y="485191"/>
                  </a:cubicBezTo>
                  <a:cubicBezTo>
                    <a:pt x="303571" y="528374"/>
                    <a:pt x="295117" y="573173"/>
                    <a:pt x="279886" y="615820"/>
                  </a:cubicBezTo>
                  <a:cubicBezTo>
                    <a:pt x="234567" y="742714"/>
                    <a:pt x="252981" y="717369"/>
                    <a:pt x="195910" y="774440"/>
                  </a:cubicBezTo>
                  <a:cubicBezTo>
                    <a:pt x="189690" y="786881"/>
                    <a:pt x="182728" y="798978"/>
                    <a:pt x="177249" y="811763"/>
                  </a:cubicBezTo>
                  <a:cubicBezTo>
                    <a:pt x="173375" y="820803"/>
                    <a:pt x="171371" y="830546"/>
                    <a:pt x="167918" y="839755"/>
                  </a:cubicBezTo>
                  <a:cubicBezTo>
                    <a:pt x="162037" y="855437"/>
                    <a:pt x="155477" y="870857"/>
                    <a:pt x="149257" y="886408"/>
                  </a:cubicBezTo>
                  <a:cubicBezTo>
                    <a:pt x="155477" y="976604"/>
                    <a:pt x="147772" y="1068858"/>
                    <a:pt x="167918" y="1156995"/>
                  </a:cubicBezTo>
                  <a:cubicBezTo>
                    <a:pt x="176411" y="1194151"/>
                    <a:pt x="230510" y="1216283"/>
                    <a:pt x="261224" y="1231640"/>
                  </a:cubicBezTo>
                  <a:cubicBezTo>
                    <a:pt x="264334" y="1240971"/>
                    <a:pt x="267729" y="1250211"/>
                    <a:pt x="270555" y="1259632"/>
                  </a:cubicBezTo>
                  <a:cubicBezTo>
                    <a:pt x="288755" y="1320299"/>
                    <a:pt x="287151" y="1323934"/>
                    <a:pt x="307877" y="1380930"/>
                  </a:cubicBezTo>
                  <a:cubicBezTo>
                    <a:pt x="313601" y="1396671"/>
                    <a:pt x="321613" y="1411575"/>
                    <a:pt x="326539" y="1427583"/>
                  </a:cubicBezTo>
                  <a:cubicBezTo>
                    <a:pt x="371991" y="1575299"/>
                    <a:pt x="320832" y="1441308"/>
                    <a:pt x="363861" y="1548881"/>
                  </a:cubicBezTo>
                  <a:cubicBezTo>
                    <a:pt x="360904" y="1572537"/>
                    <a:pt x="362794" y="1691987"/>
                    <a:pt x="326539" y="1735493"/>
                  </a:cubicBezTo>
                  <a:cubicBezTo>
                    <a:pt x="241771" y="1837215"/>
                    <a:pt x="195546" y="1829409"/>
                    <a:pt x="111935" y="1968759"/>
                  </a:cubicBezTo>
                  <a:cubicBezTo>
                    <a:pt x="48795" y="2073992"/>
                    <a:pt x="72172" y="2029623"/>
                    <a:pt x="37290" y="2099387"/>
                  </a:cubicBezTo>
                  <a:cubicBezTo>
                    <a:pt x="-12621" y="2332304"/>
                    <a:pt x="-5559" y="2249765"/>
                    <a:pt x="18628" y="2612571"/>
                  </a:cubicBezTo>
                  <a:cubicBezTo>
                    <a:pt x="19553" y="2626449"/>
                    <a:pt x="31069" y="2637452"/>
                    <a:pt x="37290" y="2649893"/>
                  </a:cubicBezTo>
                  <a:cubicBezTo>
                    <a:pt x="67541" y="2891916"/>
                    <a:pt x="34557" y="2555044"/>
                    <a:pt x="27959" y="2799183"/>
                  </a:cubicBezTo>
                  <a:cubicBezTo>
                    <a:pt x="25521" y="2889400"/>
                    <a:pt x="26365" y="2980185"/>
                    <a:pt x="37290" y="3069771"/>
                  </a:cubicBezTo>
                  <a:cubicBezTo>
                    <a:pt x="41003" y="3100215"/>
                    <a:pt x="97638" y="3241684"/>
                    <a:pt x="111935" y="3275044"/>
                  </a:cubicBezTo>
                  <a:cubicBezTo>
                    <a:pt x="117414" y="3287829"/>
                    <a:pt x="125918" y="3299268"/>
                    <a:pt x="130596" y="3312367"/>
                  </a:cubicBezTo>
                  <a:cubicBezTo>
                    <a:pt x="157060" y="3386466"/>
                    <a:pt x="178657" y="3462246"/>
                    <a:pt x="205241" y="3536302"/>
                  </a:cubicBezTo>
                  <a:cubicBezTo>
                    <a:pt x="222218" y="3583594"/>
                    <a:pt x="249037" y="3627515"/>
                    <a:pt x="261224" y="3676261"/>
                  </a:cubicBezTo>
                  <a:cubicBezTo>
                    <a:pt x="270133" y="3711897"/>
                    <a:pt x="271649" y="3725102"/>
                    <a:pt x="289216" y="3760236"/>
                  </a:cubicBezTo>
                  <a:cubicBezTo>
                    <a:pt x="294231" y="3770266"/>
                    <a:pt x="301657" y="3778897"/>
                    <a:pt x="307877" y="3788228"/>
                  </a:cubicBezTo>
                  <a:cubicBezTo>
                    <a:pt x="310987" y="3844212"/>
                    <a:pt x="311892" y="3900362"/>
                    <a:pt x="317208" y="3956179"/>
                  </a:cubicBezTo>
                  <a:cubicBezTo>
                    <a:pt x="329490" y="4085132"/>
                    <a:pt x="326539" y="3886954"/>
                    <a:pt x="326539" y="4012163"/>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Freeform: Shape 110">
              <a:extLst>
                <a:ext uri="{FF2B5EF4-FFF2-40B4-BE49-F238E27FC236}">
                  <a16:creationId xmlns:a16="http://schemas.microsoft.com/office/drawing/2014/main" id="{76EE1945-FFB6-7819-3F40-1094C2CA189F}"/>
                </a:ext>
              </a:extLst>
            </p:cNvPr>
            <p:cNvSpPr/>
            <p:nvPr/>
          </p:nvSpPr>
          <p:spPr>
            <a:xfrm>
              <a:off x="7602292" y="1636315"/>
              <a:ext cx="262122" cy="4460084"/>
            </a:xfrm>
            <a:custGeom>
              <a:avLst/>
              <a:gdLst>
                <a:gd name="connsiteX0" fmla="*/ 262122 w 262122"/>
                <a:gd name="connsiteY0" fmla="*/ 0 h 4460084"/>
                <a:gd name="connsiteX1" fmla="*/ 252792 w 262122"/>
                <a:gd name="connsiteY1" fmla="*/ 989045 h 4460084"/>
                <a:gd name="connsiteX2" fmla="*/ 234130 w 262122"/>
                <a:gd name="connsiteY2" fmla="*/ 1045029 h 4460084"/>
                <a:gd name="connsiteX3" fmla="*/ 224800 w 262122"/>
                <a:gd name="connsiteY3" fmla="*/ 1101013 h 4460084"/>
                <a:gd name="connsiteX4" fmla="*/ 215469 w 262122"/>
                <a:gd name="connsiteY4" fmla="*/ 1147666 h 4460084"/>
                <a:gd name="connsiteX5" fmla="*/ 206138 w 262122"/>
                <a:gd name="connsiteY5" fmla="*/ 1903445 h 4460084"/>
                <a:gd name="connsiteX6" fmla="*/ 187477 w 262122"/>
                <a:gd name="connsiteY6" fmla="*/ 1950098 h 4460084"/>
                <a:gd name="connsiteX7" fmla="*/ 150155 w 262122"/>
                <a:gd name="connsiteY7" fmla="*/ 2099388 h 4460084"/>
                <a:gd name="connsiteX8" fmla="*/ 103502 w 262122"/>
                <a:gd name="connsiteY8" fmla="*/ 2258009 h 4460084"/>
                <a:gd name="connsiteX9" fmla="*/ 66179 w 262122"/>
                <a:gd name="connsiteY9" fmla="*/ 2425960 h 4460084"/>
                <a:gd name="connsiteX10" fmla="*/ 38187 w 262122"/>
                <a:gd name="connsiteY10" fmla="*/ 2491274 h 4460084"/>
                <a:gd name="connsiteX11" fmla="*/ 865 w 262122"/>
                <a:gd name="connsiteY11" fmla="*/ 2715209 h 4460084"/>
                <a:gd name="connsiteX12" fmla="*/ 865 w 262122"/>
                <a:gd name="connsiteY12" fmla="*/ 2864498 h 4460084"/>
                <a:gd name="connsiteX13" fmla="*/ 19526 w 262122"/>
                <a:gd name="connsiteY13" fmla="*/ 3004458 h 4460084"/>
                <a:gd name="connsiteX14" fmla="*/ 56849 w 262122"/>
                <a:gd name="connsiteY14" fmla="*/ 3172409 h 4460084"/>
                <a:gd name="connsiteX15" fmla="*/ 103502 w 262122"/>
                <a:gd name="connsiteY15" fmla="*/ 3573625 h 4460084"/>
                <a:gd name="connsiteX16" fmla="*/ 131494 w 262122"/>
                <a:gd name="connsiteY16" fmla="*/ 3629609 h 4460084"/>
                <a:gd name="connsiteX17" fmla="*/ 140824 w 262122"/>
                <a:gd name="connsiteY17" fmla="*/ 3890866 h 4460084"/>
                <a:gd name="connsiteX18" fmla="*/ 159485 w 262122"/>
                <a:gd name="connsiteY18" fmla="*/ 3965511 h 4460084"/>
                <a:gd name="connsiteX19" fmla="*/ 187477 w 262122"/>
                <a:gd name="connsiteY19" fmla="*/ 4152123 h 4460084"/>
                <a:gd name="connsiteX20" fmla="*/ 196808 w 262122"/>
                <a:gd name="connsiteY20" fmla="*/ 4422711 h 4460084"/>
                <a:gd name="connsiteX21" fmla="*/ 215469 w 262122"/>
                <a:gd name="connsiteY21" fmla="*/ 4460033 h 4460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2122" h="4460084">
                  <a:moveTo>
                    <a:pt x="262122" y="0"/>
                  </a:moveTo>
                  <a:cubicBezTo>
                    <a:pt x="259012" y="329682"/>
                    <a:pt x="261620" y="659467"/>
                    <a:pt x="252792" y="989045"/>
                  </a:cubicBezTo>
                  <a:cubicBezTo>
                    <a:pt x="252265" y="1008709"/>
                    <a:pt x="238901" y="1025945"/>
                    <a:pt x="234130" y="1045029"/>
                  </a:cubicBezTo>
                  <a:cubicBezTo>
                    <a:pt x="229542" y="1063383"/>
                    <a:pt x="228184" y="1082399"/>
                    <a:pt x="224800" y="1101013"/>
                  </a:cubicBezTo>
                  <a:cubicBezTo>
                    <a:pt x="221963" y="1116616"/>
                    <a:pt x="218579" y="1132115"/>
                    <a:pt x="215469" y="1147666"/>
                  </a:cubicBezTo>
                  <a:cubicBezTo>
                    <a:pt x="223779" y="1480058"/>
                    <a:pt x="235184" y="1569416"/>
                    <a:pt x="206138" y="1903445"/>
                  </a:cubicBezTo>
                  <a:cubicBezTo>
                    <a:pt x="204687" y="1920131"/>
                    <a:pt x="192078" y="1933994"/>
                    <a:pt x="187477" y="1950098"/>
                  </a:cubicBezTo>
                  <a:cubicBezTo>
                    <a:pt x="173385" y="1999419"/>
                    <a:pt x="160547" y="2049157"/>
                    <a:pt x="150155" y="2099388"/>
                  </a:cubicBezTo>
                  <a:cubicBezTo>
                    <a:pt x="119117" y="2249406"/>
                    <a:pt x="159845" y="2182884"/>
                    <a:pt x="103502" y="2258009"/>
                  </a:cubicBezTo>
                  <a:cubicBezTo>
                    <a:pt x="91061" y="2313993"/>
                    <a:pt x="81642" y="2370735"/>
                    <a:pt x="66179" y="2425960"/>
                  </a:cubicBezTo>
                  <a:cubicBezTo>
                    <a:pt x="59792" y="2448769"/>
                    <a:pt x="44419" y="2468422"/>
                    <a:pt x="38187" y="2491274"/>
                  </a:cubicBezTo>
                  <a:cubicBezTo>
                    <a:pt x="13052" y="2583435"/>
                    <a:pt x="10490" y="2628591"/>
                    <a:pt x="865" y="2715209"/>
                  </a:cubicBezTo>
                  <a:cubicBezTo>
                    <a:pt x="27032" y="2793704"/>
                    <a:pt x="-5589" y="2683780"/>
                    <a:pt x="865" y="2864498"/>
                  </a:cubicBezTo>
                  <a:cubicBezTo>
                    <a:pt x="2545" y="2911534"/>
                    <a:pt x="12870" y="2957865"/>
                    <a:pt x="19526" y="3004458"/>
                  </a:cubicBezTo>
                  <a:cubicBezTo>
                    <a:pt x="38377" y="3136419"/>
                    <a:pt x="23958" y="3090186"/>
                    <a:pt x="56849" y="3172409"/>
                  </a:cubicBezTo>
                  <a:cubicBezTo>
                    <a:pt x="72400" y="3306148"/>
                    <a:pt x="81807" y="3440745"/>
                    <a:pt x="103502" y="3573625"/>
                  </a:cubicBezTo>
                  <a:cubicBezTo>
                    <a:pt x="106864" y="3594216"/>
                    <a:pt x="129056" y="3608888"/>
                    <a:pt x="131494" y="3629609"/>
                  </a:cubicBezTo>
                  <a:cubicBezTo>
                    <a:pt x="141676" y="3716153"/>
                    <a:pt x="133588" y="3804026"/>
                    <a:pt x="140824" y="3890866"/>
                  </a:cubicBezTo>
                  <a:cubicBezTo>
                    <a:pt x="142954" y="3916425"/>
                    <a:pt x="154897" y="3940277"/>
                    <a:pt x="159485" y="3965511"/>
                  </a:cubicBezTo>
                  <a:cubicBezTo>
                    <a:pt x="183185" y="4095857"/>
                    <a:pt x="174307" y="4033587"/>
                    <a:pt x="187477" y="4152123"/>
                  </a:cubicBezTo>
                  <a:cubicBezTo>
                    <a:pt x="190587" y="4242319"/>
                    <a:pt x="191348" y="4332627"/>
                    <a:pt x="196808" y="4422711"/>
                  </a:cubicBezTo>
                  <a:cubicBezTo>
                    <a:pt x="199253" y="4463050"/>
                    <a:pt x="195167" y="4460033"/>
                    <a:pt x="215469" y="4460033"/>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Freeform: Shape 111">
              <a:extLst>
                <a:ext uri="{FF2B5EF4-FFF2-40B4-BE49-F238E27FC236}">
                  <a16:creationId xmlns:a16="http://schemas.microsoft.com/office/drawing/2014/main" id="{A54FF81D-55D6-2A6A-E3A3-05160D2382A2}"/>
                </a:ext>
              </a:extLst>
            </p:cNvPr>
            <p:cNvSpPr/>
            <p:nvPr/>
          </p:nvSpPr>
          <p:spPr>
            <a:xfrm>
              <a:off x="8797822" y="1722463"/>
              <a:ext cx="195942" cy="4264090"/>
            </a:xfrm>
            <a:custGeom>
              <a:avLst/>
              <a:gdLst>
                <a:gd name="connsiteX0" fmla="*/ 195942 w 195942"/>
                <a:gd name="connsiteY0" fmla="*/ 0 h 4264090"/>
                <a:gd name="connsiteX1" fmla="*/ 186612 w 195942"/>
                <a:gd name="connsiteY1" fmla="*/ 233266 h 4264090"/>
                <a:gd name="connsiteX2" fmla="*/ 177281 w 195942"/>
                <a:gd name="connsiteY2" fmla="*/ 261257 h 4264090"/>
                <a:gd name="connsiteX3" fmla="*/ 149289 w 195942"/>
                <a:gd name="connsiteY3" fmla="*/ 895739 h 4264090"/>
                <a:gd name="connsiteX4" fmla="*/ 130628 w 195942"/>
                <a:gd name="connsiteY4" fmla="*/ 961053 h 4264090"/>
                <a:gd name="connsiteX5" fmla="*/ 93306 w 195942"/>
                <a:gd name="connsiteY5" fmla="*/ 1073021 h 4264090"/>
                <a:gd name="connsiteX6" fmla="*/ 74645 w 195942"/>
                <a:gd name="connsiteY6" fmla="*/ 1166327 h 4264090"/>
                <a:gd name="connsiteX7" fmla="*/ 65314 w 195942"/>
                <a:gd name="connsiteY7" fmla="*/ 1194319 h 4264090"/>
                <a:gd name="connsiteX8" fmla="*/ 37322 w 195942"/>
                <a:gd name="connsiteY8" fmla="*/ 1371600 h 4264090"/>
                <a:gd name="connsiteX9" fmla="*/ 9330 w 195942"/>
                <a:gd name="connsiteY9" fmla="*/ 1502229 h 4264090"/>
                <a:gd name="connsiteX10" fmla="*/ 27991 w 195942"/>
                <a:gd name="connsiteY10" fmla="*/ 1670180 h 4264090"/>
                <a:gd name="connsiteX11" fmla="*/ 37322 w 195942"/>
                <a:gd name="connsiteY11" fmla="*/ 1698172 h 4264090"/>
                <a:gd name="connsiteX12" fmla="*/ 46653 w 195942"/>
                <a:gd name="connsiteY12" fmla="*/ 1810139 h 4264090"/>
                <a:gd name="connsiteX13" fmla="*/ 65314 w 195942"/>
                <a:gd name="connsiteY13" fmla="*/ 1847461 h 4264090"/>
                <a:gd name="connsiteX14" fmla="*/ 74645 w 195942"/>
                <a:gd name="connsiteY14" fmla="*/ 1884784 h 4264090"/>
                <a:gd name="connsiteX15" fmla="*/ 111967 w 195942"/>
                <a:gd name="connsiteY15" fmla="*/ 1968759 h 4264090"/>
                <a:gd name="connsiteX16" fmla="*/ 121298 w 195942"/>
                <a:gd name="connsiteY16" fmla="*/ 2006082 h 4264090"/>
                <a:gd name="connsiteX17" fmla="*/ 158620 w 195942"/>
                <a:gd name="connsiteY17" fmla="*/ 2062066 h 4264090"/>
                <a:gd name="connsiteX18" fmla="*/ 149289 w 195942"/>
                <a:gd name="connsiteY18" fmla="*/ 2453951 h 4264090"/>
                <a:gd name="connsiteX19" fmla="*/ 130628 w 195942"/>
                <a:gd name="connsiteY19" fmla="*/ 2509935 h 4264090"/>
                <a:gd name="connsiteX20" fmla="*/ 111967 w 195942"/>
                <a:gd name="connsiteY20" fmla="*/ 2593910 h 4264090"/>
                <a:gd name="connsiteX21" fmla="*/ 93306 w 195942"/>
                <a:gd name="connsiteY21" fmla="*/ 2752531 h 4264090"/>
                <a:gd name="connsiteX22" fmla="*/ 83975 w 195942"/>
                <a:gd name="connsiteY22" fmla="*/ 2817845 h 4264090"/>
                <a:gd name="connsiteX23" fmla="*/ 18661 w 195942"/>
                <a:gd name="connsiteY23" fmla="*/ 3032449 h 4264090"/>
                <a:gd name="connsiteX24" fmla="*/ 0 w 195942"/>
                <a:gd name="connsiteY24" fmla="*/ 3144417 h 4264090"/>
                <a:gd name="connsiteX25" fmla="*/ 18661 w 195942"/>
                <a:gd name="connsiteY25" fmla="*/ 3265715 h 4264090"/>
                <a:gd name="connsiteX26" fmla="*/ 27991 w 195942"/>
                <a:gd name="connsiteY26" fmla="*/ 3303037 h 4264090"/>
                <a:gd name="connsiteX27" fmla="*/ 46653 w 195942"/>
                <a:gd name="connsiteY27" fmla="*/ 3331029 h 4264090"/>
                <a:gd name="connsiteX28" fmla="*/ 55983 w 195942"/>
                <a:gd name="connsiteY28" fmla="*/ 3359021 h 4264090"/>
                <a:gd name="connsiteX29" fmla="*/ 74645 w 195942"/>
                <a:gd name="connsiteY29" fmla="*/ 3424335 h 4264090"/>
                <a:gd name="connsiteX30" fmla="*/ 121298 w 195942"/>
                <a:gd name="connsiteY30" fmla="*/ 3536302 h 4264090"/>
                <a:gd name="connsiteX31" fmla="*/ 149289 w 195942"/>
                <a:gd name="connsiteY31" fmla="*/ 3573625 h 4264090"/>
                <a:gd name="connsiteX32" fmla="*/ 186612 w 195942"/>
                <a:gd name="connsiteY32" fmla="*/ 3694923 h 4264090"/>
                <a:gd name="connsiteX33" fmla="*/ 177281 w 195942"/>
                <a:gd name="connsiteY33" fmla="*/ 4264090 h 42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5942" h="4264090">
                  <a:moveTo>
                    <a:pt x="195942" y="0"/>
                  </a:moveTo>
                  <a:cubicBezTo>
                    <a:pt x="192832" y="77755"/>
                    <a:pt x="192156" y="155646"/>
                    <a:pt x="186612" y="233266"/>
                  </a:cubicBezTo>
                  <a:cubicBezTo>
                    <a:pt x="185911" y="243076"/>
                    <a:pt x="177834" y="251437"/>
                    <a:pt x="177281" y="261257"/>
                  </a:cubicBezTo>
                  <a:cubicBezTo>
                    <a:pt x="165373" y="472622"/>
                    <a:pt x="163371" y="684508"/>
                    <a:pt x="149289" y="895739"/>
                  </a:cubicBezTo>
                  <a:cubicBezTo>
                    <a:pt x="147783" y="918331"/>
                    <a:pt x="137446" y="939461"/>
                    <a:pt x="130628" y="961053"/>
                  </a:cubicBezTo>
                  <a:cubicBezTo>
                    <a:pt x="118781" y="998568"/>
                    <a:pt x="102848" y="1034854"/>
                    <a:pt x="93306" y="1073021"/>
                  </a:cubicBezTo>
                  <a:cubicBezTo>
                    <a:pt x="56136" y="1221695"/>
                    <a:pt x="120385" y="960494"/>
                    <a:pt x="74645" y="1166327"/>
                  </a:cubicBezTo>
                  <a:cubicBezTo>
                    <a:pt x="72511" y="1175928"/>
                    <a:pt x="68424" y="1184988"/>
                    <a:pt x="65314" y="1194319"/>
                  </a:cubicBezTo>
                  <a:cubicBezTo>
                    <a:pt x="43323" y="1370236"/>
                    <a:pt x="72043" y="1151701"/>
                    <a:pt x="37322" y="1371600"/>
                  </a:cubicBezTo>
                  <a:cubicBezTo>
                    <a:pt x="19666" y="1483418"/>
                    <a:pt x="40537" y="1408607"/>
                    <a:pt x="9330" y="1502229"/>
                  </a:cubicBezTo>
                  <a:cubicBezTo>
                    <a:pt x="15550" y="1558213"/>
                    <a:pt x="20025" y="1614418"/>
                    <a:pt x="27991" y="1670180"/>
                  </a:cubicBezTo>
                  <a:cubicBezTo>
                    <a:pt x="29382" y="1679917"/>
                    <a:pt x="36022" y="1688423"/>
                    <a:pt x="37322" y="1698172"/>
                  </a:cubicBezTo>
                  <a:cubicBezTo>
                    <a:pt x="42272" y="1735295"/>
                    <a:pt x="39751" y="1773329"/>
                    <a:pt x="46653" y="1810139"/>
                  </a:cubicBezTo>
                  <a:cubicBezTo>
                    <a:pt x="49216" y="1823810"/>
                    <a:pt x="60430" y="1834438"/>
                    <a:pt x="65314" y="1847461"/>
                  </a:cubicBezTo>
                  <a:cubicBezTo>
                    <a:pt x="69817" y="1859468"/>
                    <a:pt x="70590" y="1872618"/>
                    <a:pt x="74645" y="1884784"/>
                  </a:cubicBezTo>
                  <a:cubicBezTo>
                    <a:pt x="125713" y="2037988"/>
                    <a:pt x="63193" y="1838696"/>
                    <a:pt x="111967" y="1968759"/>
                  </a:cubicBezTo>
                  <a:cubicBezTo>
                    <a:pt x="116470" y="1980766"/>
                    <a:pt x="115563" y="1994612"/>
                    <a:pt x="121298" y="2006082"/>
                  </a:cubicBezTo>
                  <a:cubicBezTo>
                    <a:pt x="131328" y="2026142"/>
                    <a:pt x="158620" y="2062066"/>
                    <a:pt x="158620" y="2062066"/>
                  </a:cubicBezTo>
                  <a:cubicBezTo>
                    <a:pt x="155510" y="2192694"/>
                    <a:pt x="157440" y="2323540"/>
                    <a:pt x="149289" y="2453951"/>
                  </a:cubicBezTo>
                  <a:cubicBezTo>
                    <a:pt x="148062" y="2473583"/>
                    <a:pt x="136280" y="2491094"/>
                    <a:pt x="130628" y="2509935"/>
                  </a:cubicBezTo>
                  <a:cubicBezTo>
                    <a:pt x="124764" y="2529482"/>
                    <a:pt x="114770" y="2575693"/>
                    <a:pt x="111967" y="2593910"/>
                  </a:cubicBezTo>
                  <a:cubicBezTo>
                    <a:pt x="104780" y="2640624"/>
                    <a:pt x="99073" y="2706394"/>
                    <a:pt x="93306" y="2752531"/>
                  </a:cubicBezTo>
                  <a:cubicBezTo>
                    <a:pt x="90578" y="2774354"/>
                    <a:pt x="88849" y="2796400"/>
                    <a:pt x="83975" y="2817845"/>
                  </a:cubicBezTo>
                  <a:cubicBezTo>
                    <a:pt x="56368" y="2939315"/>
                    <a:pt x="54491" y="2936902"/>
                    <a:pt x="18661" y="3032449"/>
                  </a:cubicBezTo>
                  <a:cubicBezTo>
                    <a:pt x="12441" y="3069772"/>
                    <a:pt x="0" y="3106580"/>
                    <a:pt x="0" y="3144417"/>
                  </a:cubicBezTo>
                  <a:cubicBezTo>
                    <a:pt x="0" y="3185325"/>
                    <a:pt x="11552" y="3225429"/>
                    <a:pt x="18661" y="3265715"/>
                  </a:cubicBezTo>
                  <a:cubicBezTo>
                    <a:pt x="20889" y="3278343"/>
                    <a:pt x="22940" y="3291250"/>
                    <a:pt x="27991" y="3303037"/>
                  </a:cubicBezTo>
                  <a:cubicBezTo>
                    <a:pt x="32409" y="3313344"/>
                    <a:pt x="40432" y="3321698"/>
                    <a:pt x="46653" y="3331029"/>
                  </a:cubicBezTo>
                  <a:cubicBezTo>
                    <a:pt x="49763" y="3340360"/>
                    <a:pt x="53157" y="3349600"/>
                    <a:pt x="55983" y="3359021"/>
                  </a:cubicBezTo>
                  <a:cubicBezTo>
                    <a:pt x="62489" y="3380709"/>
                    <a:pt x="66817" y="3403089"/>
                    <a:pt x="74645" y="3424335"/>
                  </a:cubicBezTo>
                  <a:cubicBezTo>
                    <a:pt x="88623" y="3462275"/>
                    <a:pt x="103216" y="3500138"/>
                    <a:pt x="121298" y="3536302"/>
                  </a:cubicBezTo>
                  <a:cubicBezTo>
                    <a:pt x="128253" y="3550211"/>
                    <a:pt x="139959" y="3561184"/>
                    <a:pt x="149289" y="3573625"/>
                  </a:cubicBezTo>
                  <a:cubicBezTo>
                    <a:pt x="170150" y="3677927"/>
                    <a:pt x="150357" y="3640540"/>
                    <a:pt x="186612" y="3694923"/>
                  </a:cubicBezTo>
                  <a:cubicBezTo>
                    <a:pt x="176878" y="4220544"/>
                    <a:pt x="177281" y="4030796"/>
                    <a:pt x="177281" y="4264090"/>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C43E3346-F6DD-8308-BA85-D023045034B8}"/>
                    </a:ext>
                  </a:extLst>
                </p:cNvPr>
                <p:cNvSpPr txBox="1"/>
                <p:nvPr/>
              </p:nvSpPr>
              <p:spPr>
                <a:xfrm>
                  <a:off x="7007698" y="6118250"/>
                  <a:ext cx="4327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𝟏</m:t>
                            </m:r>
                          </m:sub>
                          <m:sup>
                            <m:r>
                              <a:rPr lang="en-US" b="1" i="1" smtClean="0">
                                <a:latin typeface="Cambria Math" panose="02040503050406030204" pitchFamily="18" charset="0"/>
                              </a:rPr>
                              <m:t>∗</m:t>
                            </m:r>
                          </m:sup>
                        </m:sSubSup>
                      </m:oMath>
                    </m:oMathPara>
                  </a14:m>
                  <a:endParaRPr lang="en-US" b="1" dirty="0"/>
                </a:p>
              </p:txBody>
            </p:sp>
          </mc:Choice>
          <mc:Fallback xmlns="">
            <p:sp>
              <p:nvSpPr>
                <p:cNvPr id="113" name="TextBox 112">
                  <a:extLst>
                    <a:ext uri="{FF2B5EF4-FFF2-40B4-BE49-F238E27FC236}">
                      <a16:creationId xmlns:a16="http://schemas.microsoft.com/office/drawing/2014/main" id="{C43E3346-F6DD-8308-BA85-D023045034B8}"/>
                    </a:ext>
                  </a:extLst>
                </p:cNvPr>
                <p:cNvSpPr txBox="1">
                  <a:spLocks noRot="1" noChangeAspect="1" noMove="1" noResize="1" noEditPoints="1" noAdjustHandles="1" noChangeArrowheads="1" noChangeShapeType="1" noTextEdit="1"/>
                </p:cNvSpPr>
                <p:nvPr/>
              </p:nvSpPr>
              <p:spPr>
                <a:xfrm>
                  <a:off x="7007698" y="6118250"/>
                  <a:ext cx="432721" cy="369332"/>
                </a:xfrm>
                <a:prstGeom prst="rect">
                  <a:avLst/>
                </a:prstGeom>
                <a:blipFill>
                  <a:blip r:embed="rId4"/>
                  <a:stretch>
                    <a:fillRect r="-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20FB1B43-D766-568D-E345-39EF0B812298}"/>
                    </a:ext>
                  </a:extLst>
                </p:cNvPr>
                <p:cNvSpPr txBox="1"/>
                <p:nvPr/>
              </p:nvSpPr>
              <p:spPr>
                <a:xfrm>
                  <a:off x="4815637" y="6112992"/>
                  <a:ext cx="6097554" cy="3754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𝟐</m:t>
                            </m:r>
                          </m:sub>
                          <m:sup>
                            <m:r>
                              <a:rPr lang="en-US" b="1" i="1" smtClean="0">
                                <a:latin typeface="Cambria Math" panose="02040503050406030204" pitchFamily="18" charset="0"/>
                              </a:rPr>
                              <m:t>∗</m:t>
                            </m:r>
                          </m:sup>
                        </m:sSubSup>
                      </m:oMath>
                    </m:oMathPara>
                  </a14:m>
                  <a:endParaRPr lang="en-US" dirty="0"/>
                </a:p>
              </p:txBody>
            </p:sp>
          </mc:Choice>
          <mc:Fallback xmlns="">
            <p:sp>
              <p:nvSpPr>
                <p:cNvPr id="114" name="TextBox 113">
                  <a:extLst>
                    <a:ext uri="{FF2B5EF4-FFF2-40B4-BE49-F238E27FC236}">
                      <a16:creationId xmlns:a16="http://schemas.microsoft.com/office/drawing/2014/main" id="{20FB1B43-D766-568D-E345-39EF0B812298}"/>
                    </a:ext>
                  </a:extLst>
                </p:cNvPr>
                <p:cNvSpPr txBox="1">
                  <a:spLocks noRot="1" noChangeAspect="1" noMove="1" noResize="1" noEditPoints="1" noAdjustHandles="1" noChangeArrowheads="1" noChangeShapeType="1" noTextEdit="1"/>
                </p:cNvSpPr>
                <p:nvPr/>
              </p:nvSpPr>
              <p:spPr>
                <a:xfrm>
                  <a:off x="4815637" y="6112992"/>
                  <a:ext cx="6097554" cy="37542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13EBD245-17CB-3567-39B3-DF859EA6F70B}"/>
                    </a:ext>
                  </a:extLst>
                </p:cNvPr>
                <p:cNvSpPr txBox="1"/>
                <p:nvPr/>
              </p:nvSpPr>
              <p:spPr>
                <a:xfrm>
                  <a:off x="5941877" y="6096372"/>
                  <a:ext cx="6097554" cy="3754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𝟑</m:t>
                            </m:r>
                          </m:sub>
                          <m:sup>
                            <m:r>
                              <a:rPr lang="en-US" b="1" i="1" smtClean="0">
                                <a:latin typeface="Cambria Math" panose="02040503050406030204" pitchFamily="18" charset="0"/>
                              </a:rPr>
                              <m:t>∗</m:t>
                            </m:r>
                          </m:sup>
                        </m:sSubSup>
                      </m:oMath>
                    </m:oMathPara>
                  </a14:m>
                  <a:endParaRPr lang="en-US" dirty="0"/>
                </a:p>
              </p:txBody>
            </p:sp>
          </mc:Choice>
          <mc:Fallback xmlns="">
            <p:sp>
              <p:nvSpPr>
                <p:cNvPr id="115" name="TextBox 114">
                  <a:extLst>
                    <a:ext uri="{FF2B5EF4-FFF2-40B4-BE49-F238E27FC236}">
                      <a16:creationId xmlns:a16="http://schemas.microsoft.com/office/drawing/2014/main" id="{13EBD245-17CB-3567-39B3-DF859EA6F70B}"/>
                    </a:ext>
                  </a:extLst>
                </p:cNvPr>
                <p:cNvSpPr txBox="1">
                  <a:spLocks noRot="1" noChangeAspect="1" noMove="1" noResize="1" noEditPoints="1" noAdjustHandles="1" noChangeArrowheads="1" noChangeShapeType="1" noTextEdit="1"/>
                </p:cNvSpPr>
                <p:nvPr/>
              </p:nvSpPr>
              <p:spPr>
                <a:xfrm>
                  <a:off x="5941877" y="6096372"/>
                  <a:ext cx="6097554" cy="375424"/>
                </a:xfrm>
                <a:prstGeom prst="rect">
                  <a:avLst/>
                </a:prstGeom>
                <a:blipFill>
                  <a:blip r:embed="rId6"/>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635750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BD3AF-D8B1-9A87-7430-3D8B1EE636CA}"/>
              </a:ext>
            </a:extLst>
          </p:cNvPr>
          <p:cNvSpPr>
            <a:spLocks noGrp="1"/>
          </p:cNvSpPr>
          <p:nvPr>
            <p:ph type="title"/>
          </p:nvPr>
        </p:nvSpPr>
        <p:spPr/>
        <p:txBody>
          <a:bodyPr/>
          <a:lstStyle/>
          <a:p>
            <a:r>
              <a:rPr lang="en-US" dirty="0"/>
              <a:t>Conditional Mixture of Gaussians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3E4645-B2EC-7842-69CB-BF33EF6A596D}"/>
                  </a:ext>
                </a:extLst>
              </p:cNvPr>
              <p:cNvSpPr>
                <a:spLocks noGrp="1"/>
              </p:cNvSpPr>
              <p:nvPr>
                <p:ph sz="half" idx="1"/>
              </p:nvPr>
            </p:nvSpPr>
            <p:spPr/>
            <p:txBody>
              <a:bodyPr>
                <a:normAutofit/>
              </a:bodyPr>
              <a:lstStyle/>
              <a:p>
                <a:r>
                  <a:rPr lang="en-US" dirty="0"/>
                  <a:t>Condition all the parameters in the mixture on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oMath>
                </a14:m>
                <a:r>
                  <a:rPr lang="en-US" dirty="0"/>
                  <a:t>:</a:t>
                </a:r>
              </a:p>
              <a:p>
                <a:pPr lvl="1">
                  <a:buFont typeface="Wingdings" panose="05000000000000000000" pitchFamily="2" charset="2"/>
                  <a:buChar char="§"/>
                </a:pP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m:t>
                        </m:r>
                      </m:e>
                      <m:sub>
                        <m:r>
                          <a:rPr lang="en-US" b="0" i="1" smtClean="0">
                            <a:latin typeface="Cambria Math" panose="02040503050406030204" pitchFamily="18" charset="0"/>
                          </a:rPr>
                          <m:t>𝑗</m:t>
                        </m:r>
                      </m:sub>
                      <m:sup>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𝐽</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 </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Ω</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m:t>
                        </m:r>
                      </m:e>
                    </m:d>
                  </m:oMath>
                </a14:m>
                <a:endParaRPr lang="en-US" b="0" dirty="0"/>
              </a:p>
              <a:p>
                <a:r>
                  <a:rPr lang="en-US" b="0" dirty="0"/>
                  <a:t>One performs density estimation via the maximum likelihood objective function:</a:t>
                </a:r>
              </a:p>
              <a:p>
                <a:pPr marL="0" indent="0">
                  <a:buNone/>
                </a:pPr>
                <a:r>
                  <a:rPr lang="en-US" b="0" dirty="0"/>
                  <a:t> </a:t>
                </a:r>
              </a:p>
            </p:txBody>
          </p:sp>
        </mc:Choice>
        <mc:Fallback xmlns="">
          <p:sp>
            <p:nvSpPr>
              <p:cNvPr id="3" name="Content Placeholder 2">
                <a:extLst>
                  <a:ext uri="{FF2B5EF4-FFF2-40B4-BE49-F238E27FC236}">
                    <a16:creationId xmlns:a16="http://schemas.microsoft.com/office/drawing/2014/main" id="{173E4645-B2EC-7842-69CB-BF33EF6A596D}"/>
                  </a:ext>
                </a:extLst>
              </p:cNvPr>
              <p:cNvSpPr>
                <a:spLocks noGrp="1" noRot="1" noChangeAspect="1" noMove="1" noResize="1" noEditPoints="1" noAdjustHandles="1" noChangeArrowheads="1" noChangeShapeType="1" noTextEdit="1"/>
              </p:cNvSpPr>
              <p:nvPr>
                <p:ph sz="half" idx="1"/>
              </p:nvPr>
            </p:nvSpPr>
            <p:spPr>
              <a:blipFill>
                <a:blip r:embed="rId2"/>
                <a:stretch>
                  <a:fillRect l="-2118" t="-2241" r="-3647"/>
                </a:stretch>
              </a:blipFill>
            </p:spPr>
            <p:txBody>
              <a:bodyPr/>
              <a:lstStyle/>
              <a:p>
                <a:r>
                  <a:rPr lang="en-US">
                    <a:noFill/>
                  </a:rPr>
                  <a:t> </a:t>
                </a:r>
              </a:p>
            </p:txBody>
          </p:sp>
        </mc:Fallback>
      </mc:AlternateContent>
      <p:pic>
        <p:nvPicPr>
          <p:cNvPr id="80" name="Content Placeholder 4">
            <a:extLst>
              <a:ext uri="{FF2B5EF4-FFF2-40B4-BE49-F238E27FC236}">
                <a16:creationId xmlns:a16="http://schemas.microsoft.com/office/drawing/2014/main" id="{E68B3746-BD87-4686-B696-1841ED59EDF6}"/>
              </a:ext>
            </a:extLst>
          </p:cNvPr>
          <p:cNvPicPr>
            <a:picLocks noChangeAspect="1"/>
          </p:cNvPicPr>
          <p:nvPr/>
        </p:nvPicPr>
        <p:blipFill>
          <a:blip r:embed="rId3"/>
          <a:stretch>
            <a:fillRect/>
          </a:stretch>
        </p:blipFill>
        <p:spPr>
          <a:xfrm>
            <a:off x="6131019" y="1544204"/>
            <a:ext cx="5793504" cy="4413191"/>
          </a:xfrm>
          <a:prstGeom prst="rect">
            <a:avLst/>
          </a:prstGeom>
        </p:spPr>
      </p:pic>
      <p:sp>
        <p:nvSpPr>
          <p:cNvPr id="81" name="Oval 80">
            <a:extLst>
              <a:ext uri="{FF2B5EF4-FFF2-40B4-BE49-F238E27FC236}">
                <a16:creationId xmlns:a16="http://schemas.microsoft.com/office/drawing/2014/main" id="{730B8BA7-5C73-4872-67C3-E40BB1C8A3DA}"/>
              </a:ext>
            </a:extLst>
          </p:cNvPr>
          <p:cNvSpPr/>
          <p:nvPr/>
        </p:nvSpPr>
        <p:spPr>
          <a:xfrm>
            <a:off x="9486457" y="283504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Oval 81">
            <a:extLst>
              <a:ext uri="{FF2B5EF4-FFF2-40B4-BE49-F238E27FC236}">
                <a16:creationId xmlns:a16="http://schemas.microsoft.com/office/drawing/2014/main" id="{836E3A45-13F1-4BC9-AEA4-1149C994A051}"/>
              </a:ext>
            </a:extLst>
          </p:cNvPr>
          <p:cNvSpPr/>
          <p:nvPr/>
        </p:nvSpPr>
        <p:spPr>
          <a:xfrm>
            <a:off x="7864983" y="433338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Oval 82">
            <a:extLst>
              <a:ext uri="{FF2B5EF4-FFF2-40B4-BE49-F238E27FC236}">
                <a16:creationId xmlns:a16="http://schemas.microsoft.com/office/drawing/2014/main" id="{15AEAAFF-2526-D933-6834-36DAF246EC7E}"/>
              </a:ext>
            </a:extLst>
          </p:cNvPr>
          <p:cNvSpPr/>
          <p:nvPr/>
        </p:nvSpPr>
        <p:spPr>
          <a:xfrm>
            <a:off x="9567784" y="3076356"/>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Oval 83">
            <a:extLst>
              <a:ext uri="{FF2B5EF4-FFF2-40B4-BE49-F238E27FC236}">
                <a16:creationId xmlns:a16="http://schemas.microsoft.com/office/drawing/2014/main" id="{5C9431FE-B29B-8FFE-0F74-562C93B75C0D}"/>
              </a:ext>
            </a:extLst>
          </p:cNvPr>
          <p:cNvSpPr/>
          <p:nvPr/>
        </p:nvSpPr>
        <p:spPr>
          <a:xfrm>
            <a:off x="7679454" y="412204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Oval 84">
            <a:extLst>
              <a:ext uri="{FF2B5EF4-FFF2-40B4-BE49-F238E27FC236}">
                <a16:creationId xmlns:a16="http://schemas.microsoft.com/office/drawing/2014/main" id="{5E708FED-1A35-50D9-D3B9-BCAE6C136E68}"/>
              </a:ext>
            </a:extLst>
          </p:cNvPr>
          <p:cNvSpPr/>
          <p:nvPr/>
        </p:nvSpPr>
        <p:spPr>
          <a:xfrm>
            <a:off x="7890397" y="417409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Oval 85">
            <a:extLst>
              <a:ext uri="{FF2B5EF4-FFF2-40B4-BE49-F238E27FC236}">
                <a16:creationId xmlns:a16="http://schemas.microsoft.com/office/drawing/2014/main" id="{E679F817-5B93-B97E-1DB0-FD449941F234}"/>
              </a:ext>
            </a:extLst>
          </p:cNvPr>
          <p:cNvSpPr/>
          <p:nvPr/>
        </p:nvSpPr>
        <p:spPr>
          <a:xfrm>
            <a:off x="7989516" y="448795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Oval 86">
            <a:extLst>
              <a:ext uri="{FF2B5EF4-FFF2-40B4-BE49-F238E27FC236}">
                <a16:creationId xmlns:a16="http://schemas.microsoft.com/office/drawing/2014/main" id="{B799A1AA-7D7C-4334-2D94-DCEB14C83F6F}"/>
              </a:ext>
            </a:extLst>
          </p:cNvPr>
          <p:cNvSpPr/>
          <p:nvPr/>
        </p:nvSpPr>
        <p:spPr>
          <a:xfrm>
            <a:off x="8274164" y="4592049"/>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Oval 87">
            <a:extLst>
              <a:ext uri="{FF2B5EF4-FFF2-40B4-BE49-F238E27FC236}">
                <a16:creationId xmlns:a16="http://schemas.microsoft.com/office/drawing/2014/main" id="{5CA4C0C7-33E8-49E0-3DB9-3B090FAF718A}"/>
              </a:ext>
            </a:extLst>
          </p:cNvPr>
          <p:cNvSpPr/>
          <p:nvPr/>
        </p:nvSpPr>
        <p:spPr>
          <a:xfrm>
            <a:off x="8402510" y="428134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Oval 88">
            <a:extLst>
              <a:ext uri="{FF2B5EF4-FFF2-40B4-BE49-F238E27FC236}">
                <a16:creationId xmlns:a16="http://schemas.microsoft.com/office/drawing/2014/main" id="{CBE29BD9-2EBA-E015-59DE-BFC48FAD2D52}"/>
              </a:ext>
            </a:extLst>
          </p:cNvPr>
          <p:cNvSpPr/>
          <p:nvPr/>
        </p:nvSpPr>
        <p:spPr>
          <a:xfrm>
            <a:off x="9239931" y="457124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Oval 89">
            <a:extLst>
              <a:ext uri="{FF2B5EF4-FFF2-40B4-BE49-F238E27FC236}">
                <a16:creationId xmlns:a16="http://schemas.microsoft.com/office/drawing/2014/main" id="{7A6F0954-0E30-85D6-59CE-7D6BB95513AA}"/>
              </a:ext>
            </a:extLst>
          </p:cNvPr>
          <p:cNvSpPr/>
          <p:nvPr/>
        </p:nvSpPr>
        <p:spPr>
          <a:xfrm>
            <a:off x="7675642" y="389117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Oval 90">
            <a:extLst>
              <a:ext uri="{FF2B5EF4-FFF2-40B4-BE49-F238E27FC236}">
                <a16:creationId xmlns:a16="http://schemas.microsoft.com/office/drawing/2014/main" id="{D99A3AFF-32D7-8FDE-DD38-3A83E12FD2D4}"/>
              </a:ext>
            </a:extLst>
          </p:cNvPr>
          <p:cNvSpPr/>
          <p:nvPr/>
        </p:nvSpPr>
        <p:spPr>
          <a:xfrm>
            <a:off x="9323800" y="318045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CFC08189-A4CB-3495-B5B5-05231CD05B55}"/>
              </a:ext>
            </a:extLst>
          </p:cNvPr>
          <p:cNvSpPr/>
          <p:nvPr/>
        </p:nvSpPr>
        <p:spPr>
          <a:xfrm>
            <a:off x="9452146" y="336971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Oval 92">
            <a:extLst>
              <a:ext uri="{FF2B5EF4-FFF2-40B4-BE49-F238E27FC236}">
                <a16:creationId xmlns:a16="http://schemas.microsoft.com/office/drawing/2014/main" id="{A93BE89A-BFA5-4894-1FF7-1B395478B803}"/>
              </a:ext>
            </a:extLst>
          </p:cNvPr>
          <p:cNvSpPr/>
          <p:nvPr/>
        </p:nvSpPr>
        <p:spPr>
          <a:xfrm>
            <a:off x="7853544" y="385962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Oval 93">
            <a:extLst>
              <a:ext uri="{FF2B5EF4-FFF2-40B4-BE49-F238E27FC236}">
                <a16:creationId xmlns:a16="http://schemas.microsoft.com/office/drawing/2014/main" id="{918962E3-20B2-B225-57AC-7FCE2344464D}"/>
              </a:ext>
            </a:extLst>
          </p:cNvPr>
          <p:cNvSpPr/>
          <p:nvPr/>
        </p:nvSpPr>
        <p:spPr>
          <a:xfrm>
            <a:off x="8262727" y="3660898"/>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Oval 94">
            <a:extLst>
              <a:ext uri="{FF2B5EF4-FFF2-40B4-BE49-F238E27FC236}">
                <a16:creationId xmlns:a16="http://schemas.microsoft.com/office/drawing/2014/main" id="{536A0271-6D3B-F3C2-FBD9-CD7D8831C547}"/>
              </a:ext>
            </a:extLst>
          </p:cNvPr>
          <p:cNvSpPr/>
          <p:nvPr/>
        </p:nvSpPr>
        <p:spPr>
          <a:xfrm>
            <a:off x="8114049" y="4642521"/>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Oval 95">
            <a:extLst>
              <a:ext uri="{FF2B5EF4-FFF2-40B4-BE49-F238E27FC236}">
                <a16:creationId xmlns:a16="http://schemas.microsoft.com/office/drawing/2014/main" id="{61DFE6B1-D109-2E5C-B60C-BFB39A88C9F0}"/>
              </a:ext>
            </a:extLst>
          </p:cNvPr>
          <p:cNvSpPr/>
          <p:nvPr/>
        </p:nvSpPr>
        <p:spPr>
          <a:xfrm>
            <a:off x="7562546" y="454000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Oval 96">
            <a:extLst>
              <a:ext uri="{FF2B5EF4-FFF2-40B4-BE49-F238E27FC236}">
                <a16:creationId xmlns:a16="http://schemas.microsoft.com/office/drawing/2014/main" id="{3189D39E-D62A-C146-DC53-C9E2980550D0}"/>
              </a:ext>
            </a:extLst>
          </p:cNvPr>
          <p:cNvSpPr/>
          <p:nvPr/>
        </p:nvSpPr>
        <p:spPr>
          <a:xfrm>
            <a:off x="7760450" y="274198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Oval 97">
            <a:extLst>
              <a:ext uri="{FF2B5EF4-FFF2-40B4-BE49-F238E27FC236}">
                <a16:creationId xmlns:a16="http://schemas.microsoft.com/office/drawing/2014/main" id="{FF91029B-993F-C019-32E5-D4D9068FC6FC}"/>
              </a:ext>
            </a:extLst>
          </p:cNvPr>
          <p:cNvSpPr/>
          <p:nvPr/>
        </p:nvSpPr>
        <p:spPr>
          <a:xfrm>
            <a:off x="8693511" y="3807577"/>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Oval 98">
            <a:extLst>
              <a:ext uri="{FF2B5EF4-FFF2-40B4-BE49-F238E27FC236}">
                <a16:creationId xmlns:a16="http://schemas.microsoft.com/office/drawing/2014/main" id="{E81AAA12-BEDC-5978-1C90-3559292997F3}"/>
              </a:ext>
            </a:extLst>
          </p:cNvPr>
          <p:cNvSpPr/>
          <p:nvPr/>
        </p:nvSpPr>
        <p:spPr>
          <a:xfrm>
            <a:off x="8701135" y="294229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Oval 99">
            <a:extLst>
              <a:ext uri="{FF2B5EF4-FFF2-40B4-BE49-F238E27FC236}">
                <a16:creationId xmlns:a16="http://schemas.microsoft.com/office/drawing/2014/main" id="{CD77A7B0-03BA-3276-AFE7-25FCE938CAC3}"/>
              </a:ext>
            </a:extLst>
          </p:cNvPr>
          <p:cNvSpPr/>
          <p:nvPr/>
        </p:nvSpPr>
        <p:spPr>
          <a:xfrm>
            <a:off x="7692162" y="3514820"/>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Oval 100">
            <a:extLst>
              <a:ext uri="{FF2B5EF4-FFF2-40B4-BE49-F238E27FC236}">
                <a16:creationId xmlns:a16="http://schemas.microsoft.com/office/drawing/2014/main" id="{192463D1-0CD0-9E82-6547-D6288FC7E6BD}"/>
              </a:ext>
            </a:extLst>
          </p:cNvPr>
          <p:cNvSpPr/>
          <p:nvPr/>
        </p:nvSpPr>
        <p:spPr>
          <a:xfrm>
            <a:off x="8624891" y="4415105"/>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Oval 101">
            <a:extLst>
              <a:ext uri="{FF2B5EF4-FFF2-40B4-BE49-F238E27FC236}">
                <a16:creationId xmlns:a16="http://schemas.microsoft.com/office/drawing/2014/main" id="{18F59A47-2195-15F5-7E0C-4B6B93215402}"/>
              </a:ext>
            </a:extLst>
          </p:cNvPr>
          <p:cNvSpPr/>
          <p:nvPr/>
        </p:nvSpPr>
        <p:spPr>
          <a:xfrm>
            <a:off x="8959151" y="446715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Oval 102">
            <a:extLst>
              <a:ext uri="{FF2B5EF4-FFF2-40B4-BE49-F238E27FC236}">
                <a16:creationId xmlns:a16="http://schemas.microsoft.com/office/drawing/2014/main" id="{FF2F0DFD-F40C-77C6-DBC1-273E36C18475}"/>
              </a:ext>
            </a:extLst>
          </p:cNvPr>
          <p:cNvSpPr/>
          <p:nvPr/>
        </p:nvSpPr>
        <p:spPr>
          <a:xfrm>
            <a:off x="7864983" y="470245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Oval 103">
            <a:extLst>
              <a:ext uri="{FF2B5EF4-FFF2-40B4-BE49-F238E27FC236}">
                <a16:creationId xmlns:a16="http://schemas.microsoft.com/office/drawing/2014/main" id="{8FED3FE2-84DE-A50D-150C-EDF7647E84D5}"/>
              </a:ext>
            </a:extLst>
          </p:cNvPr>
          <p:cNvSpPr/>
          <p:nvPr/>
        </p:nvSpPr>
        <p:spPr>
          <a:xfrm>
            <a:off x="8402509" y="3911672"/>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a:extLst>
              <a:ext uri="{FF2B5EF4-FFF2-40B4-BE49-F238E27FC236}">
                <a16:creationId xmlns:a16="http://schemas.microsoft.com/office/drawing/2014/main" id="{F6DC83D5-6D6E-8546-130B-231AD3E2AC05}"/>
              </a:ext>
            </a:extLst>
          </p:cNvPr>
          <p:cNvSpPr/>
          <p:nvPr/>
        </p:nvSpPr>
        <p:spPr>
          <a:xfrm>
            <a:off x="8121039" y="4229294"/>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Oval 105">
            <a:extLst>
              <a:ext uri="{FF2B5EF4-FFF2-40B4-BE49-F238E27FC236}">
                <a16:creationId xmlns:a16="http://schemas.microsoft.com/office/drawing/2014/main" id="{015FD07F-DF2D-5F83-173A-52353E684621}"/>
              </a:ext>
            </a:extLst>
          </p:cNvPr>
          <p:cNvSpPr/>
          <p:nvPr/>
        </p:nvSpPr>
        <p:spPr>
          <a:xfrm>
            <a:off x="8993460" y="2743563"/>
            <a:ext cx="68620" cy="10409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7" name="Straight Connector 106">
            <a:extLst>
              <a:ext uri="{FF2B5EF4-FFF2-40B4-BE49-F238E27FC236}">
                <a16:creationId xmlns:a16="http://schemas.microsoft.com/office/drawing/2014/main" id="{914B6F86-6AF6-CEF1-1C26-AFBDAF73853A}"/>
              </a:ext>
            </a:extLst>
          </p:cNvPr>
          <p:cNvCxnSpPr/>
          <p:nvPr/>
        </p:nvCxnSpPr>
        <p:spPr>
          <a:xfrm>
            <a:off x="7853544" y="1544204"/>
            <a:ext cx="0" cy="4413191"/>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5BE00A83-B335-EFDE-1E04-7B0998AA8B95}"/>
              </a:ext>
            </a:extLst>
          </p:cNvPr>
          <p:cNvCxnSpPr/>
          <p:nvPr/>
        </p:nvCxnSpPr>
        <p:spPr>
          <a:xfrm>
            <a:off x="9323800" y="1544204"/>
            <a:ext cx="0" cy="4413191"/>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CB91B3B9-85D4-448B-ACFD-989EDEF2229B}"/>
              </a:ext>
            </a:extLst>
          </p:cNvPr>
          <p:cNvCxnSpPr/>
          <p:nvPr/>
        </p:nvCxnSpPr>
        <p:spPr>
          <a:xfrm>
            <a:off x="8402509" y="1558398"/>
            <a:ext cx="0" cy="4413191"/>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110" name="Freeform: Shape 109">
            <a:extLst>
              <a:ext uri="{FF2B5EF4-FFF2-40B4-BE49-F238E27FC236}">
                <a16:creationId xmlns:a16="http://schemas.microsoft.com/office/drawing/2014/main" id="{5278EC28-EC06-9F81-DE73-81B893273F27}"/>
              </a:ext>
            </a:extLst>
          </p:cNvPr>
          <p:cNvSpPr/>
          <p:nvPr/>
        </p:nvSpPr>
        <p:spPr>
          <a:xfrm>
            <a:off x="7558124" y="1678348"/>
            <a:ext cx="297328" cy="4069195"/>
          </a:xfrm>
          <a:custGeom>
            <a:avLst/>
            <a:gdLst>
              <a:gd name="connsiteX0" fmla="*/ 354530 w 363861"/>
              <a:gd name="connsiteY0" fmla="*/ 0 h 4012163"/>
              <a:gd name="connsiteX1" fmla="*/ 335869 w 363861"/>
              <a:gd name="connsiteY1" fmla="*/ 438538 h 4012163"/>
              <a:gd name="connsiteX2" fmla="*/ 317208 w 363861"/>
              <a:gd name="connsiteY2" fmla="*/ 485191 h 4012163"/>
              <a:gd name="connsiteX3" fmla="*/ 279886 w 363861"/>
              <a:gd name="connsiteY3" fmla="*/ 615820 h 4012163"/>
              <a:gd name="connsiteX4" fmla="*/ 195910 w 363861"/>
              <a:gd name="connsiteY4" fmla="*/ 774440 h 4012163"/>
              <a:gd name="connsiteX5" fmla="*/ 177249 w 363861"/>
              <a:gd name="connsiteY5" fmla="*/ 811763 h 4012163"/>
              <a:gd name="connsiteX6" fmla="*/ 167918 w 363861"/>
              <a:gd name="connsiteY6" fmla="*/ 839755 h 4012163"/>
              <a:gd name="connsiteX7" fmla="*/ 149257 w 363861"/>
              <a:gd name="connsiteY7" fmla="*/ 886408 h 4012163"/>
              <a:gd name="connsiteX8" fmla="*/ 167918 w 363861"/>
              <a:gd name="connsiteY8" fmla="*/ 1156995 h 4012163"/>
              <a:gd name="connsiteX9" fmla="*/ 261224 w 363861"/>
              <a:gd name="connsiteY9" fmla="*/ 1231640 h 4012163"/>
              <a:gd name="connsiteX10" fmla="*/ 270555 w 363861"/>
              <a:gd name="connsiteY10" fmla="*/ 1259632 h 4012163"/>
              <a:gd name="connsiteX11" fmla="*/ 307877 w 363861"/>
              <a:gd name="connsiteY11" fmla="*/ 1380930 h 4012163"/>
              <a:gd name="connsiteX12" fmla="*/ 326539 w 363861"/>
              <a:gd name="connsiteY12" fmla="*/ 1427583 h 4012163"/>
              <a:gd name="connsiteX13" fmla="*/ 363861 w 363861"/>
              <a:gd name="connsiteY13" fmla="*/ 1548881 h 4012163"/>
              <a:gd name="connsiteX14" fmla="*/ 326539 w 363861"/>
              <a:gd name="connsiteY14" fmla="*/ 1735493 h 4012163"/>
              <a:gd name="connsiteX15" fmla="*/ 111935 w 363861"/>
              <a:gd name="connsiteY15" fmla="*/ 1968759 h 4012163"/>
              <a:gd name="connsiteX16" fmla="*/ 37290 w 363861"/>
              <a:gd name="connsiteY16" fmla="*/ 2099387 h 4012163"/>
              <a:gd name="connsiteX17" fmla="*/ 18628 w 363861"/>
              <a:gd name="connsiteY17" fmla="*/ 2612571 h 4012163"/>
              <a:gd name="connsiteX18" fmla="*/ 37290 w 363861"/>
              <a:gd name="connsiteY18" fmla="*/ 2649893 h 4012163"/>
              <a:gd name="connsiteX19" fmla="*/ 27959 w 363861"/>
              <a:gd name="connsiteY19" fmla="*/ 2799183 h 4012163"/>
              <a:gd name="connsiteX20" fmla="*/ 37290 w 363861"/>
              <a:gd name="connsiteY20" fmla="*/ 3069771 h 4012163"/>
              <a:gd name="connsiteX21" fmla="*/ 111935 w 363861"/>
              <a:gd name="connsiteY21" fmla="*/ 3275044 h 4012163"/>
              <a:gd name="connsiteX22" fmla="*/ 130596 w 363861"/>
              <a:gd name="connsiteY22" fmla="*/ 3312367 h 4012163"/>
              <a:gd name="connsiteX23" fmla="*/ 205241 w 363861"/>
              <a:gd name="connsiteY23" fmla="*/ 3536302 h 4012163"/>
              <a:gd name="connsiteX24" fmla="*/ 261224 w 363861"/>
              <a:gd name="connsiteY24" fmla="*/ 3676261 h 4012163"/>
              <a:gd name="connsiteX25" fmla="*/ 289216 w 363861"/>
              <a:gd name="connsiteY25" fmla="*/ 3760236 h 4012163"/>
              <a:gd name="connsiteX26" fmla="*/ 307877 w 363861"/>
              <a:gd name="connsiteY26" fmla="*/ 3788228 h 4012163"/>
              <a:gd name="connsiteX27" fmla="*/ 317208 w 363861"/>
              <a:gd name="connsiteY27" fmla="*/ 3956179 h 4012163"/>
              <a:gd name="connsiteX28" fmla="*/ 326539 w 363861"/>
              <a:gd name="connsiteY28" fmla="*/ 4012163 h 4012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63861" h="4012163">
                <a:moveTo>
                  <a:pt x="354530" y="0"/>
                </a:moveTo>
                <a:cubicBezTo>
                  <a:pt x="348310" y="146179"/>
                  <a:pt x="347090" y="292657"/>
                  <a:pt x="335869" y="438538"/>
                </a:cubicBezTo>
                <a:cubicBezTo>
                  <a:pt x="334584" y="455238"/>
                  <a:pt x="322252" y="469220"/>
                  <a:pt x="317208" y="485191"/>
                </a:cubicBezTo>
                <a:cubicBezTo>
                  <a:pt x="303571" y="528374"/>
                  <a:pt x="295117" y="573173"/>
                  <a:pt x="279886" y="615820"/>
                </a:cubicBezTo>
                <a:cubicBezTo>
                  <a:pt x="234567" y="742714"/>
                  <a:pt x="252981" y="717369"/>
                  <a:pt x="195910" y="774440"/>
                </a:cubicBezTo>
                <a:cubicBezTo>
                  <a:pt x="189690" y="786881"/>
                  <a:pt x="182728" y="798978"/>
                  <a:pt x="177249" y="811763"/>
                </a:cubicBezTo>
                <a:cubicBezTo>
                  <a:pt x="173375" y="820803"/>
                  <a:pt x="171371" y="830546"/>
                  <a:pt x="167918" y="839755"/>
                </a:cubicBezTo>
                <a:cubicBezTo>
                  <a:pt x="162037" y="855437"/>
                  <a:pt x="155477" y="870857"/>
                  <a:pt x="149257" y="886408"/>
                </a:cubicBezTo>
                <a:cubicBezTo>
                  <a:pt x="155477" y="976604"/>
                  <a:pt x="147772" y="1068858"/>
                  <a:pt x="167918" y="1156995"/>
                </a:cubicBezTo>
                <a:cubicBezTo>
                  <a:pt x="176411" y="1194151"/>
                  <a:pt x="230510" y="1216283"/>
                  <a:pt x="261224" y="1231640"/>
                </a:cubicBezTo>
                <a:cubicBezTo>
                  <a:pt x="264334" y="1240971"/>
                  <a:pt x="267729" y="1250211"/>
                  <a:pt x="270555" y="1259632"/>
                </a:cubicBezTo>
                <a:cubicBezTo>
                  <a:pt x="288755" y="1320299"/>
                  <a:pt x="287151" y="1323934"/>
                  <a:pt x="307877" y="1380930"/>
                </a:cubicBezTo>
                <a:cubicBezTo>
                  <a:pt x="313601" y="1396671"/>
                  <a:pt x="321613" y="1411575"/>
                  <a:pt x="326539" y="1427583"/>
                </a:cubicBezTo>
                <a:cubicBezTo>
                  <a:pt x="371991" y="1575299"/>
                  <a:pt x="320832" y="1441308"/>
                  <a:pt x="363861" y="1548881"/>
                </a:cubicBezTo>
                <a:cubicBezTo>
                  <a:pt x="360904" y="1572537"/>
                  <a:pt x="362794" y="1691987"/>
                  <a:pt x="326539" y="1735493"/>
                </a:cubicBezTo>
                <a:cubicBezTo>
                  <a:pt x="241771" y="1837215"/>
                  <a:pt x="195546" y="1829409"/>
                  <a:pt x="111935" y="1968759"/>
                </a:cubicBezTo>
                <a:cubicBezTo>
                  <a:pt x="48795" y="2073992"/>
                  <a:pt x="72172" y="2029623"/>
                  <a:pt x="37290" y="2099387"/>
                </a:cubicBezTo>
                <a:cubicBezTo>
                  <a:pt x="-12621" y="2332304"/>
                  <a:pt x="-5559" y="2249765"/>
                  <a:pt x="18628" y="2612571"/>
                </a:cubicBezTo>
                <a:cubicBezTo>
                  <a:pt x="19553" y="2626449"/>
                  <a:pt x="31069" y="2637452"/>
                  <a:pt x="37290" y="2649893"/>
                </a:cubicBezTo>
                <a:cubicBezTo>
                  <a:pt x="67541" y="2891916"/>
                  <a:pt x="34557" y="2555044"/>
                  <a:pt x="27959" y="2799183"/>
                </a:cubicBezTo>
                <a:cubicBezTo>
                  <a:pt x="25521" y="2889400"/>
                  <a:pt x="26365" y="2980185"/>
                  <a:pt x="37290" y="3069771"/>
                </a:cubicBezTo>
                <a:cubicBezTo>
                  <a:pt x="41003" y="3100215"/>
                  <a:pt x="97638" y="3241684"/>
                  <a:pt x="111935" y="3275044"/>
                </a:cubicBezTo>
                <a:cubicBezTo>
                  <a:pt x="117414" y="3287829"/>
                  <a:pt x="125918" y="3299268"/>
                  <a:pt x="130596" y="3312367"/>
                </a:cubicBezTo>
                <a:cubicBezTo>
                  <a:pt x="157060" y="3386466"/>
                  <a:pt x="178657" y="3462246"/>
                  <a:pt x="205241" y="3536302"/>
                </a:cubicBezTo>
                <a:cubicBezTo>
                  <a:pt x="222218" y="3583594"/>
                  <a:pt x="249037" y="3627515"/>
                  <a:pt x="261224" y="3676261"/>
                </a:cubicBezTo>
                <a:cubicBezTo>
                  <a:pt x="270133" y="3711897"/>
                  <a:pt x="271649" y="3725102"/>
                  <a:pt x="289216" y="3760236"/>
                </a:cubicBezTo>
                <a:cubicBezTo>
                  <a:pt x="294231" y="3770266"/>
                  <a:pt x="301657" y="3778897"/>
                  <a:pt x="307877" y="3788228"/>
                </a:cubicBezTo>
                <a:cubicBezTo>
                  <a:pt x="310987" y="3844212"/>
                  <a:pt x="311892" y="3900362"/>
                  <a:pt x="317208" y="3956179"/>
                </a:cubicBezTo>
                <a:cubicBezTo>
                  <a:pt x="329490" y="4085132"/>
                  <a:pt x="326539" y="3886954"/>
                  <a:pt x="326539" y="4012163"/>
                </a:cubicBezTo>
              </a:path>
            </a:pathLst>
          </a:cu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Freeform: Shape 110">
            <a:extLst>
              <a:ext uri="{FF2B5EF4-FFF2-40B4-BE49-F238E27FC236}">
                <a16:creationId xmlns:a16="http://schemas.microsoft.com/office/drawing/2014/main" id="{76EE1945-FFB6-7819-3F40-1094C2CA189F}"/>
              </a:ext>
            </a:extLst>
          </p:cNvPr>
          <p:cNvSpPr/>
          <p:nvPr/>
        </p:nvSpPr>
        <p:spPr>
          <a:xfrm>
            <a:off x="8174055" y="1489058"/>
            <a:ext cx="214192" cy="4523483"/>
          </a:xfrm>
          <a:custGeom>
            <a:avLst/>
            <a:gdLst>
              <a:gd name="connsiteX0" fmla="*/ 262122 w 262122"/>
              <a:gd name="connsiteY0" fmla="*/ 0 h 4460084"/>
              <a:gd name="connsiteX1" fmla="*/ 252792 w 262122"/>
              <a:gd name="connsiteY1" fmla="*/ 989045 h 4460084"/>
              <a:gd name="connsiteX2" fmla="*/ 234130 w 262122"/>
              <a:gd name="connsiteY2" fmla="*/ 1045029 h 4460084"/>
              <a:gd name="connsiteX3" fmla="*/ 224800 w 262122"/>
              <a:gd name="connsiteY3" fmla="*/ 1101013 h 4460084"/>
              <a:gd name="connsiteX4" fmla="*/ 215469 w 262122"/>
              <a:gd name="connsiteY4" fmla="*/ 1147666 h 4460084"/>
              <a:gd name="connsiteX5" fmla="*/ 206138 w 262122"/>
              <a:gd name="connsiteY5" fmla="*/ 1903445 h 4460084"/>
              <a:gd name="connsiteX6" fmla="*/ 187477 w 262122"/>
              <a:gd name="connsiteY6" fmla="*/ 1950098 h 4460084"/>
              <a:gd name="connsiteX7" fmla="*/ 150155 w 262122"/>
              <a:gd name="connsiteY7" fmla="*/ 2099388 h 4460084"/>
              <a:gd name="connsiteX8" fmla="*/ 103502 w 262122"/>
              <a:gd name="connsiteY8" fmla="*/ 2258009 h 4460084"/>
              <a:gd name="connsiteX9" fmla="*/ 66179 w 262122"/>
              <a:gd name="connsiteY9" fmla="*/ 2425960 h 4460084"/>
              <a:gd name="connsiteX10" fmla="*/ 38187 w 262122"/>
              <a:gd name="connsiteY10" fmla="*/ 2491274 h 4460084"/>
              <a:gd name="connsiteX11" fmla="*/ 865 w 262122"/>
              <a:gd name="connsiteY11" fmla="*/ 2715209 h 4460084"/>
              <a:gd name="connsiteX12" fmla="*/ 865 w 262122"/>
              <a:gd name="connsiteY12" fmla="*/ 2864498 h 4460084"/>
              <a:gd name="connsiteX13" fmla="*/ 19526 w 262122"/>
              <a:gd name="connsiteY13" fmla="*/ 3004458 h 4460084"/>
              <a:gd name="connsiteX14" fmla="*/ 56849 w 262122"/>
              <a:gd name="connsiteY14" fmla="*/ 3172409 h 4460084"/>
              <a:gd name="connsiteX15" fmla="*/ 103502 w 262122"/>
              <a:gd name="connsiteY15" fmla="*/ 3573625 h 4460084"/>
              <a:gd name="connsiteX16" fmla="*/ 131494 w 262122"/>
              <a:gd name="connsiteY16" fmla="*/ 3629609 h 4460084"/>
              <a:gd name="connsiteX17" fmla="*/ 140824 w 262122"/>
              <a:gd name="connsiteY17" fmla="*/ 3890866 h 4460084"/>
              <a:gd name="connsiteX18" fmla="*/ 159485 w 262122"/>
              <a:gd name="connsiteY18" fmla="*/ 3965511 h 4460084"/>
              <a:gd name="connsiteX19" fmla="*/ 187477 w 262122"/>
              <a:gd name="connsiteY19" fmla="*/ 4152123 h 4460084"/>
              <a:gd name="connsiteX20" fmla="*/ 196808 w 262122"/>
              <a:gd name="connsiteY20" fmla="*/ 4422711 h 4460084"/>
              <a:gd name="connsiteX21" fmla="*/ 215469 w 262122"/>
              <a:gd name="connsiteY21" fmla="*/ 4460033 h 4460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2122" h="4460084">
                <a:moveTo>
                  <a:pt x="262122" y="0"/>
                </a:moveTo>
                <a:cubicBezTo>
                  <a:pt x="259012" y="329682"/>
                  <a:pt x="261620" y="659467"/>
                  <a:pt x="252792" y="989045"/>
                </a:cubicBezTo>
                <a:cubicBezTo>
                  <a:pt x="252265" y="1008709"/>
                  <a:pt x="238901" y="1025945"/>
                  <a:pt x="234130" y="1045029"/>
                </a:cubicBezTo>
                <a:cubicBezTo>
                  <a:pt x="229542" y="1063383"/>
                  <a:pt x="228184" y="1082399"/>
                  <a:pt x="224800" y="1101013"/>
                </a:cubicBezTo>
                <a:cubicBezTo>
                  <a:pt x="221963" y="1116616"/>
                  <a:pt x="218579" y="1132115"/>
                  <a:pt x="215469" y="1147666"/>
                </a:cubicBezTo>
                <a:cubicBezTo>
                  <a:pt x="223779" y="1480058"/>
                  <a:pt x="235184" y="1569416"/>
                  <a:pt x="206138" y="1903445"/>
                </a:cubicBezTo>
                <a:cubicBezTo>
                  <a:pt x="204687" y="1920131"/>
                  <a:pt x="192078" y="1933994"/>
                  <a:pt x="187477" y="1950098"/>
                </a:cubicBezTo>
                <a:cubicBezTo>
                  <a:pt x="173385" y="1999419"/>
                  <a:pt x="160547" y="2049157"/>
                  <a:pt x="150155" y="2099388"/>
                </a:cubicBezTo>
                <a:cubicBezTo>
                  <a:pt x="119117" y="2249406"/>
                  <a:pt x="159845" y="2182884"/>
                  <a:pt x="103502" y="2258009"/>
                </a:cubicBezTo>
                <a:cubicBezTo>
                  <a:pt x="91061" y="2313993"/>
                  <a:pt x="81642" y="2370735"/>
                  <a:pt x="66179" y="2425960"/>
                </a:cubicBezTo>
                <a:cubicBezTo>
                  <a:pt x="59792" y="2448769"/>
                  <a:pt x="44419" y="2468422"/>
                  <a:pt x="38187" y="2491274"/>
                </a:cubicBezTo>
                <a:cubicBezTo>
                  <a:pt x="13052" y="2583435"/>
                  <a:pt x="10490" y="2628591"/>
                  <a:pt x="865" y="2715209"/>
                </a:cubicBezTo>
                <a:cubicBezTo>
                  <a:pt x="27032" y="2793704"/>
                  <a:pt x="-5589" y="2683780"/>
                  <a:pt x="865" y="2864498"/>
                </a:cubicBezTo>
                <a:cubicBezTo>
                  <a:pt x="2545" y="2911534"/>
                  <a:pt x="12870" y="2957865"/>
                  <a:pt x="19526" y="3004458"/>
                </a:cubicBezTo>
                <a:cubicBezTo>
                  <a:pt x="38377" y="3136419"/>
                  <a:pt x="23958" y="3090186"/>
                  <a:pt x="56849" y="3172409"/>
                </a:cubicBezTo>
                <a:cubicBezTo>
                  <a:pt x="72400" y="3306148"/>
                  <a:pt x="81807" y="3440745"/>
                  <a:pt x="103502" y="3573625"/>
                </a:cubicBezTo>
                <a:cubicBezTo>
                  <a:pt x="106864" y="3594216"/>
                  <a:pt x="129056" y="3608888"/>
                  <a:pt x="131494" y="3629609"/>
                </a:cubicBezTo>
                <a:cubicBezTo>
                  <a:pt x="141676" y="3716153"/>
                  <a:pt x="133588" y="3804026"/>
                  <a:pt x="140824" y="3890866"/>
                </a:cubicBezTo>
                <a:cubicBezTo>
                  <a:pt x="142954" y="3916425"/>
                  <a:pt x="154897" y="3940277"/>
                  <a:pt x="159485" y="3965511"/>
                </a:cubicBezTo>
                <a:cubicBezTo>
                  <a:pt x="183185" y="4095857"/>
                  <a:pt x="174307" y="4033587"/>
                  <a:pt x="187477" y="4152123"/>
                </a:cubicBezTo>
                <a:cubicBezTo>
                  <a:pt x="190587" y="4242319"/>
                  <a:pt x="191348" y="4332627"/>
                  <a:pt x="196808" y="4422711"/>
                </a:cubicBezTo>
                <a:cubicBezTo>
                  <a:pt x="199253" y="4463050"/>
                  <a:pt x="195167" y="4460033"/>
                  <a:pt x="215469" y="4460033"/>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Freeform: Shape 111">
            <a:extLst>
              <a:ext uri="{FF2B5EF4-FFF2-40B4-BE49-F238E27FC236}">
                <a16:creationId xmlns:a16="http://schemas.microsoft.com/office/drawing/2014/main" id="{A54FF81D-55D6-2A6A-E3A3-05160D2382A2}"/>
              </a:ext>
            </a:extLst>
          </p:cNvPr>
          <p:cNvSpPr/>
          <p:nvPr/>
        </p:nvSpPr>
        <p:spPr>
          <a:xfrm>
            <a:off x="9150979" y="1576431"/>
            <a:ext cx="160113" cy="4324703"/>
          </a:xfrm>
          <a:custGeom>
            <a:avLst/>
            <a:gdLst>
              <a:gd name="connsiteX0" fmla="*/ 195942 w 195942"/>
              <a:gd name="connsiteY0" fmla="*/ 0 h 4264090"/>
              <a:gd name="connsiteX1" fmla="*/ 186612 w 195942"/>
              <a:gd name="connsiteY1" fmla="*/ 233266 h 4264090"/>
              <a:gd name="connsiteX2" fmla="*/ 177281 w 195942"/>
              <a:gd name="connsiteY2" fmla="*/ 261257 h 4264090"/>
              <a:gd name="connsiteX3" fmla="*/ 149289 w 195942"/>
              <a:gd name="connsiteY3" fmla="*/ 895739 h 4264090"/>
              <a:gd name="connsiteX4" fmla="*/ 130628 w 195942"/>
              <a:gd name="connsiteY4" fmla="*/ 961053 h 4264090"/>
              <a:gd name="connsiteX5" fmla="*/ 93306 w 195942"/>
              <a:gd name="connsiteY5" fmla="*/ 1073021 h 4264090"/>
              <a:gd name="connsiteX6" fmla="*/ 74645 w 195942"/>
              <a:gd name="connsiteY6" fmla="*/ 1166327 h 4264090"/>
              <a:gd name="connsiteX7" fmla="*/ 65314 w 195942"/>
              <a:gd name="connsiteY7" fmla="*/ 1194319 h 4264090"/>
              <a:gd name="connsiteX8" fmla="*/ 37322 w 195942"/>
              <a:gd name="connsiteY8" fmla="*/ 1371600 h 4264090"/>
              <a:gd name="connsiteX9" fmla="*/ 9330 w 195942"/>
              <a:gd name="connsiteY9" fmla="*/ 1502229 h 4264090"/>
              <a:gd name="connsiteX10" fmla="*/ 27991 w 195942"/>
              <a:gd name="connsiteY10" fmla="*/ 1670180 h 4264090"/>
              <a:gd name="connsiteX11" fmla="*/ 37322 w 195942"/>
              <a:gd name="connsiteY11" fmla="*/ 1698172 h 4264090"/>
              <a:gd name="connsiteX12" fmla="*/ 46653 w 195942"/>
              <a:gd name="connsiteY12" fmla="*/ 1810139 h 4264090"/>
              <a:gd name="connsiteX13" fmla="*/ 65314 w 195942"/>
              <a:gd name="connsiteY13" fmla="*/ 1847461 h 4264090"/>
              <a:gd name="connsiteX14" fmla="*/ 74645 w 195942"/>
              <a:gd name="connsiteY14" fmla="*/ 1884784 h 4264090"/>
              <a:gd name="connsiteX15" fmla="*/ 111967 w 195942"/>
              <a:gd name="connsiteY15" fmla="*/ 1968759 h 4264090"/>
              <a:gd name="connsiteX16" fmla="*/ 121298 w 195942"/>
              <a:gd name="connsiteY16" fmla="*/ 2006082 h 4264090"/>
              <a:gd name="connsiteX17" fmla="*/ 158620 w 195942"/>
              <a:gd name="connsiteY17" fmla="*/ 2062066 h 4264090"/>
              <a:gd name="connsiteX18" fmla="*/ 149289 w 195942"/>
              <a:gd name="connsiteY18" fmla="*/ 2453951 h 4264090"/>
              <a:gd name="connsiteX19" fmla="*/ 130628 w 195942"/>
              <a:gd name="connsiteY19" fmla="*/ 2509935 h 4264090"/>
              <a:gd name="connsiteX20" fmla="*/ 111967 w 195942"/>
              <a:gd name="connsiteY20" fmla="*/ 2593910 h 4264090"/>
              <a:gd name="connsiteX21" fmla="*/ 93306 w 195942"/>
              <a:gd name="connsiteY21" fmla="*/ 2752531 h 4264090"/>
              <a:gd name="connsiteX22" fmla="*/ 83975 w 195942"/>
              <a:gd name="connsiteY22" fmla="*/ 2817845 h 4264090"/>
              <a:gd name="connsiteX23" fmla="*/ 18661 w 195942"/>
              <a:gd name="connsiteY23" fmla="*/ 3032449 h 4264090"/>
              <a:gd name="connsiteX24" fmla="*/ 0 w 195942"/>
              <a:gd name="connsiteY24" fmla="*/ 3144417 h 4264090"/>
              <a:gd name="connsiteX25" fmla="*/ 18661 w 195942"/>
              <a:gd name="connsiteY25" fmla="*/ 3265715 h 4264090"/>
              <a:gd name="connsiteX26" fmla="*/ 27991 w 195942"/>
              <a:gd name="connsiteY26" fmla="*/ 3303037 h 4264090"/>
              <a:gd name="connsiteX27" fmla="*/ 46653 w 195942"/>
              <a:gd name="connsiteY27" fmla="*/ 3331029 h 4264090"/>
              <a:gd name="connsiteX28" fmla="*/ 55983 w 195942"/>
              <a:gd name="connsiteY28" fmla="*/ 3359021 h 4264090"/>
              <a:gd name="connsiteX29" fmla="*/ 74645 w 195942"/>
              <a:gd name="connsiteY29" fmla="*/ 3424335 h 4264090"/>
              <a:gd name="connsiteX30" fmla="*/ 121298 w 195942"/>
              <a:gd name="connsiteY30" fmla="*/ 3536302 h 4264090"/>
              <a:gd name="connsiteX31" fmla="*/ 149289 w 195942"/>
              <a:gd name="connsiteY31" fmla="*/ 3573625 h 4264090"/>
              <a:gd name="connsiteX32" fmla="*/ 186612 w 195942"/>
              <a:gd name="connsiteY32" fmla="*/ 3694923 h 4264090"/>
              <a:gd name="connsiteX33" fmla="*/ 177281 w 195942"/>
              <a:gd name="connsiteY33" fmla="*/ 4264090 h 42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5942" h="4264090">
                <a:moveTo>
                  <a:pt x="195942" y="0"/>
                </a:moveTo>
                <a:cubicBezTo>
                  <a:pt x="192832" y="77755"/>
                  <a:pt x="192156" y="155646"/>
                  <a:pt x="186612" y="233266"/>
                </a:cubicBezTo>
                <a:cubicBezTo>
                  <a:pt x="185911" y="243076"/>
                  <a:pt x="177834" y="251437"/>
                  <a:pt x="177281" y="261257"/>
                </a:cubicBezTo>
                <a:cubicBezTo>
                  <a:pt x="165373" y="472622"/>
                  <a:pt x="163371" y="684508"/>
                  <a:pt x="149289" y="895739"/>
                </a:cubicBezTo>
                <a:cubicBezTo>
                  <a:pt x="147783" y="918331"/>
                  <a:pt x="137446" y="939461"/>
                  <a:pt x="130628" y="961053"/>
                </a:cubicBezTo>
                <a:cubicBezTo>
                  <a:pt x="118781" y="998568"/>
                  <a:pt x="102848" y="1034854"/>
                  <a:pt x="93306" y="1073021"/>
                </a:cubicBezTo>
                <a:cubicBezTo>
                  <a:pt x="56136" y="1221695"/>
                  <a:pt x="120385" y="960494"/>
                  <a:pt x="74645" y="1166327"/>
                </a:cubicBezTo>
                <a:cubicBezTo>
                  <a:pt x="72511" y="1175928"/>
                  <a:pt x="68424" y="1184988"/>
                  <a:pt x="65314" y="1194319"/>
                </a:cubicBezTo>
                <a:cubicBezTo>
                  <a:pt x="43323" y="1370236"/>
                  <a:pt x="72043" y="1151701"/>
                  <a:pt x="37322" y="1371600"/>
                </a:cubicBezTo>
                <a:cubicBezTo>
                  <a:pt x="19666" y="1483418"/>
                  <a:pt x="40537" y="1408607"/>
                  <a:pt x="9330" y="1502229"/>
                </a:cubicBezTo>
                <a:cubicBezTo>
                  <a:pt x="15550" y="1558213"/>
                  <a:pt x="20025" y="1614418"/>
                  <a:pt x="27991" y="1670180"/>
                </a:cubicBezTo>
                <a:cubicBezTo>
                  <a:pt x="29382" y="1679917"/>
                  <a:pt x="36022" y="1688423"/>
                  <a:pt x="37322" y="1698172"/>
                </a:cubicBezTo>
                <a:cubicBezTo>
                  <a:pt x="42272" y="1735295"/>
                  <a:pt x="39751" y="1773329"/>
                  <a:pt x="46653" y="1810139"/>
                </a:cubicBezTo>
                <a:cubicBezTo>
                  <a:pt x="49216" y="1823810"/>
                  <a:pt x="60430" y="1834438"/>
                  <a:pt x="65314" y="1847461"/>
                </a:cubicBezTo>
                <a:cubicBezTo>
                  <a:pt x="69817" y="1859468"/>
                  <a:pt x="70590" y="1872618"/>
                  <a:pt x="74645" y="1884784"/>
                </a:cubicBezTo>
                <a:cubicBezTo>
                  <a:pt x="125713" y="2037988"/>
                  <a:pt x="63193" y="1838696"/>
                  <a:pt x="111967" y="1968759"/>
                </a:cubicBezTo>
                <a:cubicBezTo>
                  <a:pt x="116470" y="1980766"/>
                  <a:pt x="115563" y="1994612"/>
                  <a:pt x="121298" y="2006082"/>
                </a:cubicBezTo>
                <a:cubicBezTo>
                  <a:pt x="131328" y="2026142"/>
                  <a:pt x="158620" y="2062066"/>
                  <a:pt x="158620" y="2062066"/>
                </a:cubicBezTo>
                <a:cubicBezTo>
                  <a:pt x="155510" y="2192694"/>
                  <a:pt x="157440" y="2323540"/>
                  <a:pt x="149289" y="2453951"/>
                </a:cubicBezTo>
                <a:cubicBezTo>
                  <a:pt x="148062" y="2473583"/>
                  <a:pt x="136280" y="2491094"/>
                  <a:pt x="130628" y="2509935"/>
                </a:cubicBezTo>
                <a:cubicBezTo>
                  <a:pt x="124764" y="2529482"/>
                  <a:pt x="114770" y="2575693"/>
                  <a:pt x="111967" y="2593910"/>
                </a:cubicBezTo>
                <a:cubicBezTo>
                  <a:pt x="104780" y="2640624"/>
                  <a:pt x="99073" y="2706394"/>
                  <a:pt x="93306" y="2752531"/>
                </a:cubicBezTo>
                <a:cubicBezTo>
                  <a:pt x="90578" y="2774354"/>
                  <a:pt x="88849" y="2796400"/>
                  <a:pt x="83975" y="2817845"/>
                </a:cubicBezTo>
                <a:cubicBezTo>
                  <a:pt x="56368" y="2939315"/>
                  <a:pt x="54491" y="2936902"/>
                  <a:pt x="18661" y="3032449"/>
                </a:cubicBezTo>
                <a:cubicBezTo>
                  <a:pt x="12441" y="3069772"/>
                  <a:pt x="0" y="3106580"/>
                  <a:pt x="0" y="3144417"/>
                </a:cubicBezTo>
                <a:cubicBezTo>
                  <a:pt x="0" y="3185325"/>
                  <a:pt x="11552" y="3225429"/>
                  <a:pt x="18661" y="3265715"/>
                </a:cubicBezTo>
                <a:cubicBezTo>
                  <a:pt x="20889" y="3278343"/>
                  <a:pt x="22940" y="3291250"/>
                  <a:pt x="27991" y="3303037"/>
                </a:cubicBezTo>
                <a:cubicBezTo>
                  <a:pt x="32409" y="3313344"/>
                  <a:pt x="40432" y="3321698"/>
                  <a:pt x="46653" y="3331029"/>
                </a:cubicBezTo>
                <a:cubicBezTo>
                  <a:pt x="49763" y="3340360"/>
                  <a:pt x="53157" y="3349600"/>
                  <a:pt x="55983" y="3359021"/>
                </a:cubicBezTo>
                <a:cubicBezTo>
                  <a:pt x="62489" y="3380709"/>
                  <a:pt x="66817" y="3403089"/>
                  <a:pt x="74645" y="3424335"/>
                </a:cubicBezTo>
                <a:cubicBezTo>
                  <a:pt x="88623" y="3462275"/>
                  <a:pt x="103216" y="3500138"/>
                  <a:pt x="121298" y="3536302"/>
                </a:cubicBezTo>
                <a:cubicBezTo>
                  <a:pt x="128253" y="3550211"/>
                  <a:pt x="139959" y="3561184"/>
                  <a:pt x="149289" y="3573625"/>
                </a:cubicBezTo>
                <a:cubicBezTo>
                  <a:pt x="170150" y="3677927"/>
                  <a:pt x="150357" y="3640540"/>
                  <a:pt x="186612" y="3694923"/>
                </a:cubicBezTo>
                <a:cubicBezTo>
                  <a:pt x="176878" y="4220544"/>
                  <a:pt x="177281" y="4030796"/>
                  <a:pt x="177281" y="4264090"/>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C43E3346-F6DD-8308-BA85-D023045034B8}"/>
                  </a:ext>
                </a:extLst>
              </p:cNvPr>
              <p:cNvSpPr txBox="1"/>
              <p:nvPr/>
            </p:nvSpPr>
            <p:spPr>
              <a:xfrm>
                <a:off x="7688184" y="6034702"/>
                <a:ext cx="353597" cy="374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𝟏</m:t>
                          </m:r>
                        </m:sub>
                        <m:sup>
                          <m:r>
                            <a:rPr lang="en-US" b="1" i="1" smtClean="0">
                              <a:latin typeface="Cambria Math" panose="02040503050406030204" pitchFamily="18" charset="0"/>
                            </a:rPr>
                            <m:t>∗</m:t>
                          </m:r>
                        </m:sup>
                      </m:sSubSup>
                    </m:oMath>
                  </m:oMathPara>
                </a14:m>
                <a:endParaRPr lang="en-US" b="1" dirty="0"/>
              </a:p>
            </p:txBody>
          </p:sp>
        </mc:Choice>
        <mc:Fallback xmlns="">
          <p:sp>
            <p:nvSpPr>
              <p:cNvPr id="113" name="TextBox 112">
                <a:extLst>
                  <a:ext uri="{FF2B5EF4-FFF2-40B4-BE49-F238E27FC236}">
                    <a16:creationId xmlns:a16="http://schemas.microsoft.com/office/drawing/2014/main" id="{C43E3346-F6DD-8308-BA85-D023045034B8}"/>
                  </a:ext>
                </a:extLst>
              </p:cNvPr>
              <p:cNvSpPr txBox="1">
                <a:spLocks noRot="1" noChangeAspect="1" noMove="1" noResize="1" noEditPoints="1" noAdjustHandles="1" noChangeArrowheads="1" noChangeShapeType="1" noTextEdit="1"/>
              </p:cNvSpPr>
              <p:nvPr/>
            </p:nvSpPr>
            <p:spPr>
              <a:xfrm>
                <a:off x="7688184" y="6034702"/>
                <a:ext cx="353597" cy="374582"/>
              </a:xfrm>
              <a:prstGeom prst="rect">
                <a:avLst/>
              </a:prstGeom>
              <a:blipFill>
                <a:blip r:embed="rId4"/>
                <a:stretch>
                  <a:fillRect r="-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20FB1B43-D766-568D-E345-39EF0B812298}"/>
                  </a:ext>
                </a:extLst>
              </p:cNvPr>
              <p:cNvSpPr txBox="1"/>
              <p:nvPr/>
            </p:nvSpPr>
            <p:spPr>
              <a:xfrm>
                <a:off x="5896947" y="6029369"/>
                <a:ext cx="4982601" cy="380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𝟐</m:t>
                          </m:r>
                        </m:sub>
                        <m:sup>
                          <m:r>
                            <a:rPr lang="en-US" b="1" i="1" smtClean="0">
                              <a:latin typeface="Cambria Math" panose="02040503050406030204" pitchFamily="18" charset="0"/>
                            </a:rPr>
                            <m:t>∗</m:t>
                          </m:r>
                        </m:sup>
                      </m:sSubSup>
                    </m:oMath>
                  </m:oMathPara>
                </a14:m>
                <a:endParaRPr lang="en-US" dirty="0"/>
              </a:p>
            </p:txBody>
          </p:sp>
        </mc:Choice>
        <mc:Fallback xmlns="">
          <p:sp>
            <p:nvSpPr>
              <p:cNvPr id="114" name="TextBox 113">
                <a:extLst>
                  <a:ext uri="{FF2B5EF4-FFF2-40B4-BE49-F238E27FC236}">
                    <a16:creationId xmlns:a16="http://schemas.microsoft.com/office/drawing/2014/main" id="{20FB1B43-D766-568D-E345-39EF0B812298}"/>
                  </a:ext>
                </a:extLst>
              </p:cNvPr>
              <p:cNvSpPr txBox="1">
                <a:spLocks noRot="1" noChangeAspect="1" noMove="1" noResize="1" noEditPoints="1" noAdjustHandles="1" noChangeArrowheads="1" noChangeShapeType="1" noTextEdit="1"/>
              </p:cNvSpPr>
              <p:nvPr/>
            </p:nvSpPr>
            <p:spPr>
              <a:xfrm>
                <a:off x="5896947" y="6029369"/>
                <a:ext cx="4982601" cy="38076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13EBD245-17CB-3567-39B3-DF859EA6F70B}"/>
                  </a:ext>
                </a:extLst>
              </p:cNvPr>
              <p:cNvSpPr txBox="1"/>
              <p:nvPr/>
            </p:nvSpPr>
            <p:spPr>
              <a:xfrm>
                <a:off x="6817251" y="6012513"/>
                <a:ext cx="4982601" cy="380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𝒙</m:t>
                          </m:r>
                        </m:e>
                        <m:sub>
                          <m:r>
                            <a:rPr lang="en-US" b="1" i="1" smtClean="0">
                              <a:latin typeface="Cambria Math" panose="02040503050406030204" pitchFamily="18" charset="0"/>
                            </a:rPr>
                            <m:t>𝟑</m:t>
                          </m:r>
                        </m:sub>
                        <m:sup>
                          <m:r>
                            <a:rPr lang="en-US" b="1" i="1" smtClean="0">
                              <a:latin typeface="Cambria Math" panose="02040503050406030204" pitchFamily="18" charset="0"/>
                            </a:rPr>
                            <m:t>∗</m:t>
                          </m:r>
                        </m:sup>
                      </m:sSubSup>
                    </m:oMath>
                  </m:oMathPara>
                </a14:m>
                <a:endParaRPr lang="en-US" dirty="0"/>
              </a:p>
            </p:txBody>
          </p:sp>
        </mc:Choice>
        <mc:Fallback xmlns="">
          <p:sp>
            <p:nvSpPr>
              <p:cNvPr id="115" name="TextBox 114">
                <a:extLst>
                  <a:ext uri="{FF2B5EF4-FFF2-40B4-BE49-F238E27FC236}">
                    <a16:creationId xmlns:a16="http://schemas.microsoft.com/office/drawing/2014/main" id="{13EBD245-17CB-3567-39B3-DF859EA6F70B}"/>
                  </a:ext>
                </a:extLst>
              </p:cNvPr>
              <p:cNvSpPr txBox="1">
                <a:spLocks noRot="1" noChangeAspect="1" noMove="1" noResize="1" noEditPoints="1" noAdjustHandles="1" noChangeArrowheads="1" noChangeShapeType="1" noTextEdit="1"/>
              </p:cNvSpPr>
              <p:nvPr/>
            </p:nvSpPr>
            <p:spPr>
              <a:xfrm>
                <a:off x="6817251" y="6012513"/>
                <a:ext cx="4982601" cy="380761"/>
              </a:xfrm>
              <a:prstGeom prst="rect">
                <a:avLst/>
              </a:prstGeom>
              <a:blipFill>
                <a:blip r:embed="rId6"/>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992F7F0-2646-5076-5674-B7F3990BB3B0}"/>
              </a:ext>
            </a:extLst>
          </p:cNvPr>
          <p:cNvSpPr/>
          <p:nvPr/>
        </p:nvSpPr>
        <p:spPr>
          <a:xfrm>
            <a:off x="7744263" y="6025451"/>
            <a:ext cx="245254" cy="301613"/>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B3EF8DC-53FE-5497-4B3C-701319060D14}"/>
              </a:ext>
            </a:extLst>
          </p:cNvPr>
          <p:cNvSpPr/>
          <p:nvPr/>
        </p:nvSpPr>
        <p:spPr>
          <a:xfrm>
            <a:off x="2236233" y="2736501"/>
            <a:ext cx="306287" cy="332343"/>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E316479-AD22-BEA8-E833-285E29344C00}"/>
              </a:ext>
            </a:extLst>
          </p:cNvPr>
          <p:cNvSpPr/>
          <p:nvPr/>
        </p:nvSpPr>
        <p:spPr>
          <a:xfrm>
            <a:off x="4050517" y="2714044"/>
            <a:ext cx="306287" cy="332343"/>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9F76A32-D62F-6097-960B-D681F528902D}"/>
              </a:ext>
            </a:extLst>
          </p:cNvPr>
          <p:cNvSpPr/>
          <p:nvPr/>
        </p:nvSpPr>
        <p:spPr>
          <a:xfrm>
            <a:off x="2773408" y="3206893"/>
            <a:ext cx="306287" cy="332343"/>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DF5FBEB-E0CC-C2B0-13C4-E64C27C5F111}"/>
              </a:ext>
            </a:extLst>
          </p:cNvPr>
          <p:cNvSpPr/>
          <p:nvPr/>
        </p:nvSpPr>
        <p:spPr>
          <a:xfrm>
            <a:off x="3729920" y="3157706"/>
            <a:ext cx="306287" cy="332343"/>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1FF1782-678B-0F20-5063-E1FC36BAC3EE}"/>
                  </a:ext>
                </a:extLst>
              </p:cNvPr>
              <p:cNvSpPr txBox="1"/>
              <p:nvPr/>
            </p:nvSpPr>
            <p:spPr>
              <a:xfrm>
                <a:off x="6684362" y="1835504"/>
                <a:ext cx="100382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B0F0"/>
                          </a:solidFill>
                          <a:latin typeface="Cambria Math" panose="02040503050406030204" pitchFamily="18" charset="0"/>
                        </a:rPr>
                        <m:t>𝑃</m:t>
                      </m:r>
                      <m:d>
                        <m:dPr>
                          <m:ctrlPr>
                            <a:rPr lang="en-US" b="0" i="1" smtClean="0">
                              <a:solidFill>
                                <a:srgbClr val="00B0F0"/>
                              </a:solidFill>
                              <a:latin typeface="Cambria Math" panose="02040503050406030204" pitchFamily="18" charset="0"/>
                            </a:rPr>
                          </m:ctrlPr>
                        </m:dPr>
                        <m:e>
                          <m:r>
                            <a:rPr lang="en-US" b="0" i="1" smtClean="0">
                              <a:solidFill>
                                <a:srgbClr val="00B0F0"/>
                              </a:solidFill>
                              <a:latin typeface="Cambria Math" panose="02040503050406030204" pitchFamily="18" charset="0"/>
                            </a:rPr>
                            <m:t>𝜃</m:t>
                          </m:r>
                          <m:r>
                            <a:rPr lang="en-US" b="0" i="1" smtClean="0">
                              <a:solidFill>
                                <a:srgbClr val="00B0F0"/>
                              </a:solidFill>
                              <a:latin typeface="Cambria Math" panose="02040503050406030204" pitchFamily="18" charset="0"/>
                            </a:rPr>
                            <m:t>|</m:t>
                          </m:r>
                          <m:sSubSup>
                            <m:sSubSupPr>
                              <m:ctrlPr>
                                <a:rPr lang="en-US" b="0" i="1" smtClean="0">
                                  <a:solidFill>
                                    <a:srgbClr val="00B0F0"/>
                                  </a:solidFill>
                                  <a:latin typeface="Cambria Math" panose="02040503050406030204" pitchFamily="18" charset="0"/>
                                </a:rPr>
                              </m:ctrlPr>
                            </m:sSubSupPr>
                            <m:e>
                              <m:r>
                                <a:rPr lang="en-US" b="0" i="1" smtClean="0">
                                  <a:solidFill>
                                    <a:srgbClr val="00B0F0"/>
                                  </a:solidFill>
                                  <a:latin typeface="Cambria Math" panose="02040503050406030204" pitchFamily="18" charset="0"/>
                                </a:rPr>
                                <m:t>𝑋</m:t>
                              </m:r>
                            </m:e>
                            <m:sub>
                              <m:r>
                                <a:rPr lang="en-US" b="0" i="1" smtClean="0">
                                  <a:solidFill>
                                    <a:srgbClr val="00B0F0"/>
                                  </a:solidFill>
                                  <a:latin typeface="Cambria Math" panose="02040503050406030204" pitchFamily="18" charset="0"/>
                                </a:rPr>
                                <m:t>1</m:t>
                              </m:r>
                            </m:sub>
                            <m:sup>
                              <m:r>
                                <a:rPr lang="en-US" b="0" i="1" smtClean="0">
                                  <a:solidFill>
                                    <a:srgbClr val="00B0F0"/>
                                  </a:solidFill>
                                  <a:latin typeface="Cambria Math" panose="02040503050406030204" pitchFamily="18" charset="0"/>
                                </a:rPr>
                                <m:t>∗</m:t>
                              </m:r>
                            </m:sup>
                          </m:sSubSup>
                        </m:e>
                      </m:d>
                    </m:oMath>
                  </m:oMathPara>
                </a14:m>
                <a:endParaRPr lang="en-US" dirty="0">
                  <a:solidFill>
                    <a:srgbClr val="00B0F0"/>
                  </a:solidFill>
                </a:endParaRPr>
              </a:p>
            </p:txBody>
          </p:sp>
        </mc:Choice>
        <mc:Fallback xmlns="">
          <p:sp>
            <p:nvSpPr>
              <p:cNvPr id="14" name="TextBox 13">
                <a:extLst>
                  <a:ext uri="{FF2B5EF4-FFF2-40B4-BE49-F238E27FC236}">
                    <a16:creationId xmlns:a16="http://schemas.microsoft.com/office/drawing/2014/main" id="{01FF1782-678B-0F20-5063-E1FC36BAC3EE}"/>
                  </a:ext>
                </a:extLst>
              </p:cNvPr>
              <p:cNvSpPr txBox="1">
                <a:spLocks noRot="1" noChangeAspect="1" noMove="1" noResize="1" noEditPoints="1" noAdjustHandles="1" noChangeArrowheads="1" noChangeShapeType="1" noTextEdit="1"/>
              </p:cNvSpPr>
              <p:nvPr/>
            </p:nvSpPr>
            <p:spPr>
              <a:xfrm>
                <a:off x="6684362" y="1835504"/>
                <a:ext cx="1003822" cy="369332"/>
              </a:xfrm>
              <a:prstGeom prst="rect">
                <a:avLst/>
              </a:prstGeom>
              <a:blipFill>
                <a:blip r:embed="rId7"/>
                <a:stretch>
                  <a:fillRect b="-13115"/>
                </a:stretch>
              </a:blipFill>
            </p:spPr>
            <p:txBody>
              <a:bodyPr/>
              <a:lstStyle/>
              <a:p>
                <a:r>
                  <a:rPr lang="en-US">
                    <a:noFill/>
                  </a:rPr>
                  <a:t> </a:t>
                </a:r>
              </a:p>
            </p:txBody>
          </p:sp>
        </mc:Fallback>
      </mc:AlternateContent>
      <p:sp>
        <p:nvSpPr>
          <p:cNvPr id="15" name="Arrow: Right 14">
            <a:extLst>
              <a:ext uri="{FF2B5EF4-FFF2-40B4-BE49-F238E27FC236}">
                <a16:creationId xmlns:a16="http://schemas.microsoft.com/office/drawing/2014/main" id="{DDC7CEB2-85E7-3443-7846-C6B003F5CD52}"/>
              </a:ext>
            </a:extLst>
          </p:cNvPr>
          <p:cNvSpPr/>
          <p:nvPr/>
        </p:nvSpPr>
        <p:spPr>
          <a:xfrm rot="1791691">
            <a:off x="7031817" y="2282920"/>
            <a:ext cx="576688" cy="305301"/>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A7274DF2-C4F8-ABD7-916C-F57656D7EDC6}"/>
              </a:ext>
            </a:extLst>
          </p:cNvPr>
          <p:cNvSpPr/>
          <p:nvPr/>
        </p:nvSpPr>
        <p:spPr>
          <a:xfrm>
            <a:off x="8174029" y="1498650"/>
            <a:ext cx="214192" cy="4523483"/>
          </a:xfrm>
          <a:custGeom>
            <a:avLst/>
            <a:gdLst>
              <a:gd name="connsiteX0" fmla="*/ 262122 w 262122"/>
              <a:gd name="connsiteY0" fmla="*/ 0 h 4460084"/>
              <a:gd name="connsiteX1" fmla="*/ 252792 w 262122"/>
              <a:gd name="connsiteY1" fmla="*/ 989045 h 4460084"/>
              <a:gd name="connsiteX2" fmla="*/ 234130 w 262122"/>
              <a:gd name="connsiteY2" fmla="*/ 1045029 h 4460084"/>
              <a:gd name="connsiteX3" fmla="*/ 224800 w 262122"/>
              <a:gd name="connsiteY3" fmla="*/ 1101013 h 4460084"/>
              <a:gd name="connsiteX4" fmla="*/ 215469 w 262122"/>
              <a:gd name="connsiteY4" fmla="*/ 1147666 h 4460084"/>
              <a:gd name="connsiteX5" fmla="*/ 206138 w 262122"/>
              <a:gd name="connsiteY5" fmla="*/ 1903445 h 4460084"/>
              <a:gd name="connsiteX6" fmla="*/ 187477 w 262122"/>
              <a:gd name="connsiteY6" fmla="*/ 1950098 h 4460084"/>
              <a:gd name="connsiteX7" fmla="*/ 150155 w 262122"/>
              <a:gd name="connsiteY7" fmla="*/ 2099388 h 4460084"/>
              <a:gd name="connsiteX8" fmla="*/ 103502 w 262122"/>
              <a:gd name="connsiteY8" fmla="*/ 2258009 h 4460084"/>
              <a:gd name="connsiteX9" fmla="*/ 66179 w 262122"/>
              <a:gd name="connsiteY9" fmla="*/ 2425960 h 4460084"/>
              <a:gd name="connsiteX10" fmla="*/ 38187 w 262122"/>
              <a:gd name="connsiteY10" fmla="*/ 2491274 h 4460084"/>
              <a:gd name="connsiteX11" fmla="*/ 865 w 262122"/>
              <a:gd name="connsiteY11" fmla="*/ 2715209 h 4460084"/>
              <a:gd name="connsiteX12" fmla="*/ 865 w 262122"/>
              <a:gd name="connsiteY12" fmla="*/ 2864498 h 4460084"/>
              <a:gd name="connsiteX13" fmla="*/ 19526 w 262122"/>
              <a:gd name="connsiteY13" fmla="*/ 3004458 h 4460084"/>
              <a:gd name="connsiteX14" fmla="*/ 56849 w 262122"/>
              <a:gd name="connsiteY14" fmla="*/ 3172409 h 4460084"/>
              <a:gd name="connsiteX15" fmla="*/ 103502 w 262122"/>
              <a:gd name="connsiteY15" fmla="*/ 3573625 h 4460084"/>
              <a:gd name="connsiteX16" fmla="*/ 131494 w 262122"/>
              <a:gd name="connsiteY16" fmla="*/ 3629609 h 4460084"/>
              <a:gd name="connsiteX17" fmla="*/ 140824 w 262122"/>
              <a:gd name="connsiteY17" fmla="*/ 3890866 h 4460084"/>
              <a:gd name="connsiteX18" fmla="*/ 159485 w 262122"/>
              <a:gd name="connsiteY18" fmla="*/ 3965511 h 4460084"/>
              <a:gd name="connsiteX19" fmla="*/ 187477 w 262122"/>
              <a:gd name="connsiteY19" fmla="*/ 4152123 h 4460084"/>
              <a:gd name="connsiteX20" fmla="*/ 196808 w 262122"/>
              <a:gd name="connsiteY20" fmla="*/ 4422711 h 4460084"/>
              <a:gd name="connsiteX21" fmla="*/ 215469 w 262122"/>
              <a:gd name="connsiteY21" fmla="*/ 4460033 h 4460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2122" h="4460084">
                <a:moveTo>
                  <a:pt x="262122" y="0"/>
                </a:moveTo>
                <a:cubicBezTo>
                  <a:pt x="259012" y="329682"/>
                  <a:pt x="261620" y="659467"/>
                  <a:pt x="252792" y="989045"/>
                </a:cubicBezTo>
                <a:cubicBezTo>
                  <a:pt x="252265" y="1008709"/>
                  <a:pt x="238901" y="1025945"/>
                  <a:pt x="234130" y="1045029"/>
                </a:cubicBezTo>
                <a:cubicBezTo>
                  <a:pt x="229542" y="1063383"/>
                  <a:pt x="228184" y="1082399"/>
                  <a:pt x="224800" y="1101013"/>
                </a:cubicBezTo>
                <a:cubicBezTo>
                  <a:pt x="221963" y="1116616"/>
                  <a:pt x="218579" y="1132115"/>
                  <a:pt x="215469" y="1147666"/>
                </a:cubicBezTo>
                <a:cubicBezTo>
                  <a:pt x="223779" y="1480058"/>
                  <a:pt x="235184" y="1569416"/>
                  <a:pt x="206138" y="1903445"/>
                </a:cubicBezTo>
                <a:cubicBezTo>
                  <a:pt x="204687" y="1920131"/>
                  <a:pt x="192078" y="1933994"/>
                  <a:pt x="187477" y="1950098"/>
                </a:cubicBezTo>
                <a:cubicBezTo>
                  <a:pt x="173385" y="1999419"/>
                  <a:pt x="160547" y="2049157"/>
                  <a:pt x="150155" y="2099388"/>
                </a:cubicBezTo>
                <a:cubicBezTo>
                  <a:pt x="119117" y="2249406"/>
                  <a:pt x="159845" y="2182884"/>
                  <a:pt x="103502" y="2258009"/>
                </a:cubicBezTo>
                <a:cubicBezTo>
                  <a:pt x="91061" y="2313993"/>
                  <a:pt x="81642" y="2370735"/>
                  <a:pt x="66179" y="2425960"/>
                </a:cubicBezTo>
                <a:cubicBezTo>
                  <a:pt x="59792" y="2448769"/>
                  <a:pt x="44419" y="2468422"/>
                  <a:pt x="38187" y="2491274"/>
                </a:cubicBezTo>
                <a:cubicBezTo>
                  <a:pt x="13052" y="2583435"/>
                  <a:pt x="10490" y="2628591"/>
                  <a:pt x="865" y="2715209"/>
                </a:cubicBezTo>
                <a:cubicBezTo>
                  <a:pt x="27032" y="2793704"/>
                  <a:pt x="-5589" y="2683780"/>
                  <a:pt x="865" y="2864498"/>
                </a:cubicBezTo>
                <a:cubicBezTo>
                  <a:pt x="2545" y="2911534"/>
                  <a:pt x="12870" y="2957865"/>
                  <a:pt x="19526" y="3004458"/>
                </a:cubicBezTo>
                <a:cubicBezTo>
                  <a:pt x="38377" y="3136419"/>
                  <a:pt x="23958" y="3090186"/>
                  <a:pt x="56849" y="3172409"/>
                </a:cubicBezTo>
                <a:cubicBezTo>
                  <a:pt x="72400" y="3306148"/>
                  <a:pt x="81807" y="3440745"/>
                  <a:pt x="103502" y="3573625"/>
                </a:cubicBezTo>
                <a:cubicBezTo>
                  <a:pt x="106864" y="3594216"/>
                  <a:pt x="129056" y="3608888"/>
                  <a:pt x="131494" y="3629609"/>
                </a:cubicBezTo>
                <a:cubicBezTo>
                  <a:pt x="141676" y="3716153"/>
                  <a:pt x="133588" y="3804026"/>
                  <a:pt x="140824" y="3890866"/>
                </a:cubicBezTo>
                <a:cubicBezTo>
                  <a:pt x="142954" y="3916425"/>
                  <a:pt x="154897" y="3940277"/>
                  <a:pt x="159485" y="3965511"/>
                </a:cubicBezTo>
                <a:cubicBezTo>
                  <a:pt x="183185" y="4095857"/>
                  <a:pt x="174307" y="4033587"/>
                  <a:pt x="187477" y="4152123"/>
                </a:cubicBezTo>
                <a:cubicBezTo>
                  <a:pt x="190587" y="4242319"/>
                  <a:pt x="191348" y="4332627"/>
                  <a:pt x="196808" y="4422711"/>
                </a:cubicBezTo>
                <a:cubicBezTo>
                  <a:pt x="199253" y="4463050"/>
                  <a:pt x="195167" y="4460033"/>
                  <a:pt x="215469" y="4460033"/>
                </a:cubicBezTo>
              </a:path>
            </a:pathLst>
          </a:cu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12AC45F7-191F-AEAE-A6D2-A0AA4012A5F9}"/>
              </a:ext>
            </a:extLst>
          </p:cNvPr>
          <p:cNvSpPr/>
          <p:nvPr/>
        </p:nvSpPr>
        <p:spPr>
          <a:xfrm>
            <a:off x="9151717" y="1598039"/>
            <a:ext cx="160113" cy="4324703"/>
          </a:xfrm>
          <a:custGeom>
            <a:avLst/>
            <a:gdLst>
              <a:gd name="connsiteX0" fmla="*/ 195942 w 195942"/>
              <a:gd name="connsiteY0" fmla="*/ 0 h 4264090"/>
              <a:gd name="connsiteX1" fmla="*/ 186612 w 195942"/>
              <a:gd name="connsiteY1" fmla="*/ 233266 h 4264090"/>
              <a:gd name="connsiteX2" fmla="*/ 177281 w 195942"/>
              <a:gd name="connsiteY2" fmla="*/ 261257 h 4264090"/>
              <a:gd name="connsiteX3" fmla="*/ 149289 w 195942"/>
              <a:gd name="connsiteY3" fmla="*/ 895739 h 4264090"/>
              <a:gd name="connsiteX4" fmla="*/ 130628 w 195942"/>
              <a:gd name="connsiteY4" fmla="*/ 961053 h 4264090"/>
              <a:gd name="connsiteX5" fmla="*/ 93306 w 195942"/>
              <a:gd name="connsiteY5" fmla="*/ 1073021 h 4264090"/>
              <a:gd name="connsiteX6" fmla="*/ 74645 w 195942"/>
              <a:gd name="connsiteY6" fmla="*/ 1166327 h 4264090"/>
              <a:gd name="connsiteX7" fmla="*/ 65314 w 195942"/>
              <a:gd name="connsiteY7" fmla="*/ 1194319 h 4264090"/>
              <a:gd name="connsiteX8" fmla="*/ 37322 w 195942"/>
              <a:gd name="connsiteY8" fmla="*/ 1371600 h 4264090"/>
              <a:gd name="connsiteX9" fmla="*/ 9330 w 195942"/>
              <a:gd name="connsiteY9" fmla="*/ 1502229 h 4264090"/>
              <a:gd name="connsiteX10" fmla="*/ 27991 w 195942"/>
              <a:gd name="connsiteY10" fmla="*/ 1670180 h 4264090"/>
              <a:gd name="connsiteX11" fmla="*/ 37322 w 195942"/>
              <a:gd name="connsiteY11" fmla="*/ 1698172 h 4264090"/>
              <a:gd name="connsiteX12" fmla="*/ 46653 w 195942"/>
              <a:gd name="connsiteY12" fmla="*/ 1810139 h 4264090"/>
              <a:gd name="connsiteX13" fmla="*/ 65314 w 195942"/>
              <a:gd name="connsiteY13" fmla="*/ 1847461 h 4264090"/>
              <a:gd name="connsiteX14" fmla="*/ 74645 w 195942"/>
              <a:gd name="connsiteY14" fmla="*/ 1884784 h 4264090"/>
              <a:gd name="connsiteX15" fmla="*/ 111967 w 195942"/>
              <a:gd name="connsiteY15" fmla="*/ 1968759 h 4264090"/>
              <a:gd name="connsiteX16" fmla="*/ 121298 w 195942"/>
              <a:gd name="connsiteY16" fmla="*/ 2006082 h 4264090"/>
              <a:gd name="connsiteX17" fmla="*/ 158620 w 195942"/>
              <a:gd name="connsiteY17" fmla="*/ 2062066 h 4264090"/>
              <a:gd name="connsiteX18" fmla="*/ 149289 w 195942"/>
              <a:gd name="connsiteY18" fmla="*/ 2453951 h 4264090"/>
              <a:gd name="connsiteX19" fmla="*/ 130628 w 195942"/>
              <a:gd name="connsiteY19" fmla="*/ 2509935 h 4264090"/>
              <a:gd name="connsiteX20" fmla="*/ 111967 w 195942"/>
              <a:gd name="connsiteY20" fmla="*/ 2593910 h 4264090"/>
              <a:gd name="connsiteX21" fmla="*/ 93306 w 195942"/>
              <a:gd name="connsiteY21" fmla="*/ 2752531 h 4264090"/>
              <a:gd name="connsiteX22" fmla="*/ 83975 w 195942"/>
              <a:gd name="connsiteY22" fmla="*/ 2817845 h 4264090"/>
              <a:gd name="connsiteX23" fmla="*/ 18661 w 195942"/>
              <a:gd name="connsiteY23" fmla="*/ 3032449 h 4264090"/>
              <a:gd name="connsiteX24" fmla="*/ 0 w 195942"/>
              <a:gd name="connsiteY24" fmla="*/ 3144417 h 4264090"/>
              <a:gd name="connsiteX25" fmla="*/ 18661 w 195942"/>
              <a:gd name="connsiteY25" fmla="*/ 3265715 h 4264090"/>
              <a:gd name="connsiteX26" fmla="*/ 27991 w 195942"/>
              <a:gd name="connsiteY26" fmla="*/ 3303037 h 4264090"/>
              <a:gd name="connsiteX27" fmla="*/ 46653 w 195942"/>
              <a:gd name="connsiteY27" fmla="*/ 3331029 h 4264090"/>
              <a:gd name="connsiteX28" fmla="*/ 55983 w 195942"/>
              <a:gd name="connsiteY28" fmla="*/ 3359021 h 4264090"/>
              <a:gd name="connsiteX29" fmla="*/ 74645 w 195942"/>
              <a:gd name="connsiteY29" fmla="*/ 3424335 h 4264090"/>
              <a:gd name="connsiteX30" fmla="*/ 121298 w 195942"/>
              <a:gd name="connsiteY30" fmla="*/ 3536302 h 4264090"/>
              <a:gd name="connsiteX31" fmla="*/ 149289 w 195942"/>
              <a:gd name="connsiteY31" fmla="*/ 3573625 h 4264090"/>
              <a:gd name="connsiteX32" fmla="*/ 186612 w 195942"/>
              <a:gd name="connsiteY32" fmla="*/ 3694923 h 4264090"/>
              <a:gd name="connsiteX33" fmla="*/ 177281 w 195942"/>
              <a:gd name="connsiteY33" fmla="*/ 4264090 h 42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5942" h="4264090">
                <a:moveTo>
                  <a:pt x="195942" y="0"/>
                </a:moveTo>
                <a:cubicBezTo>
                  <a:pt x="192832" y="77755"/>
                  <a:pt x="192156" y="155646"/>
                  <a:pt x="186612" y="233266"/>
                </a:cubicBezTo>
                <a:cubicBezTo>
                  <a:pt x="185911" y="243076"/>
                  <a:pt x="177834" y="251437"/>
                  <a:pt x="177281" y="261257"/>
                </a:cubicBezTo>
                <a:cubicBezTo>
                  <a:pt x="165373" y="472622"/>
                  <a:pt x="163371" y="684508"/>
                  <a:pt x="149289" y="895739"/>
                </a:cubicBezTo>
                <a:cubicBezTo>
                  <a:pt x="147783" y="918331"/>
                  <a:pt x="137446" y="939461"/>
                  <a:pt x="130628" y="961053"/>
                </a:cubicBezTo>
                <a:cubicBezTo>
                  <a:pt x="118781" y="998568"/>
                  <a:pt x="102848" y="1034854"/>
                  <a:pt x="93306" y="1073021"/>
                </a:cubicBezTo>
                <a:cubicBezTo>
                  <a:pt x="56136" y="1221695"/>
                  <a:pt x="120385" y="960494"/>
                  <a:pt x="74645" y="1166327"/>
                </a:cubicBezTo>
                <a:cubicBezTo>
                  <a:pt x="72511" y="1175928"/>
                  <a:pt x="68424" y="1184988"/>
                  <a:pt x="65314" y="1194319"/>
                </a:cubicBezTo>
                <a:cubicBezTo>
                  <a:pt x="43323" y="1370236"/>
                  <a:pt x="72043" y="1151701"/>
                  <a:pt x="37322" y="1371600"/>
                </a:cubicBezTo>
                <a:cubicBezTo>
                  <a:pt x="19666" y="1483418"/>
                  <a:pt x="40537" y="1408607"/>
                  <a:pt x="9330" y="1502229"/>
                </a:cubicBezTo>
                <a:cubicBezTo>
                  <a:pt x="15550" y="1558213"/>
                  <a:pt x="20025" y="1614418"/>
                  <a:pt x="27991" y="1670180"/>
                </a:cubicBezTo>
                <a:cubicBezTo>
                  <a:pt x="29382" y="1679917"/>
                  <a:pt x="36022" y="1688423"/>
                  <a:pt x="37322" y="1698172"/>
                </a:cubicBezTo>
                <a:cubicBezTo>
                  <a:pt x="42272" y="1735295"/>
                  <a:pt x="39751" y="1773329"/>
                  <a:pt x="46653" y="1810139"/>
                </a:cubicBezTo>
                <a:cubicBezTo>
                  <a:pt x="49216" y="1823810"/>
                  <a:pt x="60430" y="1834438"/>
                  <a:pt x="65314" y="1847461"/>
                </a:cubicBezTo>
                <a:cubicBezTo>
                  <a:pt x="69817" y="1859468"/>
                  <a:pt x="70590" y="1872618"/>
                  <a:pt x="74645" y="1884784"/>
                </a:cubicBezTo>
                <a:cubicBezTo>
                  <a:pt x="125713" y="2037988"/>
                  <a:pt x="63193" y="1838696"/>
                  <a:pt x="111967" y="1968759"/>
                </a:cubicBezTo>
                <a:cubicBezTo>
                  <a:pt x="116470" y="1980766"/>
                  <a:pt x="115563" y="1994612"/>
                  <a:pt x="121298" y="2006082"/>
                </a:cubicBezTo>
                <a:cubicBezTo>
                  <a:pt x="131328" y="2026142"/>
                  <a:pt x="158620" y="2062066"/>
                  <a:pt x="158620" y="2062066"/>
                </a:cubicBezTo>
                <a:cubicBezTo>
                  <a:pt x="155510" y="2192694"/>
                  <a:pt x="157440" y="2323540"/>
                  <a:pt x="149289" y="2453951"/>
                </a:cubicBezTo>
                <a:cubicBezTo>
                  <a:pt x="148062" y="2473583"/>
                  <a:pt x="136280" y="2491094"/>
                  <a:pt x="130628" y="2509935"/>
                </a:cubicBezTo>
                <a:cubicBezTo>
                  <a:pt x="124764" y="2529482"/>
                  <a:pt x="114770" y="2575693"/>
                  <a:pt x="111967" y="2593910"/>
                </a:cubicBezTo>
                <a:cubicBezTo>
                  <a:pt x="104780" y="2640624"/>
                  <a:pt x="99073" y="2706394"/>
                  <a:pt x="93306" y="2752531"/>
                </a:cubicBezTo>
                <a:cubicBezTo>
                  <a:pt x="90578" y="2774354"/>
                  <a:pt x="88849" y="2796400"/>
                  <a:pt x="83975" y="2817845"/>
                </a:cubicBezTo>
                <a:cubicBezTo>
                  <a:pt x="56368" y="2939315"/>
                  <a:pt x="54491" y="2936902"/>
                  <a:pt x="18661" y="3032449"/>
                </a:cubicBezTo>
                <a:cubicBezTo>
                  <a:pt x="12441" y="3069772"/>
                  <a:pt x="0" y="3106580"/>
                  <a:pt x="0" y="3144417"/>
                </a:cubicBezTo>
                <a:cubicBezTo>
                  <a:pt x="0" y="3185325"/>
                  <a:pt x="11552" y="3225429"/>
                  <a:pt x="18661" y="3265715"/>
                </a:cubicBezTo>
                <a:cubicBezTo>
                  <a:pt x="20889" y="3278343"/>
                  <a:pt x="22940" y="3291250"/>
                  <a:pt x="27991" y="3303037"/>
                </a:cubicBezTo>
                <a:cubicBezTo>
                  <a:pt x="32409" y="3313344"/>
                  <a:pt x="40432" y="3321698"/>
                  <a:pt x="46653" y="3331029"/>
                </a:cubicBezTo>
                <a:cubicBezTo>
                  <a:pt x="49763" y="3340360"/>
                  <a:pt x="53157" y="3349600"/>
                  <a:pt x="55983" y="3359021"/>
                </a:cubicBezTo>
                <a:cubicBezTo>
                  <a:pt x="62489" y="3380709"/>
                  <a:pt x="66817" y="3403089"/>
                  <a:pt x="74645" y="3424335"/>
                </a:cubicBezTo>
                <a:cubicBezTo>
                  <a:pt x="88623" y="3462275"/>
                  <a:pt x="103216" y="3500138"/>
                  <a:pt x="121298" y="3536302"/>
                </a:cubicBezTo>
                <a:cubicBezTo>
                  <a:pt x="128253" y="3550211"/>
                  <a:pt x="139959" y="3561184"/>
                  <a:pt x="149289" y="3573625"/>
                </a:cubicBezTo>
                <a:cubicBezTo>
                  <a:pt x="170150" y="3677927"/>
                  <a:pt x="150357" y="3640540"/>
                  <a:pt x="186612" y="3694923"/>
                </a:cubicBezTo>
                <a:cubicBezTo>
                  <a:pt x="176878" y="4220544"/>
                  <a:pt x="177281" y="4030796"/>
                  <a:pt x="177281" y="4264090"/>
                </a:cubicBezTo>
              </a:path>
            </a:pathLst>
          </a:cu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59115D3-5395-D588-AA30-20285D0DFFC6}"/>
                  </a:ext>
                </a:extLst>
              </p:cNvPr>
              <p:cNvSpPr txBox="1"/>
              <p:nvPr/>
            </p:nvSpPr>
            <p:spPr>
              <a:xfrm>
                <a:off x="7433708" y="1158688"/>
                <a:ext cx="1003822" cy="3754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B0F0"/>
                          </a:solidFill>
                          <a:latin typeface="Cambria Math" panose="02040503050406030204" pitchFamily="18" charset="0"/>
                        </a:rPr>
                        <m:t>𝑃</m:t>
                      </m:r>
                      <m:d>
                        <m:dPr>
                          <m:ctrlPr>
                            <a:rPr lang="en-US" b="0" i="1" smtClean="0">
                              <a:solidFill>
                                <a:srgbClr val="00B0F0"/>
                              </a:solidFill>
                              <a:latin typeface="Cambria Math" panose="02040503050406030204" pitchFamily="18" charset="0"/>
                            </a:rPr>
                          </m:ctrlPr>
                        </m:dPr>
                        <m:e>
                          <m:r>
                            <a:rPr lang="en-US" b="0" i="1" smtClean="0">
                              <a:solidFill>
                                <a:srgbClr val="00B0F0"/>
                              </a:solidFill>
                              <a:latin typeface="Cambria Math" panose="02040503050406030204" pitchFamily="18" charset="0"/>
                            </a:rPr>
                            <m:t>𝜃</m:t>
                          </m:r>
                          <m:r>
                            <a:rPr lang="en-US" b="0" i="1" smtClean="0">
                              <a:solidFill>
                                <a:srgbClr val="00B0F0"/>
                              </a:solidFill>
                              <a:latin typeface="Cambria Math" panose="02040503050406030204" pitchFamily="18" charset="0"/>
                            </a:rPr>
                            <m:t>|</m:t>
                          </m:r>
                          <m:sSubSup>
                            <m:sSubSupPr>
                              <m:ctrlPr>
                                <a:rPr lang="en-US" b="0" i="1" smtClean="0">
                                  <a:solidFill>
                                    <a:srgbClr val="00B0F0"/>
                                  </a:solidFill>
                                  <a:latin typeface="Cambria Math" panose="02040503050406030204" pitchFamily="18" charset="0"/>
                                </a:rPr>
                              </m:ctrlPr>
                            </m:sSubSupPr>
                            <m:e>
                              <m:r>
                                <a:rPr lang="en-US" b="0" i="1" smtClean="0">
                                  <a:solidFill>
                                    <a:srgbClr val="00B0F0"/>
                                  </a:solidFill>
                                  <a:latin typeface="Cambria Math" panose="02040503050406030204" pitchFamily="18" charset="0"/>
                                </a:rPr>
                                <m:t>𝑋</m:t>
                              </m:r>
                            </m:e>
                            <m:sub>
                              <m:r>
                                <a:rPr lang="en-US" b="0" i="1" smtClean="0">
                                  <a:solidFill>
                                    <a:srgbClr val="00B0F0"/>
                                  </a:solidFill>
                                  <a:latin typeface="Cambria Math" panose="02040503050406030204" pitchFamily="18" charset="0"/>
                                </a:rPr>
                                <m:t>2</m:t>
                              </m:r>
                            </m:sub>
                            <m:sup>
                              <m:r>
                                <a:rPr lang="en-US" b="0" i="1" smtClean="0">
                                  <a:solidFill>
                                    <a:srgbClr val="00B0F0"/>
                                  </a:solidFill>
                                  <a:latin typeface="Cambria Math" panose="02040503050406030204" pitchFamily="18" charset="0"/>
                                </a:rPr>
                                <m:t>∗</m:t>
                              </m:r>
                            </m:sup>
                          </m:sSubSup>
                        </m:e>
                      </m:d>
                    </m:oMath>
                  </m:oMathPara>
                </a14:m>
                <a:endParaRPr lang="en-US" dirty="0">
                  <a:solidFill>
                    <a:srgbClr val="00B0F0"/>
                  </a:solidFill>
                </a:endParaRPr>
              </a:p>
            </p:txBody>
          </p:sp>
        </mc:Choice>
        <mc:Fallback xmlns="">
          <p:sp>
            <p:nvSpPr>
              <p:cNvPr id="21" name="TextBox 20">
                <a:extLst>
                  <a:ext uri="{FF2B5EF4-FFF2-40B4-BE49-F238E27FC236}">
                    <a16:creationId xmlns:a16="http://schemas.microsoft.com/office/drawing/2014/main" id="{759115D3-5395-D588-AA30-20285D0DFFC6}"/>
                  </a:ext>
                </a:extLst>
              </p:cNvPr>
              <p:cNvSpPr txBox="1">
                <a:spLocks noRot="1" noChangeAspect="1" noMove="1" noResize="1" noEditPoints="1" noAdjustHandles="1" noChangeArrowheads="1" noChangeShapeType="1" noTextEdit="1"/>
              </p:cNvSpPr>
              <p:nvPr/>
            </p:nvSpPr>
            <p:spPr>
              <a:xfrm>
                <a:off x="7433708" y="1158688"/>
                <a:ext cx="1003822" cy="375424"/>
              </a:xfrm>
              <a:prstGeom prst="rect">
                <a:avLst/>
              </a:prstGeom>
              <a:blipFill>
                <a:blip r:embed="rId8"/>
                <a:stretch>
                  <a:fillRect b="-11290"/>
                </a:stretch>
              </a:blipFill>
            </p:spPr>
            <p:txBody>
              <a:bodyPr/>
              <a:lstStyle/>
              <a:p>
                <a:r>
                  <a:rPr lang="en-US">
                    <a:noFill/>
                  </a:rPr>
                  <a:t> </a:t>
                </a:r>
              </a:p>
            </p:txBody>
          </p:sp>
        </mc:Fallback>
      </mc:AlternateContent>
      <p:sp>
        <p:nvSpPr>
          <p:cNvPr id="22" name="Arrow: Right 21">
            <a:extLst>
              <a:ext uri="{FF2B5EF4-FFF2-40B4-BE49-F238E27FC236}">
                <a16:creationId xmlns:a16="http://schemas.microsoft.com/office/drawing/2014/main" id="{1E461DE4-B2CD-F9B8-1CA7-6B3E99E0A8A2}"/>
              </a:ext>
            </a:extLst>
          </p:cNvPr>
          <p:cNvSpPr/>
          <p:nvPr/>
        </p:nvSpPr>
        <p:spPr>
          <a:xfrm rot="1791691">
            <a:off x="7759753" y="1555928"/>
            <a:ext cx="576688" cy="305301"/>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Arrow: Right 22">
            <a:extLst>
              <a:ext uri="{FF2B5EF4-FFF2-40B4-BE49-F238E27FC236}">
                <a16:creationId xmlns:a16="http://schemas.microsoft.com/office/drawing/2014/main" id="{B5229A10-2BA8-02F4-8FC9-71F8217E140A}"/>
              </a:ext>
            </a:extLst>
          </p:cNvPr>
          <p:cNvSpPr/>
          <p:nvPr/>
        </p:nvSpPr>
        <p:spPr>
          <a:xfrm rot="1791691">
            <a:off x="8639700" y="2533318"/>
            <a:ext cx="601622" cy="370456"/>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C813A37-EBC4-FFF4-3D3F-18604A047B9E}"/>
                  </a:ext>
                </a:extLst>
              </p:cNvPr>
              <p:cNvSpPr txBox="1"/>
              <p:nvPr/>
            </p:nvSpPr>
            <p:spPr>
              <a:xfrm>
                <a:off x="8400553" y="1989846"/>
                <a:ext cx="906242" cy="3754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rgbClr val="00B0F0"/>
                          </a:solidFill>
                          <a:latin typeface="Cambria Math" panose="02040503050406030204" pitchFamily="18" charset="0"/>
                        </a:rPr>
                        <m:t>𝑃</m:t>
                      </m:r>
                      <m:d>
                        <m:dPr>
                          <m:ctrlPr>
                            <a:rPr lang="en-US" b="0" i="1" smtClean="0">
                              <a:solidFill>
                                <a:srgbClr val="00B0F0"/>
                              </a:solidFill>
                              <a:latin typeface="Cambria Math" panose="02040503050406030204" pitchFamily="18" charset="0"/>
                            </a:rPr>
                          </m:ctrlPr>
                        </m:dPr>
                        <m:e>
                          <m:r>
                            <a:rPr lang="en-US" b="0" i="1" smtClean="0">
                              <a:solidFill>
                                <a:srgbClr val="00B0F0"/>
                              </a:solidFill>
                              <a:latin typeface="Cambria Math" panose="02040503050406030204" pitchFamily="18" charset="0"/>
                            </a:rPr>
                            <m:t>𝜃</m:t>
                          </m:r>
                          <m:r>
                            <a:rPr lang="en-US" b="0" i="1" smtClean="0">
                              <a:solidFill>
                                <a:srgbClr val="00B0F0"/>
                              </a:solidFill>
                              <a:latin typeface="Cambria Math" panose="02040503050406030204" pitchFamily="18" charset="0"/>
                            </a:rPr>
                            <m:t>|</m:t>
                          </m:r>
                          <m:sSubSup>
                            <m:sSubSupPr>
                              <m:ctrlPr>
                                <a:rPr lang="en-US" b="0" i="1" smtClean="0">
                                  <a:solidFill>
                                    <a:srgbClr val="00B0F0"/>
                                  </a:solidFill>
                                  <a:latin typeface="Cambria Math" panose="02040503050406030204" pitchFamily="18" charset="0"/>
                                </a:rPr>
                              </m:ctrlPr>
                            </m:sSubSupPr>
                            <m:e>
                              <m:r>
                                <a:rPr lang="en-US" b="0" i="1" smtClean="0">
                                  <a:solidFill>
                                    <a:srgbClr val="00B0F0"/>
                                  </a:solidFill>
                                  <a:latin typeface="Cambria Math" panose="02040503050406030204" pitchFamily="18" charset="0"/>
                                </a:rPr>
                                <m:t>𝑋</m:t>
                              </m:r>
                            </m:e>
                            <m:sub>
                              <m:r>
                                <a:rPr lang="en-US" b="0" i="1" smtClean="0">
                                  <a:solidFill>
                                    <a:srgbClr val="00B0F0"/>
                                  </a:solidFill>
                                  <a:latin typeface="Cambria Math" panose="02040503050406030204" pitchFamily="18" charset="0"/>
                                </a:rPr>
                                <m:t>3</m:t>
                              </m:r>
                            </m:sub>
                            <m:sup>
                              <m:r>
                                <a:rPr lang="en-US" b="0" i="1" smtClean="0">
                                  <a:solidFill>
                                    <a:srgbClr val="00B0F0"/>
                                  </a:solidFill>
                                  <a:latin typeface="Cambria Math" panose="02040503050406030204" pitchFamily="18" charset="0"/>
                                </a:rPr>
                                <m:t>∗</m:t>
                              </m:r>
                            </m:sup>
                          </m:sSubSup>
                        </m:e>
                      </m:d>
                    </m:oMath>
                  </m:oMathPara>
                </a14:m>
                <a:endParaRPr lang="en-US" dirty="0">
                  <a:solidFill>
                    <a:srgbClr val="00B0F0"/>
                  </a:solidFill>
                </a:endParaRPr>
              </a:p>
            </p:txBody>
          </p:sp>
        </mc:Choice>
        <mc:Fallback xmlns="">
          <p:sp>
            <p:nvSpPr>
              <p:cNvPr id="26" name="TextBox 25">
                <a:extLst>
                  <a:ext uri="{FF2B5EF4-FFF2-40B4-BE49-F238E27FC236}">
                    <a16:creationId xmlns:a16="http://schemas.microsoft.com/office/drawing/2014/main" id="{DC813A37-EBC4-FFF4-3D3F-18604A047B9E}"/>
                  </a:ext>
                </a:extLst>
              </p:cNvPr>
              <p:cNvSpPr txBox="1">
                <a:spLocks noRot="1" noChangeAspect="1" noMove="1" noResize="1" noEditPoints="1" noAdjustHandles="1" noChangeArrowheads="1" noChangeShapeType="1" noTextEdit="1"/>
              </p:cNvSpPr>
              <p:nvPr/>
            </p:nvSpPr>
            <p:spPr>
              <a:xfrm>
                <a:off x="8400553" y="1989846"/>
                <a:ext cx="906242" cy="375424"/>
              </a:xfrm>
              <a:prstGeom prst="rect">
                <a:avLst/>
              </a:prstGeom>
              <a:blipFill>
                <a:blip r:embed="rId9"/>
                <a:stretch>
                  <a:fillRect b="-112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5F56497-BA25-47E9-1072-73D2CF80505A}"/>
                  </a:ext>
                </a:extLst>
              </p:cNvPr>
              <p:cNvSpPr txBox="1"/>
              <p:nvPr/>
            </p:nvSpPr>
            <p:spPr>
              <a:xfrm>
                <a:off x="1499908" y="4853970"/>
                <a:ext cx="3175519" cy="8808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m:rPr>
                              <m:sty m:val="p"/>
                            </m:rPr>
                            <a:rPr lang="en-US">
                              <a:latin typeface="Cambria Math" panose="02040503050406030204" pitchFamily="18" charset="0"/>
                            </a:rPr>
                            <m:t>w</m:t>
                          </m:r>
                          <m:r>
                            <m:rPr>
                              <m:sty m:val="p"/>
                            </m:rPr>
                            <a:rPr lang="en-US" b="0" i="0" smtClean="0">
                              <a:latin typeface="Cambria Math" panose="02040503050406030204" pitchFamily="18" charset="0"/>
                            </a:rPr>
                            <m:t>rt</m:t>
                          </m:r>
                          <m:r>
                            <a:rPr lang="en-US" b="0" i="0" smtClean="0">
                              <a:latin typeface="Cambria Math" panose="02040503050406030204" pitchFamily="18" charset="0"/>
                            </a:rPr>
                            <m:t> </m:t>
                          </m:r>
                          <m:r>
                            <m:rPr>
                              <m:sty m:val="p"/>
                            </m:rPr>
                            <a:rPr lang="en-US">
                              <a:latin typeface="Cambria Math" panose="02040503050406030204" pitchFamily="18" charset="0"/>
                            </a:rPr>
                            <m:t>params</m:t>
                          </m:r>
                          <m:r>
                            <a:rPr lang="en-US" b="0" i="0" smtClean="0">
                              <a:latin typeface="Cambria Math" panose="02040503050406030204" pitchFamily="18" charset="0"/>
                            </a:rPr>
                            <m:t> </m:t>
                          </m:r>
                          <m:r>
                            <m:rPr>
                              <m:sty m:val="p"/>
                            </m:rPr>
                            <a:rPr lang="en-US" b="0" i="0" smtClean="0">
                              <a:latin typeface="Cambria Math" panose="02040503050406030204" pitchFamily="18" charset="0"/>
                            </a:rPr>
                            <m:t>of</m:t>
                          </m:r>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𝛼</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𝑗</m:t>
                              </m:r>
                            </m:sub>
                          </m:sSub>
                        </m:lim>
                      </m:limLow>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𝐼</m:t>
                          </m:r>
                        </m:sup>
                        <m:e>
                          <m:r>
                            <m:rPr>
                              <m:sty m:val="p"/>
                            </m:rPr>
                            <a:rPr lang="en-US" b="0" i="0" smtClean="0">
                              <a:latin typeface="Cambria Math" panose="02040503050406030204" pitchFamily="18" charset="0"/>
                            </a:rPr>
                            <m:t>log</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𝑗</m:t>
                                  </m:r>
                                </m:sub>
                              </m:sSub>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𝑖</m:t>
                                  </m:r>
                                </m:sub>
                              </m:sSub>
                            </m:e>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e>
                          </m:d>
                          <m:r>
                            <a:rPr lang="en-US" b="0" i="1" smtClean="0">
                              <a:latin typeface="Cambria Math" panose="02040503050406030204" pitchFamily="18" charset="0"/>
                            </a:rPr>
                            <m:t>)</m:t>
                          </m:r>
                        </m:e>
                      </m:nary>
                    </m:oMath>
                  </m:oMathPara>
                </a14:m>
                <a:endParaRPr lang="en-US" dirty="0"/>
              </a:p>
            </p:txBody>
          </p:sp>
        </mc:Choice>
        <mc:Fallback xmlns="">
          <p:sp>
            <p:nvSpPr>
              <p:cNvPr id="28" name="TextBox 27">
                <a:extLst>
                  <a:ext uri="{FF2B5EF4-FFF2-40B4-BE49-F238E27FC236}">
                    <a16:creationId xmlns:a16="http://schemas.microsoft.com/office/drawing/2014/main" id="{95F56497-BA25-47E9-1072-73D2CF80505A}"/>
                  </a:ext>
                </a:extLst>
              </p:cNvPr>
              <p:cNvSpPr txBox="1">
                <a:spLocks noRot="1" noChangeAspect="1" noMove="1" noResize="1" noEditPoints="1" noAdjustHandles="1" noChangeArrowheads="1" noChangeShapeType="1" noTextEdit="1"/>
              </p:cNvSpPr>
              <p:nvPr/>
            </p:nvSpPr>
            <p:spPr>
              <a:xfrm>
                <a:off x="1499908" y="4853970"/>
                <a:ext cx="3175519" cy="880882"/>
              </a:xfrm>
              <a:prstGeom prst="rect">
                <a:avLst/>
              </a:prstGeom>
              <a:blipFill>
                <a:blip r:embed="rId10"/>
                <a:stretch>
                  <a:fillRect r="-30902"/>
                </a:stretch>
              </a:blipFill>
            </p:spPr>
            <p:txBody>
              <a:bodyPr/>
              <a:lstStyle/>
              <a:p>
                <a:r>
                  <a:rPr lang="en-US">
                    <a:noFill/>
                  </a:rPr>
                  <a:t> </a:t>
                </a:r>
              </a:p>
            </p:txBody>
          </p:sp>
        </mc:Fallback>
      </mc:AlternateContent>
      <p:sp>
        <p:nvSpPr>
          <p:cNvPr id="5" name="Arrow: Right 4">
            <a:extLst>
              <a:ext uri="{FF2B5EF4-FFF2-40B4-BE49-F238E27FC236}">
                <a16:creationId xmlns:a16="http://schemas.microsoft.com/office/drawing/2014/main" id="{BD4E7759-04A8-4DDF-0FB1-AB0F05F1E3F4}"/>
              </a:ext>
            </a:extLst>
          </p:cNvPr>
          <p:cNvSpPr/>
          <p:nvPr/>
        </p:nvSpPr>
        <p:spPr>
          <a:xfrm rot="20980897">
            <a:off x="7137707" y="1616642"/>
            <a:ext cx="576688" cy="305301"/>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Arrow: Right 5">
            <a:extLst>
              <a:ext uri="{FF2B5EF4-FFF2-40B4-BE49-F238E27FC236}">
                <a16:creationId xmlns:a16="http://schemas.microsoft.com/office/drawing/2014/main" id="{F1F1BC9B-8ABC-89F3-5002-D7AA50536D32}"/>
              </a:ext>
            </a:extLst>
          </p:cNvPr>
          <p:cNvSpPr/>
          <p:nvPr/>
        </p:nvSpPr>
        <p:spPr>
          <a:xfrm rot="19888526">
            <a:off x="8665246" y="1570641"/>
            <a:ext cx="601622" cy="370456"/>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68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p:bldP spid="22" grpId="0" animBg="1"/>
      <p:bldP spid="23" grpId="0" animBg="1"/>
      <p:bldP spid="26" grpId="0"/>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a:extLst>
                  <a:ext uri="{FF2B5EF4-FFF2-40B4-BE49-F238E27FC236}">
                    <a16:creationId xmlns:a16="http://schemas.microsoft.com/office/drawing/2014/main" id="{0BD1C62C-3A54-E4F5-01AD-E49E0F1EC0F5}"/>
                  </a:ext>
                </a:extLst>
              </p:cNvPr>
              <p:cNvSpPr>
                <a:spLocks noGrp="1"/>
              </p:cNvSpPr>
              <p:nvPr>
                <p:ph type="title"/>
              </p:nvPr>
            </p:nvSpPr>
            <p:spPr/>
            <p:txBody>
              <a:bodyPr/>
              <a:lstStyle/>
              <a:p>
                <a:r>
                  <a:rPr lang="en-US" b="1" dirty="0"/>
                  <a:t>Step 3: </a:t>
                </a:r>
                <a:r>
                  <a:rPr lang="en-US" dirty="0"/>
                  <a:t>Condition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b="1" dirty="0"/>
                  <a:t> </a:t>
                </a:r>
                <a:r>
                  <a:rPr lang="en-US" dirty="0"/>
                  <a:t>on the real data, </a:t>
                </a:r>
                <a14:m>
                  <m:oMath xmlns:m="http://schemas.openxmlformats.org/officeDocument/2006/math">
                    <m:r>
                      <a:rPr lang="en-US" b="0" i="1" smtClean="0">
                        <a:latin typeface="Cambria Math" panose="02040503050406030204" pitchFamily="18" charset="0"/>
                      </a:rPr>
                      <m:t>𝑋</m:t>
                    </m:r>
                  </m:oMath>
                </a14:m>
                <a:r>
                  <a:rPr lang="en-US" dirty="0"/>
                  <a:t>, forming the posterior: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endParaRPr lang="en-US" dirty="0"/>
              </a:p>
            </p:txBody>
          </p:sp>
        </mc:Choice>
        <mc:Fallback xmlns="">
          <p:sp>
            <p:nvSpPr>
              <p:cNvPr id="5" name="Title 4">
                <a:extLst>
                  <a:ext uri="{FF2B5EF4-FFF2-40B4-BE49-F238E27FC236}">
                    <a16:creationId xmlns:a16="http://schemas.microsoft.com/office/drawing/2014/main" id="{0BD1C62C-3A54-E4F5-01AD-E49E0F1EC0F5}"/>
                  </a:ext>
                </a:extLst>
              </p:cNvPr>
              <p:cNvSpPr>
                <a:spLocks noGrp="1" noRot="1" noChangeAspect="1" noMove="1" noResize="1" noEditPoints="1" noAdjustHandles="1" noChangeArrowheads="1" noChangeShapeType="1" noTextEdit="1"/>
              </p:cNvSpPr>
              <p:nvPr>
                <p:ph type="title"/>
              </p:nvPr>
            </p:nvSpPr>
            <p:spPr>
              <a:blipFill>
                <a:blip r:embed="rId2"/>
                <a:stretch>
                  <a:fillRect l="-2377" t="-13364" b="-2119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53EA0458-B0C6-D51B-7105-92BCAE1DD5E7}"/>
                  </a:ext>
                </a:extLst>
              </p:cNvPr>
              <p:cNvSpPr>
                <a:spLocks noGrp="1"/>
              </p:cNvSpPr>
              <p:nvPr>
                <p:ph sz="half" idx="1"/>
              </p:nvPr>
            </p:nvSpPr>
            <p:spPr/>
            <p:txBody>
              <a:bodyPr/>
              <a:lstStyle/>
              <a:p>
                <a:r>
                  <a:rPr lang="en-US" dirty="0"/>
                  <a:t>Now that you have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oMath>
                </a14:m>
                <a:endParaRPr lang="en-US" dirty="0"/>
              </a:p>
              <a:p>
                <a:r>
                  <a:rPr lang="en-US" dirty="0"/>
                  <a:t>…The posterior is a conditional distribution of </a:t>
                </a:r>
                <a14:m>
                  <m:oMath xmlns:m="http://schemas.openxmlformats.org/officeDocument/2006/math">
                    <m:r>
                      <a:rPr lang="en-US" b="0" i="1" smtClean="0">
                        <a:latin typeface="Cambria Math" panose="02040503050406030204" pitchFamily="18" charset="0"/>
                      </a:rPr>
                      <m:t>𝜃</m:t>
                    </m:r>
                  </m:oMath>
                </a14:m>
                <a:r>
                  <a:rPr lang="en-US" dirty="0"/>
                  <a:t> implied by the model conditioned on the specific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dirty="0"/>
                  <a:t> that corresponds to the real-world data, </a:t>
                </a:r>
                <a14:m>
                  <m:oMath xmlns:m="http://schemas.openxmlformats.org/officeDocument/2006/math">
                    <m:r>
                      <a:rPr lang="en-US" b="0" i="1" smtClean="0">
                        <a:latin typeface="Cambria Math" panose="02040503050406030204" pitchFamily="18" charset="0"/>
                      </a:rPr>
                      <m:t>𝑋</m:t>
                    </m:r>
                  </m:oMath>
                </a14:m>
                <a:r>
                  <a:rPr lang="en-US" dirty="0"/>
                  <a:t>:</a:t>
                </a:r>
              </a:p>
              <a:p>
                <a:pPr lvl="1"/>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endParaRPr lang="en-US" dirty="0"/>
              </a:p>
              <a:p>
                <a:pPr marL="0" indent="0">
                  <a:buNone/>
                </a:pPr>
                <a:endParaRPr lang="en-US" dirty="0"/>
              </a:p>
            </p:txBody>
          </p:sp>
        </mc:Choice>
        <mc:Fallback xmlns="">
          <p:sp>
            <p:nvSpPr>
              <p:cNvPr id="6" name="Content Placeholder 5">
                <a:extLst>
                  <a:ext uri="{FF2B5EF4-FFF2-40B4-BE49-F238E27FC236}">
                    <a16:creationId xmlns:a16="http://schemas.microsoft.com/office/drawing/2014/main" id="{53EA0458-B0C6-D51B-7105-92BCAE1DD5E7}"/>
                  </a:ext>
                </a:extLst>
              </p:cNvPr>
              <p:cNvSpPr>
                <a:spLocks noGrp="1" noRot="1" noChangeAspect="1" noMove="1" noResize="1" noEditPoints="1" noAdjustHandles="1" noChangeArrowheads="1" noChangeShapeType="1" noTextEdit="1"/>
              </p:cNvSpPr>
              <p:nvPr>
                <p:ph sz="half" idx="1"/>
              </p:nvPr>
            </p:nvSpPr>
            <p:spPr>
              <a:blipFill>
                <a:blip r:embed="rId3"/>
                <a:stretch>
                  <a:fillRect l="-2118" t="-2241"/>
                </a:stretch>
              </a:blipFill>
            </p:spPr>
            <p:txBody>
              <a:bodyPr/>
              <a:lstStyle/>
              <a:p>
                <a:r>
                  <a:rPr lang="en-US">
                    <a:noFill/>
                  </a:rPr>
                  <a:t> </a:t>
                </a:r>
              </a:p>
            </p:txBody>
          </p:sp>
        </mc:Fallback>
      </mc:AlternateContent>
      <p:sp>
        <p:nvSpPr>
          <p:cNvPr id="7" name="Content Placeholder 6">
            <a:extLst>
              <a:ext uri="{FF2B5EF4-FFF2-40B4-BE49-F238E27FC236}">
                <a16:creationId xmlns:a16="http://schemas.microsoft.com/office/drawing/2014/main" id="{C0D68692-0E34-456C-D68C-4DC6EFA7AC53}"/>
              </a:ext>
            </a:extLst>
          </p:cNvPr>
          <p:cNvSpPr>
            <a:spLocks noGrp="1"/>
          </p:cNvSpPr>
          <p:nvPr>
            <p:ph sz="half" idx="2"/>
          </p:nvPr>
        </p:nvSpPr>
        <p:spPr/>
        <p:txBody>
          <a:bodyPr/>
          <a:lstStyle/>
          <a:p>
            <a:endParaRPr lang="en-US" dirty="0"/>
          </a:p>
        </p:txBody>
      </p:sp>
      <p:grpSp>
        <p:nvGrpSpPr>
          <p:cNvPr id="8" name="Group 7">
            <a:extLst>
              <a:ext uri="{FF2B5EF4-FFF2-40B4-BE49-F238E27FC236}">
                <a16:creationId xmlns:a16="http://schemas.microsoft.com/office/drawing/2014/main" id="{5BB205E5-C9B3-FD25-C748-373D1AF7DE4A}"/>
              </a:ext>
            </a:extLst>
          </p:cNvPr>
          <p:cNvGrpSpPr/>
          <p:nvPr/>
        </p:nvGrpSpPr>
        <p:grpSpPr>
          <a:xfrm>
            <a:off x="6131019" y="1544204"/>
            <a:ext cx="5793504" cy="4865080"/>
            <a:chOff x="5102087" y="1690688"/>
            <a:chExt cx="7089913" cy="4796894"/>
          </a:xfrm>
        </p:grpSpPr>
        <p:pic>
          <p:nvPicPr>
            <p:cNvPr id="9" name="Content Placeholder 4">
              <a:extLst>
                <a:ext uri="{FF2B5EF4-FFF2-40B4-BE49-F238E27FC236}">
                  <a16:creationId xmlns:a16="http://schemas.microsoft.com/office/drawing/2014/main" id="{B81BF7E7-1EEF-8F27-9195-A8413E929331}"/>
                </a:ext>
              </a:extLst>
            </p:cNvPr>
            <p:cNvPicPr>
              <a:picLocks noChangeAspect="1"/>
            </p:cNvPicPr>
            <p:nvPr/>
          </p:nvPicPr>
          <p:blipFill>
            <a:blip r:embed="rId4"/>
            <a:stretch>
              <a:fillRect/>
            </a:stretch>
          </p:blipFill>
          <p:spPr>
            <a:xfrm>
              <a:off x="5102087" y="1690688"/>
              <a:ext cx="7089913" cy="4351338"/>
            </a:xfrm>
            <a:prstGeom prst="rect">
              <a:avLst/>
            </a:prstGeom>
          </p:spPr>
        </p:pic>
        <p:sp>
          <p:nvSpPr>
            <p:cNvPr id="10" name="Oval 9">
              <a:extLst>
                <a:ext uri="{FF2B5EF4-FFF2-40B4-BE49-F238E27FC236}">
                  <a16:creationId xmlns:a16="http://schemas.microsoft.com/office/drawing/2014/main" id="{AFAA138C-A797-2FFC-DC5E-53633EE07A86}"/>
                </a:ext>
              </a:extLst>
            </p:cNvPr>
            <p:cNvSpPr/>
            <p:nvPr/>
          </p:nvSpPr>
          <p:spPr>
            <a:xfrm>
              <a:off x="9208369" y="296343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CF42B1F-F839-9C79-1CD7-5358BDC0E8E4}"/>
                </a:ext>
              </a:extLst>
            </p:cNvPr>
            <p:cNvSpPr/>
            <p:nvPr/>
          </p:nvSpPr>
          <p:spPr>
            <a:xfrm>
              <a:off x="7224059" y="44407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0FD5CE28-6A26-3C18-0B36-837FA5485EFB}"/>
                </a:ext>
              </a:extLst>
            </p:cNvPr>
            <p:cNvSpPr/>
            <p:nvPr/>
          </p:nvSpPr>
          <p:spPr>
            <a:xfrm>
              <a:off x="9307895" y="320136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19FEAA40-998D-9D39-07B9-68A78A96D5C6}"/>
                </a:ext>
              </a:extLst>
            </p:cNvPr>
            <p:cNvSpPr/>
            <p:nvPr/>
          </p:nvSpPr>
          <p:spPr>
            <a:xfrm>
              <a:off x="6997015" y="423239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49337A74-F7DF-5C9F-A0FA-0D31363AB7D1}"/>
                </a:ext>
              </a:extLst>
            </p:cNvPr>
            <p:cNvSpPr/>
            <p:nvPr/>
          </p:nvSpPr>
          <p:spPr>
            <a:xfrm>
              <a:off x="7255160" y="428371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3E27E718-B0AD-8C84-38DE-013CB2400E4E}"/>
                </a:ext>
              </a:extLst>
            </p:cNvPr>
            <p:cNvSpPr/>
            <p:nvPr/>
          </p:nvSpPr>
          <p:spPr>
            <a:xfrm>
              <a:off x="7376459" y="45931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223CA5A8-342E-34EF-595D-A070405E6AF6}"/>
                </a:ext>
              </a:extLst>
            </p:cNvPr>
            <p:cNvSpPr/>
            <p:nvPr/>
          </p:nvSpPr>
          <p:spPr>
            <a:xfrm>
              <a:off x="7724802" y="46958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8074BF83-3D64-37D5-ADC2-A55F14FB8445}"/>
                </a:ext>
              </a:extLst>
            </p:cNvPr>
            <p:cNvSpPr/>
            <p:nvPr/>
          </p:nvSpPr>
          <p:spPr>
            <a:xfrm>
              <a:off x="7881868" y="438946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B8CB6F9A-D8A6-2D63-A4C0-DB3D030111A1}"/>
                </a:ext>
              </a:extLst>
            </p:cNvPr>
            <p:cNvSpPr/>
            <p:nvPr/>
          </p:nvSpPr>
          <p:spPr>
            <a:xfrm>
              <a:off x="8906679" y="467530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8CE0DF97-DCC4-1E3D-BA10-4A4D1406A188}"/>
                </a:ext>
              </a:extLst>
            </p:cNvPr>
            <p:cNvSpPr/>
            <p:nvPr/>
          </p:nvSpPr>
          <p:spPr>
            <a:xfrm>
              <a:off x="6992350" y="400476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9E1F447E-3B6B-82DF-731A-1E566EF417EB}"/>
                </a:ext>
              </a:extLst>
            </p:cNvPr>
            <p:cNvSpPr/>
            <p:nvPr/>
          </p:nvSpPr>
          <p:spPr>
            <a:xfrm>
              <a:off x="9009315" y="330400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2117EA35-C457-F3E6-057D-B3DD6BEDF465}"/>
                </a:ext>
              </a:extLst>
            </p:cNvPr>
            <p:cNvSpPr/>
            <p:nvPr/>
          </p:nvSpPr>
          <p:spPr>
            <a:xfrm>
              <a:off x="9166381" y="34906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2036B2F4-07FB-BCCD-D25B-173188BE08A1}"/>
                </a:ext>
              </a:extLst>
            </p:cNvPr>
            <p:cNvSpPr/>
            <p:nvPr/>
          </p:nvSpPr>
          <p:spPr>
            <a:xfrm>
              <a:off x="7210061" y="397365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A77603F0-0914-413E-9AB2-CD46EE8AED98}"/>
                </a:ext>
              </a:extLst>
            </p:cNvPr>
            <p:cNvSpPr/>
            <p:nvPr/>
          </p:nvSpPr>
          <p:spPr>
            <a:xfrm>
              <a:off x="7710806" y="37777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17A06FC3-9E0A-FB28-D6BE-73A0732A46EC}"/>
                </a:ext>
              </a:extLst>
            </p:cNvPr>
            <p:cNvSpPr/>
            <p:nvPr/>
          </p:nvSpPr>
          <p:spPr>
            <a:xfrm>
              <a:off x="7528859" y="47455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DD159D2A-9F43-F5F2-E4F3-AF5419C40002}"/>
                </a:ext>
              </a:extLst>
            </p:cNvPr>
            <p:cNvSpPr/>
            <p:nvPr/>
          </p:nvSpPr>
          <p:spPr>
            <a:xfrm>
              <a:off x="6853946" y="464449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23D72FDB-CBBA-F6E7-E5A4-4B28BDD116A9}"/>
                </a:ext>
              </a:extLst>
            </p:cNvPr>
            <p:cNvSpPr/>
            <p:nvPr/>
          </p:nvSpPr>
          <p:spPr>
            <a:xfrm>
              <a:off x="7096135" y="287168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147CCFD3-4E93-FA7B-88DA-F4E63E10B0DD}"/>
                </a:ext>
              </a:extLst>
            </p:cNvPr>
            <p:cNvSpPr/>
            <p:nvPr/>
          </p:nvSpPr>
          <p:spPr>
            <a:xfrm>
              <a:off x="8237986" y="392233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9AE93A60-FA02-55CD-3483-08E0E2F90062}"/>
                </a:ext>
              </a:extLst>
            </p:cNvPr>
            <p:cNvSpPr/>
            <p:nvPr/>
          </p:nvSpPr>
          <p:spPr>
            <a:xfrm>
              <a:off x="8247317" y="30691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4465FC9C-D01D-E1AA-9249-1AB2C0FC6F9C}"/>
                </a:ext>
              </a:extLst>
            </p:cNvPr>
            <p:cNvSpPr/>
            <p:nvPr/>
          </p:nvSpPr>
          <p:spPr>
            <a:xfrm>
              <a:off x="7012566" y="363368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2E7DAFDC-437A-F6AC-F77A-BF79D96368DE}"/>
                </a:ext>
              </a:extLst>
            </p:cNvPr>
            <p:cNvSpPr/>
            <p:nvPr/>
          </p:nvSpPr>
          <p:spPr>
            <a:xfrm>
              <a:off x="8154011" y="452135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3ED871A6-FF33-40CB-0791-EB3FD06A4BA7}"/>
                </a:ext>
              </a:extLst>
            </p:cNvPr>
            <p:cNvSpPr/>
            <p:nvPr/>
          </p:nvSpPr>
          <p:spPr>
            <a:xfrm>
              <a:off x="8563068" y="457267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9CD8A763-0461-EB47-6E23-71FC1F04D57E}"/>
                </a:ext>
              </a:extLst>
            </p:cNvPr>
            <p:cNvSpPr/>
            <p:nvPr/>
          </p:nvSpPr>
          <p:spPr>
            <a:xfrm>
              <a:off x="7224059" y="480467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D9D82284-4AF5-5869-1FEE-E40DA78AFEB7}"/>
                </a:ext>
              </a:extLst>
            </p:cNvPr>
            <p:cNvSpPr/>
            <p:nvPr/>
          </p:nvSpPr>
          <p:spPr>
            <a:xfrm>
              <a:off x="7881867" y="402497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D676C911-DDD3-E893-4FBE-16212C755BFE}"/>
                </a:ext>
              </a:extLst>
            </p:cNvPr>
            <p:cNvSpPr/>
            <p:nvPr/>
          </p:nvSpPr>
          <p:spPr>
            <a:xfrm>
              <a:off x="7537413" y="433814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1E5A3A54-BB3D-065A-26D7-F67D5B61CD14}"/>
                </a:ext>
              </a:extLst>
            </p:cNvPr>
            <p:cNvSpPr/>
            <p:nvPr/>
          </p:nvSpPr>
          <p:spPr>
            <a:xfrm>
              <a:off x="8605055" y="2873238"/>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6" name="Straight Connector 35">
              <a:extLst>
                <a:ext uri="{FF2B5EF4-FFF2-40B4-BE49-F238E27FC236}">
                  <a16:creationId xmlns:a16="http://schemas.microsoft.com/office/drawing/2014/main" id="{78C51501-8EBA-65BB-1E54-0935C2B41D65}"/>
                </a:ext>
              </a:extLst>
            </p:cNvPr>
            <p:cNvCxnSpPr/>
            <p:nvPr/>
          </p:nvCxnSpPr>
          <p:spPr>
            <a:xfrm>
              <a:off x="7210061" y="1690688"/>
              <a:ext cx="0" cy="4351338"/>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1DFA276-FEBF-EB06-CBC1-FDD28850F01E}"/>
                </a:ext>
              </a:extLst>
            </p:cNvPr>
            <p:cNvCxnSpPr/>
            <p:nvPr/>
          </p:nvCxnSpPr>
          <p:spPr>
            <a:xfrm>
              <a:off x="9009315" y="1690688"/>
              <a:ext cx="0" cy="4351338"/>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39" name="Freeform: Shape 38">
              <a:extLst>
                <a:ext uri="{FF2B5EF4-FFF2-40B4-BE49-F238E27FC236}">
                  <a16:creationId xmlns:a16="http://schemas.microsoft.com/office/drawing/2014/main" id="{AB2E0C5E-138C-32E1-DFDE-CA647B8EF90E}"/>
                </a:ext>
              </a:extLst>
            </p:cNvPr>
            <p:cNvSpPr/>
            <p:nvPr/>
          </p:nvSpPr>
          <p:spPr>
            <a:xfrm>
              <a:off x="6848535" y="1822952"/>
              <a:ext cx="363861" cy="4012163"/>
            </a:xfrm>
            <a:custGeom>
              <a:avLst/>
              <a:gdLst>
                <a:gd name="connsiteX0" fmla="*/ 354530 w 363861"/>
                <a:gd name="connsiteY0" fmla="*/ 0 h 4012163"/>
                <a:gd name="connsiteX1" fmla="*/ 335869 w 363861"/>
                <a:gd name="connsiteY1" fmla="*/ 438538 h 4012163"/>
                <a:gd name="connsiteX2" fmla="*/ 317208 w 363861"/>
                <a:gd name="connsiteY2" fmla="*/ 485191 h 4012163"/>
                <a:gd name="connsiteX3" fmla="*/ 279886 w 363861"/>
                <a:gd name="connsiteY3" fmla="*/ 615820 h 4012163"/>
                <a:gd name="connsiteX4" fmla="*/ 195910 w 363861"/>
                <a:gd name="connsiteY4" fmla="*/ 774440 h 4012163"/>
                <a:gd name="connsiteX5" fmla="*/ 177249 w 363861"/>
                <a:gd name="connsiteY5" fmla="*/ 811763 h 4012163"/>
                <a:gd name="connsiteX6" fmla="*/ 167918 w 363861"/>
                <a:gd name="connsiteY6" fmla="*/ 839755 h 4012163"/>
                <a:gd name="connsiteX7" fmla="*/ 149257 w 363861"/>
                <a:gd name="connsiteY7" fmla="*/ 886408 h 4012163"/>
                <a:gd name="connsiteX8" fmla="*/ 167918 w 363861"/>
                <a:gd name="connsiteY8" fmla="*/ 1156995 h 4012163"/>
                <a:gd name="connsiteX9" fmla="*/ 261224 w 363861"/>
                <a:gd name="connsiteY9" fmla="*/ 1231640 h 4012163"/>
                <a:gd name="connsiteX10" fmla="*/ 270555 w 363861"/>
                <a:gd name="connsiteY10" fmla="*/ 1259632 h 4012163"/>
                <a:gd name="connsiteX11" fmla="*/ 307877 w 363861"/>
                <a:gd name="connsiteY11" fmla="*/ 1380930 h 4012163"/>
                <a:gd name="connsiteX12" fmla="*/ 326539 w 363861"/>
                <a:gd name="connsiteY12" fmla="*/ 1427583 h 4012163"/>
                <a:gd name="connsiteX13" fmla="*/ 363861 w 363861"/>
                <a:gd name="connsiteY13" fmla="*/ 1548881 h 4012163"/>
                <a:gd name="connsiteX14" fmla="*/ 326539 w 363861"/>
                <a:gd name="connsiteY14" fmla="*/ 1735493 h 4012163"/>
                <a:gd name="connsiteX15" fmla="*/ 111935 w 363861"/>
                <a:gd name="connsiteY15" fmla="*/ 1968759 h 4012163"/>
                <a:gd name="connsiteX16" fmla="*/ 37290 w 363861"/>
                <a:gd name="connsiteY16" fmla="*/ 2099387 h 4012163"/>
                <a:gd name="connsiteX17" fmla="*/ 18628 w 363861"/>
                <a:gd name="connsiteY17" fmla="*/ 2612571 h 4012163"/>
                <a:gd name="connsiteX18" fmla="*/ 37290 w 363861"/>
                <a:gd name="connsiteY18" fmla="*/ 2649893 h 4012163"/>
                <a:gd name="connsiteX19" fmla="*/ 27959 w 363861"/>
                <a:gd name="connsiteY19" fmla="*/ 2799183 h 4012163"/>
                <a:gd name="connsiteX20" fmla="*/ 37290 w 363861"/>
                <a:gd name="connsiteY20" fmla="*/ 3069771 h 4012163"/>
                <a:gd name="connsiteX21" fmla="*/ 111935 w 363861"/>
                <a:gd name="connsiteY21" fmla="*/ 3275044 h 4012163"/>
                <a:gd name="connsiteX22" fmla="*/ 130596 w 363861"/>
                <a:gd name="connsiteY22" fmla="*/ 3312367 h 4012163"/>
                <a:gd name="connsiteX23" fmla="*/ 205241 w 363861"/>
                <a:gd name="connsiteY23" fmla="*/ 3536302 h 4012163"/>
                <a:gd name="connsiteX24" fmla="*/ 261224 w 363861"/>
                <a:gd name="connsiteY24" fmla="*/ 3676261 h 4012163"/>
                <a:gd name="connsiteX25" fmla="*/ 289216 w 363861"/>
                <a:gd name="connsiteY25" fmla="*/ 3760236 h 4012163"/>
                <a:gd name="connsiteX26" fmla="*/ 307877 w 363861"/>
                <a:gd name="connsiteY26" fmla="*/ 3788228 h 4012163"/>
                <a:gd name="connsiteX27" fmla="*/ 317208 w 363861"/>
                <a:gd name="connsiteY27" fmla="*/ 3956179 h 4012163"/>
                <a:gd name="connsiteX28" fmla="*/ 326539 w 363861"/>
                <a:gd name="connsiteY28" fmla="*/ 4012163 h 4012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63861" h="4012163">
                  <a:moveTo>
                    <a:pt x="354530" y="0"/>
                  </a:moveTo>
                  <a:cubicBezTo>
                    <a:pt x="348310" y="146179"/>
                    <a:pt x="347090" y="292657"/>
                    <a:pt x="335869" y="438538"/>
                  </a:cubicBezTo>
                  <a:cubicBezTo>
                    <a:pt x="334584" y="455238"/>
                    <a:pt x="322252" y="469220"/>
                    <a:pt x="317208" y="485191"/>
                  </a:cubicBezTo>
                  <a:cubicBezTo>
                    <a:pt x="303571" y="528374"/>
                    <a:pt x="295117" y="573173"/>
                    <a:pt x="279886" y="615820"/>
                  </a:cubicBezTo>
                  <a:cubicBezTo>
                    <a:pt x="234567" y="742714"/>
                    <a:pt x="252981" y="717369"/>
                    <a:pt x="195910" y="774440"/>
                  </a:cubicBezTo>
                  <a:cubicBezTo>
                    <a:pt x="189690" y="786881"/>
                    <a:pt x="182728" y="798978"/>
                    <a:pt x="177249" y="811763"/>
                  </a:cubicBezTo>
                  <a:cubicBezTo>
                    <a:pt x="173375" y="820803"/>
                    <a:pt x="171371" y="830546"/>
                    <a:pt x="167918" y="839755"/>
                  </a:cubicBezTo>
                  <a:cubicBezTo>
                    <a:pt x="162037" y="855437"/>
                    <a:pt x="155477" y="870857"/>
                    <a:pt x="149257" y="886408"/>
                  </a:cubicBezTo>
                  <a:cubicBezTo>
                    <a:pt x="155477" y="976604"/>
                    <a:pt x="147772" y="1068858"/>
                    <a:pt x="167918" y="1156995"/>
                  </a:cubicBezTo>
                  <a:cubicBezTo>
                    <a:pt x="176411" y="1194151"/>
                    <a:pt x="230510" y="1216283"/>
                    <a:pt x="261224" y="1231640"/>
                  </a:cubicBezTo>
                  <a:cubicBezTo>
                    <a:pt x="264334" y="1240971"/>
                    <a:pt x="267729" y="1250211"/>
                    <a:pt x="270555" y="1259632"/>
                  </a:cubicBezTo>
                  <a:cubicBezTo>
                    <a:pt x="288755" y="1320299"/>
                    <a:pt x="287151" y="1323934"/>
                    <a:pt x="307877" y="1380930"/>
                  </a:cubicBezTo>
                  <a:cubicBezTo>
                    <a:pt x="313601" y="1396671"/>
                    <a:pt x="321613" y="1411575"/>
                    <a:pt x="326539" y="1427583"/>
                  </a:cubicBezTo>
                  <a:cubicBezTo>
                    <a:pt x="371991" y="1575299"/>
                    <a:pt x="320832" y="1441308"/>
                    <a:pt x="363861" y="1548881"/>
                  </a:cubicBezTo>
                  <a:cubicBezTo>
                    <a:pt x="360904" y="1572537"/>
                    <a:pt x="362794" y="1691987"/>
                    <a:pt x="326539" y="1735493"/>
                  </a:cubicBezTo>
                  <a:cubicBezTo>
                    <a:pt x="241771" y="1837215"/>
                    <a:pt x="195546" y="1829409"/>
                    <a:pt x="111935" y="1968759"/>
                  </a:cubicBezTo>
                  <a:cubicBezTo>
                    <a:pt x="48795" y="2073992"/>
                    <a:pt x="72172" y="2029623"/>
                    <a:pt x="37290" y="2099387"/>
                  </a:cubicBezTo>
                  <a:cubicBezTo>
                    <a:pt x="-12621" y="2332304"/>
                    <a:pt x="-5559" y="2249765"/>
                    <a:pt x="18628" y="2612571"/>
                  </a:cubicBezTo>
                  <a:cubicBezTo>
                    <a:pt x="19553" y="2626449"/>
                    <a:pt x="31069" y="2637452"/>
                    <a:pt x="37290" y="2649893"/>
                  </a:cubicBezTo>
                  <a:cubicBezTo>
                    <a:pt x="67541" y="2891916"/>
                    <a:pt x="34557" y="2555044"/>
                    <a:pt x="27959" y="2799183"/>
                  </a:cubicBezTo>
                  <a:cubicBezTo>
                    <a:pt x="25521" y="2889400"/>
                    <a:pt x="26365" y="2980185"/>
                    <a:pt x="37290" y="3069771"/>
                  </a:cubicBezTo>
                  <a:cubicBezTo>
                    <a:pt x="41003" y="3100215"/>
                    <a:pt x="97638" y="3241684"/>
                    <a:pt x="111935" y="3275044"/>
                  </a:cubicBezTo>
                  <a:cubicBezTo>
                    <a:pt x="117414" y="3287829"/>
                    <a:pt x="125918" y="3299268"/>
                    <a:pt x="130596" y="3312367"/>
                  </a:cubicBezTo>
                  <a:cubicBezTo>
                    <a:pt x="157060" y="3386466"/>
                    <a:pt x="178657" y="3462246"/>
                    <a:pt x="205241" y="3536302"/>
                  </a:cubicBezTo>
                  <a:cubicBezTo>
                    <a:pt x="222218" y="3583594"/>
                    <a:pt x="249037" y="3627515"/>
                    <a:pt x="261224" y="3676261"/>
                  </a:cubicBezTo>
                  <a:cubicBezTo>
                    <a:pt x="270133" y="3711897"/>
                    <a:pt x="271649" y="3725102"/>
                    <a:pt x="289216" y="3760236"/>
                  </a:cubicBezTo>
                  <a:cubicBezTo>
                    <a:pt x="294231" y="3770266"/>
                    <a:pt x="301657" y="3778897"/>
                    <a:pt x="307877" y="3788228"/>
                  </a:cubicBezTo>
                  <a:cubicBezTo>
                    <a:pt x="310987" y="3844212"/>
                    <a:pt x="311892" y="3900362"/>
                    <a:pt x="317208" y="3956179"/>
                  </a:cubicBezTo>
                  <a:cubicBezTo>
                    <a:pt x="329490" y="4085132"/>
                    <a:pt x="326539" y="3886954"/>
                    <a:pt x="326539" y="4012163"/>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reeform: Shape 40">
              <a:extLst>
                <a:ext uri="{FF2B5EF4-FFF2-40B4-BE49-F238E27FC236}">
                  <a16:creationId xmlns:a16="http://schemas.microsoft.com/office/drawing/2014/main" id="{0DC2E629-3116-C895-32BA-0923468C71B2}"/>
                </a:ext>
              </a:extLst>
            </p:cNvPr>
            <p:cNvSpPr/>
            <p:nvPr/>
          </p:nvSpPr>
          <p:spPr>
            <a:xfrm>
              <a:off x="8797822" y="1722463"/>
              <a:ext cx="195942" cy="4264090"/>
            </a:xfrm>
            <a:custGeom>
              <a:avLst/>
              <a:gdLst>
                <a:gd name="connsiteX0" fmla="*/ 195942 w 195942"/>
                <a:gd name="connsiteY0" fmla="*/ 0 h 4264090"/>
                <a:gd name="connsiteX1" fmla="*/ 186612 w 195942"/>
                <a:gd name="connsiteY1" fmla="*/ 233266 h 4264090"/>
                <a:gd name="connsiteX2" fmla="*/ 177281 w 195942"/>
                <a:gd name="connsiteY2" fmla="*/ 261257 h 4264090"/>
                <a:gd name="connsiteX3" fmla="*/ 149289 w 195942"/>
                <a:gd name="connsiteY3" fmla="*/ 895739 h 4264090"/>
                <a:gd name="connsiteX4" fmla="*/ 130628 w 195942"/>
                <a:gd name="connsiteY4" fmla="*/ 961053 h 4264090"/>
                <a:gd name="connsiteX5" fmla="*/ 93306 w 195942"/>
                <a:gd name="connsiteY5" fmla="*/ 1073021 h 4264090"/>
                <a:gd name="connsiteX6" fmla="*/ 74645 w 195942"/>
                <a:gd name="connsiteY6" fmla="*/ 1166327 h 4264090"/>
                <a:gd name="connsiteX7" fmla="*/ 65314 w 195942"/>
                <a:gd name="connsiteY7" fmla="*/ 1194319 h 4264090"/>
                <a:gd name="connsiteX8" fmla="*/ 37322 w 195942"/>
                <a:gd name="connsiteY8" fmla="*/ 1371600 h 4264090"/>
                <a:gd name="connsiteX9" fmla="*/ 9330 w 195942"/>
                <a:gd name="connsiteY9" fmla="*/ 1502229 h 4264090"/>
                <a:gd name="connsiteX10" fmla="*/ 27991 w 195942"/>
                <a:gd name="connsiteY10" fmla="*/ 1670180 h 4264090"/>
                <a:gd name="connsiteX11" fmla="*/ 37322 w 195942"/>
                <a:gd name="connsiteY11" fmla="*/ 1698172 h 4264090"/>
                <a:gd name="connsiteX12" fmla="*/ 46653 w 195942"/>
                <a:gd name="connsiteY12" fmla="*/ 1810139 h 4264090"/>
                <a:gd name="connsiteX13" fmla="*/ 65314 w 195942"/>
                <a:gd name="connsiteY13" fmla="*/ 1847461 h 4264090"/>
                <a:gd name="connsiteX14" fmla="*/ 74645 w 195942"/>
                <a:gd name="connsiteY14" fmla="*/ 1884784 h 4264090"/>
                <a:gd name="connsiteX15" fmla="*/ 111967 w 195942"/>
                <a:gd name="connsiteY15" fmla="*/ 1968759 h 4264090"/>
                <a:gd name="connsiteX16" fmla="*/ 121298 w 195942"/>
                <a:gd name="connsiteY16" fmla="*/ 2006082 h 4264090"/>
                <a:gd name="connsiteX17" fmla="*/ 158620 w 195942"/>
                <a:gd name="connsiteY17" fmla="*/ 2062066 h 4264090"/>
                <a:gd name="connsiteX18" fmla="*/ 149289 w 195942"/>
                <a:gd name="connsiteY18" fmla="*/ 2453951 h 4264090"/>
                <a:gd name="connsiteX19" fmla="*/ 130628 w 195942"/>
                <a:gd name="connsiteY19" fmla="*/ 2509935 h 4264090"/>
                <a:gd name="connsiteX20" fmla="*/ 111967 w 195942"/>
                <a:gd name="connsiteY20" fmla="*/ 2593910 h 4264090"/>
                <a:gd name="connsiteX21" fmla="*/ 93306 w 195942"/>
                <a:gd name="connsiteY21" fmla="*/ 2752531 h 4264090"/>
                <a:gd name="connsiteX22" fmla="*/ 83975 w 195942"/>
                <a:gd name="connsiteY22" fmla="*/ 2817845 h 4264090"/>
                <a:gd name="connsiteX23" fmla="*/ 18661 w 195942"/>
                <a:gd name="connsiteY23" fmla="*/ 3032449 h 4264090"/>
                <a:gd name="connsiteX24" fmla="*/ 0 w 195942"/>
                <a:gd name="connsiteY24" fmla="*/ 3144417 h 4264090"/>
                <a:gd name="connsiteX25" fmla="*/ 18661 w 195942"/>
                <a:gd name="connsiteY25" fmla="*/ 3265715 h 4264090"/>
                <a:gd name="connsiteX26" fmla="*/ 27991 w 195942"/>
                <a:gd name="connsiteY26" fmla="*/ 3303037 h 4264090"/>
                <a:gd name="connsiteX27" fmla="*/ 46653 w 195942"/>
                <a:gd name="connsiteY27" fmla="*/ 3331029 h 4264090"/>
                <a:gd name="connsiteX28" fmla="*/ 55983 w 195942"/>
                <a:gd name="connsiteY28" fmla="*/ 3359021 h 4264090"/>
                <a:gd name="connsiteX29" fmla="*/ 74645 w 195942"/>
                <a:gd name="connsiteY29" fmla="*/ 3424335 h 4264090"/>
                <a:gd name="connsiteX30" fmla="*/ 121298 w 195942"/>
                <a:gd name="connsiteY30" fmla="*/ 3536302 h 4264090"/>
                <a:gd name="connsiteX31" fmla="*/ 149289 w 195942"/>
                <a:gd name="connsiteY31" fmla="*/ 3573625 h 4264090"/>
                <a:gd name="connsiteX32" fmla="*/ 186612 w 195942"/>
                <a:gd name="connsiteY32" fmla="*/ 3694923 h 4264090"/>
                <a:gd name="connsiteX33" fmla="*/ 177281 w 195942"/>
                <a:gd name="connsiteY33" fmla="*/ 4264090 h 42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5942" h="4264090">
                  <a:moveTo>
                    <a:pt x="195942" y="0"/>
                  </a:moveTo>
                  <a:cubicBezTo>
                    <a:pt x="192832" y="77755"/>
                    <a:pt x="192156" y="155646"/>
                    <a:pt x="186612" y="233266"/>
                  </a:cubicBezTo>
                  <a:cubicBezTo>
                    <a:pt x="185911" y="243076"/>
                    <a:pt x="177834" y="251437"/>
                    <a:pt x="177281" y="261257"/>
                  </a:cubicBezTo>
                  <a:cubicBezTo>
                    <a:pt x="165373" y="472622"/>
                    <a:pt x="163371" y="684508"/>
                    <a:pt x="149289" y="895739"/>
                  </a:cubicBezTo>
                  <a:cubicBezTo>
                    <a:pt x="147783" y="918331"/>
                    <a:pt x="137446" y="939461"/>
                    <a:pt x="130628" y="961053"/>
                  </a:cubicBezTo>
                  <a:cubicBezTo>
                    <a:pt x="118781" y="998568"/>
                    <a:pt x="102848" y="1034854"/>
                    <a:pt x="93306" y="1073021"/>
                  </a:cubicBezTo>
                  <a:cubicBezTo>
                    <a:pt x="56136" y="1221695"/>
                    <a:pt x="120385" y="960494"/>
                    <a:pt x="74645" y="1166327"/>
                  </a:cubicBezTo>
                  <a:cubicBezTo>
                    <a:pt x="72511" y="1175928"/>
                    <a:pt x="68424" y="1184988"/>
                    <a:pt x="65314" y="1194319"/>
                  </a:cubicBezTo>
                  <a:cubicBezTo>
                    <a:pt x="43323" y="1370236"/>
                    <a:pt x="72043" y="1151701"/>
                    <a:pt x="37322" y="1371600"/>
                  </a:cubicBezTo>
                  <a:cubicBezTo>
                    <a:pt x="19666" y="1483418"/>
                    <a:pt x="40537" y="1408607"/>
                    <a:pt x="9330" y="1502229"/>
                  </a:cubicBezTo>
                  <a:cubicBezTo>
                    <a:pt x="15550" y="1558213"/>
                    <a:pt x="20025" y="1614418"/>
                    <a:pt x="27991" y="1670180"/>
                  </a:cubicBezTo>
                  <a:cubicBezTo>
                    <a:pt x="29382" y="1679917"/>
                    <a:pt x="36022" y="1688423"/>
                    <a:pt x="37322" y="1698172"/>
                  </a:cubicBezTo>
                  <a:cubicBezTo>
                    <a:pt x="42272" y="1735295"/>
                    <a:pt x="39751" y="1773329"/>
                    <a:pt x="46653" y="1810139"/>
                  </a:cubicBezTo>
                  <a:cubicBezTo>
                    <a:pt x="49216" y="1823810"/>
                    <a:pt x="60430" y="1834438"/>
                    <a:pt x="65314" y="1847461"/>
                  </a:cubicBezTo>
                  <a:cubicBezTo>
                    <a:pt x="69817" y="1859468"/>
                    <a:pt x="70590" y="1872618"/>
                    <a:pt x="74645" y="1884784"/>
                  </a:cubicBezTo>
                  <a:cubicBezTo>
                    <a:pt x="125713" y="2037988"/>
                    <a:pt x="63193" y="1838696"/>
                    <a:pt x="111967" y="1968759"/>
                  </a:cubicBezTo>
                  <a:cubicBezTo>
                    <a:pt x="116470" y="1980766"/>
                    <a:pt x="115563" y="1994612"/>
                    <a:pt x="121298" y="2006082"/>
                  </a:cubicBezTo>
                  <a:cubicBezTo>
                    <a:pt x="131328" y="2026142"/>
                    <a:pt x="158620" y="2062066"/>
                    <a:pt x="158620" y="2062066"/>
                  </a:cubicBezTo>
                  <a:cubicBezTo>
                    <a:pt x="155510" y="2192694"/>
                    <a:pt x="157440" y="2323540"/>
                    <a:pt x="149289" y="2453951"/>
                  </a:cubicBezTo>
                  <a:cubicBezTo>
                    <a:pt x="148062" y="2473583"/>
                    <a:pt x="136280" y="2491094"/>
                    <a:pt x="130628" y="2509935"/>
                  </a:cubicBezTo>
                  <a:cubicBezTo>
                    <a:pt x="124764" y="2529482"/>
                    <a:pt x="114770" y="2575693"/>
                    <a:pt x="111967" y="2593910"/>
                  </a:cubicBezTo>
                  <a:cubicBezTo>
                    <a:pt x="104780" y="2640624"/>
                    <a:pt x="99073" y="2706394"/>
                    <a:pt x="93306" y="2752531"/>
                  </a:cubicBezTo>
                  <a:cubicBezTo>
                    <a:pt x="90578" y="2774354"/>
                    <a:pt x="88849" y="2796400"/>
                    <a:pt x="83975" y="2817845"/>
                  </a:cubicBezTo>
                  <a:cubicBezTo>
                    <a:pt x="56368" y="2939315"/>
                    <a:pt x="54491" y="2936902"/>
                    <a:pt x="18661" y="3032449"/>
                  </a:cubicBezTo>
                  <a:cubicBezTo>
                    <a:pt x="12441" y="3069772"/>
                    <a:pt x="0" y="3106580"/>
                    <a:pt x="0" y="3144417"/>
                  </a:cubicBezTo>
                  <a:cubicBezTo>
                    <a:pt x="0" y="3185325"/>
                    <a:pt x="11552" y="3225429"/>
                    <a:pt x="18661" y="3265715"/>
                  </a:cubicBezTo>
                  <a:cubicBezTo>
                    <a:pt x="20889" y="3278343"/>
                    <a:pt x="22940" y="3291250"/>
                    <a:pt x="27991" y="3303037"/>
                  </a:cubicBezTo>
                  <a:cubicBezTo>
                    <a:pt x="32409" y="3313344"/>
                    <a:pt x="40432" y="3321698"/>
                    <a:pt x="46653" y="3331029"/>
                  </a:cubicBezTo>
                  <a:cubicBezTo>
                    <a:pt x="49763" y="3340360"/>
                    <a:pt x="53157" y="3349600"/>
                    <a:pt x="55983" y="3359021"/>
                  </a:cubicBezTo>
                  <a:cubicBezTo>
                    <a:pt x="62489" y="3380709"/>
                    <a:pt x="66817" y="3403089"/>
                    <a:pt x="74645" y="3424335"/>
                  </a:cubicBezTo>
                  <a:cubicBezTo>
                    <a:pt x="88623" y="3462275"/>
                    <a:pt x="103216" y="3500138"/>
                    <a:pt x="121298" y="3536302"/>
                  </a:cubicBezTo>
                  <a:cubicBezTo>
                    <a:pt x="128253" y="3550211"/>
                    <a:pt x="139959" y="3561184"/>
                    <a:pt x="149289" y="3573625"/>
                  </a:cubicBezTo>
                  <a:cubicBezTo>
                    <a:pt x="170150" y="3677927"/>
                    <a:pt x="150357" y="3640540"/>
                    <a:pt x="186612" y="3694923"/>
                  </a:cubicBezTo>
                  <a:cubicBezTo>
                    <a:pt x="176878" y="4220544"/>
                    <a:pt x="177281" y="4030796"/>
                    <a:pt x="177281" y="4264090"/>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BBE8B8F3-BED3-5404-0C7D-0C53A9EB0D32}"/>
                    </a:ext>
                  </a:extLst>
                </p:cNvPr>
                <p:cNvSpPr txBox="1"/>
                <p:nvPr/>
              </p:nvSpPr>
              <p:spPr>
                <a:xfrm>
                  <a:off x="7007698" y="6118250"/>
                  <a:ext cx="43272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1" i="1">
                                <a:latin typeface="Cambria Math" panose="02040503050406030204" pitchFamily="18" charset="0"/>
                              </a:rPr>
                            </m:ctrlPr>
                          </m:sSubSupPr>
                          <m:e>
                            <m:r>
                              <a:rPr lang="en-US" b="1" i="1">
                                <a:latin typeface="Cambria Math" panose="02040503050406030204" pitchFamily="18" charset="0"/>
                              </a:rPr>
                              <m:t>𝒙</m:t>
                            </m:r>
                          </m:e>
                          <m:sub>
                            <m:r>
                              <a:rPr lang="en-US" b="1" i="1">
                                <a:latin typeface="Cambria Math" panose="02040503050406030204" pitchFamily="18" charset="0"/>
                              </a:rPr>
                              <m:t>𝟏</m:t>
                            </m:r>
                          </m:sub>
                          <m:sup>
                            <m:r>
                              <a:rPr lang="en-US" b="1" i="1">
                                <a:latin typeface="Cambria Math" panose="02040503050406030204" pitchFamily="18" charset="0"/>
                              </a:rPr>
                              <m:t>∗</m:t>
                            </m:r>
                          </m:sup>
                        </m:sSubSup>
                      </m:oMath>
                    </m:oMathPara>
                  </a14:m>
                  <a:endParaRPr lang="en-US" dirty="0"/>
                </a:p>
              </p:txBody>
            </p:sp>
          </mc:Choice>
          <mc:Fallback xmlns="">
            <p:sp>
              <p:nvSpPr>
                <p:cNvPr id="42" name="TextBox 41">
                  <a:extLst>
                    <a:ext uri="{FF2B5EF4-FFF2-40B4-BE49-F238E27FC236}">
                      <a16:creationId xmlns:a16="http://schemas.microsoft.com/office/drawing/2014/main" id="{BBE8B8F3-BED3-5404-0C7D-0C53A9EB0D32}"/>
                    </a:ext>
                  </a:extLst>
                </p:cNvPr>
                <p:cNvSpPr txBox="1">
                  <a:spLocks noRot="1" noChangeAspect="1" noMove="1" noResize="1" noEditPoints="1" noAdjustHandles="1" noChangeArrowheads="1" noChangeShapeType="1" noTextEdit="1"/>
                </p:cNvSpPr>
                <p:nvPr/>
              </p:nvSpPr>
              <p:spPr>
                <a:xfrm>
                  <a:off x="7007698" y="6118250"/>
                  <a:ext cx="432721" cy="369332"/>
                </a:xfrm>
                <a:prstGeom prst="rect">
                  <a:avLst/>
                </a:prstGeom>
                <a:blipFill>
                  <a:blip r:embed="rId6"/>
                  <a:stretch>
                    <a:fillRect r="-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72C90F3-2CA9-7C63-9FC9-B5BAACE5D403}"/>
                    </a:ext>
                  </a:extLst>
                </p:cNvPr>
                <p:cNvSpPr txBox="1"/>
                <p:nvPr/>
              </p:nvSpPr>
              <p:spPr>
                <a:xfrm>
                  <a:off x="8740868" y="6112157"/>
                  <a:ext cx="525252" cy="37542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b="1" i="1">
                                <a:latin typeface="Cambria Math" panose="02040503050406030204" pitchFamily="18" charset="0"/>
                              </a:rPr>
                            </m:ctrlPr>
                          </m:sSubSupPr>
                          <m:e>
                            <m:r>
                              <a:rPr lang="en-US" b="1" i="1">
                                <a:latin typeface="Cambria Math" panose="02040503050406030204" pitchFamily="18" charset="0"/>
                              </a:rPr>
                              <m:t>𝒙</m:t>
                            </m:r>
                          </m:e>
                          <m:sub>
                            <m:r>
                              <a:rPr lang="en-US" b="1" i="1">
                                <a:latin typeface="Cambria Math" panose="02040503050406030204" pitchFamily="18" charset="0"/>
                              </a:rPr>
                              <m:t>𝟑</m:t>
                            </m:r>
                          </m:sub>
                          <m:sup>
                            <m:r>
                              <a:rPr lang="en-US" b="1" i="1">
                                <a:latin typeface="Cambria Math" panose="02040503050406030204" pitchFamily="18" charset="0"/>
                              </a:rPr>
                              <m:t>∗</m:t>
                            </m:r>
                          </m:sup>
                        </m:sSubSup>
                      </m:oMath>
                    </m:oMathPara>
                  </a14:m>
                  <a:endParaRPr lang="en-US" dirty="0"/>
                </a:p>
              </p:txBody>
            </p:sp>
          </mc:Choice>
          <mc:Fallback xmlns="">
            <p:sp>
              <p:nvSpPr>
                <p:cNvPr id="44" name="TextBox 43">
                  <a:extLst>
                    <a:ext uri="{FF2B5EF4-FFF2-40B4-BE49-F238E27FC236}">
                      <a16:creationId xmlns:a16="http://schemas.microsoft.com/office/drawing/2014/main" id="{E72C90F3-2CA9-7C63-9FC9-B5BAACE5D403}"/>
                    </a:ext>
                  </a:extLst>
                </p:cNvPr>
                <p:cNvSpPr txBox="1">
                  <a:spLocks noRot="1" noChangeAspect="1" noMove="1" noResize="1" noEditPoints="1" noAdjustHandles="1" noChangeArrowheads="1" noChangeShapeType="1" noTextEdit="1"/>
                </p:cNvSpPr>
                <p:nvPr/>
              </p:nvSpPr>
              <p:spPr>
                <a:xfrm>
                  <a:off x="8740868" y="6112157"/>
                  <a:ext cx="525252" cy="375424"/>
                </a:xfrm>
                <a:prstGeom prst="rect">
                  <a:avLst/>
                </a:prstGeom>
                <a:blipFill>
                  <a:blip r:embed="rId7"/>
                  <a:stretch>
                    <a:fillRect/>
                  </a:stretch>
                </a:blipFill>
              </p:spPr>
              <p:txBody>
                <a:bodyPr/>
                <a:lstStyle/>
                <a:p>
                  <a:r>
                    <a:rPr lang="en-US">
                      <a:noFill/>
                    </a:rPr>
                    <a:t> </a:t>
                  </a:r>
                </a:p>
              </p:txBody>
            </p:sp>
          </mc:Fallback>
        </mc:AlternateContent>
      </p:grpSp>
      <p:cxnSp>
        <p:nvCxnSpPr>
          <p:cNvPr id="45" name="Straight Connector 44">
            <a:extLst>
              <a:ext uri="{FF2B5EF4-FFF2-40B4-BE49-F238E27FC236}">
                <a16:creationId xmlns:a16="http://schemas.microsoft.com/office/drawing/2014/main" id="{4E915357-A2E0-A6A2-0F7F-D2BB5E761170}"/>
              </a:ext>
            </a:extLst>
          </p:cNvPr>
          <p:cNvCxnSpPr/>
          <p:nvPr/>
        </p:nvCxnSpPr>
        <p:spPr>
          <a:xfrm>
            <a:off x="8869710" y="1544204"/>
            <a:ext cx="0" cy="441319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77A947D-96E8-1F35-5602-16868FA1980E}"/>
              </a:ext>
            </a:extLst>
          </p:cNvPr>
          <p:cNvSpPr/>
          <p:nvPr/>
        </p:nvSpPr>
        <p:spPr>
          <a:xfrm>
            <a:off x="8602762" y="1614196"/>
            <a:ext cx="205336" cy="4516016"/>
          </a:xfrm>
          <a:custGeom>
            <a:avLst/>
            <a:gdLst>
              <a:gd name="connsiteX0" fmla="*/ 205336 w 205336"/>
              <a:gd name="connsiteY0" fmla="*/ 0 h 4516016"/>
              <a:gd name="connsiteX1" fmla="*/ 186675 w 205336"/>
              <a:gd name="connsiteY1" fmla="*/ 354563 h 4516016"/>
              <a:gd name="connsiteX2" fmla="*/ 177344 w 205336"/>
              <a:gd name="connsiteY2" fmla="*/ 662473 h 4516016"/>
              <a:gd name="connsiteX3" fmla="*/ 158683 w 205336"/>
              <a:gd name="connsiteY3" fmla="*/ 746449 h 4516016"/>
              <a:gd name="connsiteX4" fmla="*/ 140022 w 205336"/>
              <a:gd name="connsiteY4" fmla="*/ 1054359 h 4516016"/>
              <a:gd name="connsiteX5" fmla="*/ 130691 w 205336"/>
              <a:gd name="connsiteY5" fmla="*/ 1184988 h 4516016"/>
              <a:gd name="connsiteX6" fmla="*/ 121360 w 205336"/>
              <a:gd name="connsiteY6" fmla="*/ 1222310 h 4516016"/>
              <a:gd name="connsiteX7" fmla="*/ 102699 w 205336"/>
              <a:gd name="connsiteY7" fmla="*/ 1306286 h 4516016"/>
              <a:gd name="connsiteX8" fmla="*/ 102699 w 205336"/>
              <a:gd name="connsiteY8" fmla="*/ 1558212 h 4516016"/>
              <a:gd name="connsiteX9" fmla="*/ 112030 w 205336"/>
              <a:gd name="connsiteY9" fmla="*/ 1632857 h 4516016"/>
              <a:gd name="connsiteX10" fmla="*/ 130691 w 205336"/>
              <a:gd name="connsiteY10" fmla="*/ 1698171 h 4516016"/>
              <a:gd name="connsiteX11" fmla="*/ 140022 w 205336"/>
              <a:gd name="connsiteY11" fmla="*/ 1772816 h 4516016"/>
              <a:gd name="connsiteX12" fmla="*/ 149352 w 205336"/>
              <a:gd name="connsiteY12" fmla="*/ 1810139 h 4516016"/>
              <a:gd name="connsiteX13" fmla="*/ 121360 w 205336"/>
              <a:gd name="connsiteY13" fmla="*/ 2146041 h 4516016"/>
              <a:gd name="connsiteX14" fmla="*/ 84038 w 205336"/>
              <a:gd name="connsiteY14" fmla="*/ 2202024 h 4516016"/>
              <a:gd name="connsiteX15" fmla="*/ 28054 w 205336"/>
              <a:gd name="connsiteY15" fmla="*/ 2360645 h 4516016"/>
              <a:gd name="connsiteX16" fmla="*/ 18724 w 205336"/>
              <a:gd name="connsiteY16" fmla="*/ 2397967 h 4516016"/>
              <a:gd name="connsiteX17" fmla="*/ 28054 w 205336"/>
              <a:gd name="connsiteY17" fmla="*/ 2817845 h 4516016"/>
              <a:gd name="connsiteX18" fmla="*/ 62 w 205336"/>
              <a:gd name="connsiteY18" fmla="*/ 2929812 h 4516016"/>
              <a:gd name="connsiteX19" fmla="*/ 9393 w 205336"/>
              <a:gd name="connsiteY19" fmla="*/ 3200400 h 4516016"/>
              <a:gd name="connsiteX20" fmla="*/ 18724 w 205336"/>
              <a:gd name="connsiteY20" fmla="*/ 3256384 h 4516016"/>
              <a:gd name="connsiteX21" fmla="*/ 46716 w 205336"/>
              <a:gd name="connsiteY21" fmla="*/ 3331028 h 4516016"/>
              <a:gd name="connsiteX22" fmla="*/ 65377 w 205336"/>
              <a:gd name="connsiteY22" fmla="*/ 3424335 h 4516016"/>
              <a:gd name="connsiteX23" fmla="*/ 74707 w 205336"/>
              <a:gd name="connsiteY23" fmla="*/ 3498980 h 4516016"/>
              <a:gd name="connsiteX24" fmla="*/ 84038 w 205336"/>
              <a:gd name="connsiteY24" fmla="*/ 3592286 h 4516016"/>
              <a:gd name="connsiteX25" fmla="*/ 102699 w 205336"/>
              <a:gd name="connsiteY25" fmla="*/ 3666931 h 4516016"/>
              <a:gd name="connsiteX26" fmla="*/ 168014 w 205336"/>
              <a:gd name="connsiteY26" fmla="*/ 3853543 h 4516016"/>
              <a:gd name="connsiteX27" fmla="*/ 196005 w 205336"/>
              <a:gd name="connsiteY27" fmla="*/ 3946849 h 4516016"/>
              <a:gd name="connsiteX28" fmla="*/ 196005 w 205336"/>
              <a:gd name="connsiteY28" fmla="*/ 4516016 h 451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5336" h="4516016">
                <a:moveTo>
                  <a:pt x="205336" y="0"/>
                </a:moveTo>
                <a:cubicBezTo>
                  <a:pt x="192703" y="176859"/>
                  <a:pt x="194364" y="135426"/>
                  <a:pt x="186675" y="354563"/>
                </a:cubicBezTo>
                <a:cubicBezTo>
                  <a:pt x="183074" y="457184"/>
                  <a:pt x="182741" y="559931"/>
                  <a:pt x="177344" y="662473"/>
                </a:cubicBezTo>
                <a:cubicBezTo>
                  <a:pt x="176554" y="677483"/>
                  <a:pt x="162921" y="729496"/>
                  <a:pt x="158683" y="746449"/>
                </a:cubicBezTo>
                <a:cubicBezTo>
                  <a:pt x="141142" y="1149876"/>
                  <a:pt x="159468" y="821010"/>
                  <a:pt x="140022" y="1054359"/>
                </a:cubicBezTo>
                <a:cubicBezTo>
                  <a:pt x="136397" y="1097862"/>
                  <a:pt x="135512" y="1141601"/>
                  <a:pt x="130691" y="1184988"/>
                </a:cubicBezTo>
                <a:cubicBezTo>
                  <a:pt x="129275" y="1197733"/>
                  <a:pt x="123875" y="1209735"/>
                  <a:pt x="121360" y="1222310"/>
                </a:cubicBezTo>
                <a:cubicBezTo>
                  <a:pt x="104938" y="1304420"/>
                  <a:pt x="120859" y="1251807"/>
                  <a:pt x="102699" y="1306286"/>
                </a:cubicBezTo>
                <a:cubicBezTo>
                  <a:pt x="83558" y="1421136"/>
                  <a:pt x="89225" y="1362838"/>
                  <a:pt x="102699" y="1558212"/>
                </a:cubicBezTo>
                <a:cubicBezTo>
                  <a:pt x="104424" y="1583228"/>
                  <a:pt x="107908" y="1608123"/>
                  <a:pt x="112030" y="1632857"/>
                </a:cubicBezTo>
                <a:cubicBezTo>
                  <a:pt x="115937" y="1656298"/>
                  <a:pt x="123293" y="1675979"/>
                  <a:pt x="130691" y="1698171"/>
                </a:cubicBezTo>
                <a:cubicBezTo>
                  <a:pt x="133801" y="1723053"/>
                  <a:pt x="135900" y="1748082"/>
                  <a:pt x="140022" y="1772816"/>
                </a:cubicBezTo>
                <a:cubicBezTo>
                  <a:pt x="142130" y="1785465"/>
                  <a:pt x="149992" y="1797331"/>
                  <a:pt x="149352" y="1810139"/>
                </a:cubicBezTo>
                <a:cubicBezTo>
                  <a:pt x="143741" y="1922354"/>
                  <a:pt x="132823" y="2034272"/>
                  <a:pt x="121360" y="2146041"/>
                </a:cubicBezTo>
                <a:cubicBezTo>
                  <a:pt x="118273" y="2176136"/>
                  <a:pt x="105011" y="2181052"/>
                  <a:pt x="84038" y="2202024"/>
                </a:cubicBezTo>
                <a:cubicBezTo>
                  <a:pt x="65377" y="2254898"/>
                  <a:pt x="45785" y="2307452"/>
                  <a:pt x="28054" y="2360645"/>
                </a:cubicBezTo>
                <a:cubicBezTo>
                  <a:pt x="23999" y="2372810"/>
                  <a:pt x="18724" y="2385143"/>
                  <a:pt x="18724" y="2397967"/>
                </a:cubicBezTo>
                <a:cubicBezTo>
                  <a:pt x="18724" y="2537961"/>
                  <a:pt x="24944" y="2677886"/>
                  <a:pt x="28054" y="2817845"/>
                </a:cubicBezTo>
                <a:cubicBezTo>
                  <a:pt x="18723" y="2855167"/>
                  <a:pt x="-1264" y="2891364"/>
                  <a:pt x="62" y="2929812"/>
                </a:cubicBezTo>
                <a:cubicBezTo>
                  <a:pt x="3172" y="3020008"/>
                  <a:pt x="4244" y="3110297"/>
                  <a:pt x="9393" y="3200400"/>
                </a:cubicBezTo>
                <a:cubicBezTo>
                  <a:pt x="10472" y="3219288"/>
                  <a:pt x="13746" y="3238132"/>
                  <a:pt x="18724" y="3256384"/>
                </a:cubicBezTo>
                <a:cubicBezTo>
                  <a:pt x="30256" y="3298669"/>
                  <a:pt x="38419" y="3295075"/>
                  <a:pt x="46716" y="3331028"/>
                </a:cubicBezTo>
                <a:cubicBezTo>
                  <a:pt x="53848" y="3361934"/>
                  <a:pt x="60163" y="3393048"/>
                  <a:pt x="65377" y="3424335"/>
                </a:cubicBezTo>
                <a:cubicBezTo>
                  <a:pt x="69499" y="3449069"/>
                  <a:pt x="71938" y="3474058"/>
                  <a:pt x="74707" y="3498980"/>
                </a:cubicBezTo>
                <a:cubicBezTo>
                  <a:pt x="78159" y="3530046"/>
                  <a:pt x="78899" y="3561454"/>
                  <a:pt x="84038" y="3592286"/>
                </a:cubicBezTo>
                <a:cubicBezTo>
                  <a:pt x="88254" y="3617584"/>
                  <a:pt x="92835" y="3643256"/>
                  <a:pt x="102699" y="3666931"/>
                </a:cubicBezTo>
                <a:cubicBezTo>
                  <a:pt x="179614" y="3851526"/>
                  <a:pt x="126607" y="3708620"/>
                  <a:pt x="168014" y="3853543"/>
                </a:cubicBezTo>
                <a:cubicBezTo>
                  <a:pt x="169462" y="3858612"/>
                  <a:pt x="195770" y="3931567"/>
                  <a:pt x="196005" y="3946849"/>
                </a:cubicBezTo>
                <a:cubicBezTo>
                  <a:pt x="198923" y="4136549"/>
                  <a:pt x="196005" y="4326294"/>
                  <a:pt x="196005" y="4516016"/>
                </a:cubicBezTo>
              </a:path>
            </a:pathLst>
          </a:cu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C000"/>
                </a:solidFill>
              </a:ln>
              <a:solidFill>
                <a:srgbClr val="FFC000"/>
              </a:solidFill>
            </a:endParaRP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FBB292BF-B53C-17C7-24D9-DF579D08853F}"/>
                  </a:ext>
                </a:extLst>
              </p:cNvPr>
              <p:cNvSpPr txBox="1"/>
              <p:nvPr/>
            </p:nvSpPr>
            <p:spPr>
              <a:xfrm>
                <a:off x="8659201" y="6046317"/>
                <a:ext cx="24434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𝒙</m:t>
                      </m:r>
                    </m:oMath>
                  </m:oMathPara>
                </a14:m>
                <a:endParaRPr lang="en-US" sz="2000" b="1" dirty="0"/>
              </a:p>
            </p:txBody>
          </p:sp>
        </mc:Choice>
        <mc:Fallback xmlns="">
          <p:sp>
            <p:nvSpPr>
              <p:cNvPr id="48" name="TextBox 47">
                <a:extLst>
                  <a:ext uri="{FF2B5EF4-FFF2-40B4-BE49-F238E27FC236}">
                    <a16:creationId xmlns:a16="http://schemas.microsoft.com/office/drawing/2014/main" id="{FBB292BF-B53C-17C7-24D9-DF579D08853F}"/>
                  </a:ext>
                </a:extLst>
              </p:cNvPr>
              <p:cNvSpPr txBox="1">
                <a:spLocks noRot="1" noChangeAspect="1" noMove="1" noResize="1" noEditPoints="1" noAdjustHandles="1" noChangeArrowheads="1" noChangeShapeType="1" noTextEdit="1"/>
              </p:cNvSpPr>
              <p:nvPr/>
            </p:nvSpPr>
            <p:spPr>
              <a:xfrm>
                <a:off x="8659201" y="6046317"/>
                <a:ext cx="244340" cy="400110"/>
              </a:xfrm>
              <a:prstGeom prst="rect">
                <a:avLst/>
              </a:prstGeom>
              <a:blipFill>
                <a:blip r:embed="rId8"/>
                <a:stretch>
                  <a:fillRect r="-21951"/>
                </a:stretch>
              </a:blipFill>
            </p:spPr>
            <p:txBody>
              <a:bodyPr/>
              <a:lstStyle/>
              <a:p>
                <a:r>
                  <a:rPr lang="en-US">
                    <a:noFill/>
                  </a:rPr>
                  <a:t> </a:t>
                </a:r>
              </a:p>
            </p:txBody>
          </p:sp>
        </mc:Fallback>
      </mc:AlternateContent>
      <p:sp>
        <p:nvSpPr>
          <p:cNvPr id="49" name="Rectangle 48">
            <a:extLst>
              <a:ext uri="{FF2B5EF4-FFF2-40B4-BE49-F238E27FC236}">
                <a16:creationId xmlns:a16="http://schemas.microsoft.com/office/drawing/2014/main" id="{09330A03-BF16-5029-BFBB-0E71D4EE9380}"/>
              </a:ext>
            </a:extLst>
          </p:cNvPr>
          <p:cNvSpPr/>
          <p:nvPr/>
        </p:nvSpPr>
        <p:spPr>
          <a:xfrm>
            <a:off x="8624891" y="5957395"/>
            <a:ext cx="384105" cy="1812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solidFill>
                <a:schemeClr val="bg1"/>
              </a:solidFill>
            </a:endParaRPr>
          </a:p>
        </p:txBody>
      </p:sp>
      <p:sp>
        <p:nvSpPr>
          <p:cNvPr id="51" name="Rectangle 50">
            <a:extLst>
              <a:ext uri="{FF2B5EF4-FFF2-40B4-BE49-F238E27FC236}">
                <a16:creationId xmlns:a16="http://schemas.microsoft.com/office/drawing/2014/main" id="{05C18CE4-0E01-E50C-28F1-B569DB6D1933}"/>
              </a:ext>
            </a:extLst>
          </p:cNvPr>
          <p:cNvSpPr/>
          <p:nvPr/>
        </p:nvSpPr>
        <p:spPr>
          <a:xfrm>
            <a:off x="8694867" y="6121828"/>
            <a:ext cx="245254" cy="301613"/>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9B0087FA-FAB4-D3A7-1D43-C6ABE5FC9895}"/>
              </a:ext>
            </a:extLst>
          </p:cNvPr>
          <p:cNvSpPr/>
          <p:nvPr/>
        </p:nvSpPr>
        <p:spPr>
          <a:xfrm>
            <a:off x="2880908" y="4385436"/>
            <a:ext cx="245254" cy="301613"/>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69B99F2-2065-C496-526B-FC8A79CAFD63}"/>
                  </a:ext>
                </a:extLst>
              </p:cNvPr>
              <p:cNvSpPr txBox="1"/>
              <p:nvPr/>
            </p:nvSpPr>
            <p:spPr>
              <a:xfrm>
                <a:off x="7146886" y="3040141"/>
                <a:ext cx="1599075"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𝑃</m:t>
                      </m:r>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𝜃</m:t>
                      </m:r>
                      <m:r>
                        <a:rPr lang="en-US" b="0" i="1" smtClean="0">
                          <a:solidFill>
                            <a:srgbClr val="0070C0"/>
                          </a:solidFill>
                          <a:latin typeface="Cambria Math" panose="02040503050406030204" pitchFamily="18" charset="0"/>
                        </a:rPr>
                        <m:t>|</m:t>
                      </m:r>
                      <m:sSup>
                        <m:sSupPr>
                          <m:ctrlPr>
                            <a:rPr lang="en-US" b="0" i="1" smtClean="0">
                              <a:solidFill>
                                <a:srgbClr val="0070C0"/>
                              </a:solidFill>
                              <a:latin typeface="Cambria Math" panose="02040503050406030204" pitchFamily="18" charset="0"/>
                            </a:rPr>
                          </m:ctrlPr>
                        </m:sSupPr>
                        <m:e>
                          <m:r>
                            <a:rPr lang="en-US" b="0" i="1" smtClean="0">
                              <a:solidFill>
                                <a:srgbClr val="0070C0"/>
                              </a:solidFill>
                              <a:latin typeface="Cambria Math" panose="02040503050406030204" pitchFamily="18" charset="0"/>
                            </a:rPr>
                            <m:t>𝑋</m:t>
                          </m:r>
                        </m:e>
                        <m:sup>
                          <m:r>
                            <a:rPr lang="en-US" b="0" i="1" smtClean="0">
                              <a:solidFill>
                                <a:srgbClr val="0070C0"/>
                              </a:solidFill>
                              <a:latin typeface="Cambria Math" panose="02040503050406030204" pitchFamily="18" charset="0"/>
                            </a:rPr>
                            <m:t>∗</m:t>
                          </m:r>
                        </m:sup>
                      </m:sSup>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𝑋</m:t>
                      </m:r>
                      <m:r>
                        <a:rPr lang="en-US" b="0" i="1" smtClean="0">
                          <a:solidFill>
                            <a:srgbClr val="0070C0"/>
                          </a:solidFill>
                          <a:latin typeface="Cambria Math" panose="02040503050406030204" pitchFamily="18" charset="0"/>
                        </a:rPr>
                        <m:t>)</m:t>
                      </m:r>
                    </m:oMath>
                  </m:oMathPara>
                </a14:m>
                <a:endParaRPr lang="en-US" dirty="0">
                  <a:solidFill>
                    <a:srgbClr val="0070C0"/>
                  </a:solidFill>
                </a:endParaRPr>
              </a:p>
              <a:p>
                <a:endParaRPr lang="en-US" dirty="0"/>
              </a:p>
            </p:txBody>
          </p:sp>
        </mc:Choice>
        <mc:Fallback xmlns="">
          <p:sp>
            <p:nvSpPr>
              <p:cNvPr id="53" name="TextBox 52">
                <a:extLst>
                  <a:ext uri="{FF2B5EF4-FFF2-40B4-BE49-F238E27FC236}">
                    <a16:creationId xmlns:a16="http://schemas.microsoft.com/office/drawing/2014/main" id="{569B99F2-2065-C496-526B-FC8A79CAFD63}"/>
                  </a:ext>
                </a:extLst>
              </p:cNvPr>
              <p:cNvSpPr txBox="1">
                <a:spLocks noRot="1" noChangeAspect="1" noMove="1" noResize="1" noEditPoints="1" noAdjustHandles="1" noChangeArrowheads="1" noChangeShapeType="1" noTextEdit="1"/>
              </p:cNvSpPr>
              <p:nvPr/>
            </p:nvSpPr>
            <p:spPr>
              <a:xfrm>
                <a:off x="7146886" y="3040141"/>
                <a:ext cx="1599075" cy="646331"/>
              </a:xfrm>
              <a:prstGeom prst="rect">
                <a:avLst/>
              </a:prstGeom>
              <a:blipFill>
                <a:blip r:embed="rId9"/>
                <a:stretch>
                  <a:fillRect/>
                </a:stretch>
              </a:blipFill>
            </p:spPr>
            <p:txBody>
              <a:bodyPr/>
              <a:lstStyle/>
              <a:p>
                <a:r>
                  <a:rPr lang="en-US">
                    <a:noFill/>
                  </a:rPr>
                  <a:t> </a:t>
                </a:r>
              </a:p>
            </p:txBody>
          </p:sp>
        </mc:Fallback>
      </mc:AlternateContent>
      <p:sp>
        <p:nvSpPr>
          <p:cNvPr id="54" name="Arrow: Right 53">
            <a:extLst>
              <a:ext uri="{FF2B5EF4-FFF2-40B4-BE49-F238E27FC236}">
                <a16:creationId xmlns:a16="http://schemas.microsoft.com/office/drawing/2014/main" id="{08852C7D-7118-9812-71B3-F5088E450981}"/>
              </a:ext>
            </a:extLst>
          </p:cNvPr>
          <p:cNvSpPr/>
          <p:nvPr/>
        </p:nvSpPr>
        <p:spPr>
          <a:xfrm rot="1791691">
            <a:off x="8096871" y="3524363"/>
            <a:ext cx="576688" cy="305301"/>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Arrow: Right 1">
            <a:extLst>
              <a:ext uri="{FF2B5EF4-FFF2-40B4-BE49-F238E27FC236}">
                <a16:creationId xmlns:a16="http://schemas.microsoft.com/office/drawing/2014/main" id="{92A87DC0-E84F-67BC-C5C2-898C79EE31C6}"/>
              </a:ext>
            </a:extLst>
          </p:cNvPr>
          <p:cNvSpPr/>
          <p:nvPr/>
        </p:nvSpPr>
        <p:spPr>
          <a:xfrm rot="18942745">
            <a:off x="8126342" y="2568506"/>
            <a:ext cx="576688" cy="305301"/>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ADFD1A7D-C87B-83D5-B360-132403B3AC4E}"/>
              </a:ext>
            </a:extLst>
          </p:cNvPr>
          <p:cNvSpPr txBox="1"/>
          <p:nvPr/>
        </p:nvSpPr>
        <p:spPr>
          <a:xfrm>
            <a:off x="838200" y="6176963"/>
            <a:ext cx="1162050" cy="369332"/>
          </a:xfrm>
          <a:prstGeom prst="rect">
            <a:avLst/>
          </a:prstGeom>
          <a:noFill/>
        </p:spPr>
        <p:txBody>
          <a:bodyPr wrap="square" rtlCol="0">
            <a:spAutoFit/>
          </a:bodyPr>
          <a:lstStyle/>
          <a:p>
            <a:r>
              <a:rPr lang="en-US" dirty="0">
                <a:hlinkClick r:id="rId10" action="ppaction://hlinksldjump"/>
              </a:rPr>
              <a:t>Back</a:t>
            </a:r>
            <a:endParaRPr lang="en-US" dirty="0"/>
          </a:p>
        </p:txBody>
      </p:sp>
    </p:spTree>
    <p:extLst>
      <p:ext uri="{BB962C8B-B14F-4D97-AF65-F5344CB8AC3E}">
        <p14:creationId xmlns:p14="http://schemas.microsoft.com/office/powerpoint/2010/main" val="2117945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D1C62C-3A54-E4F5-01AD-E49E0F1EC0F5}"/>
              </a:ext>
            </a:extLst>
          </p:cNvPr>
          <p:cNvSpPr>
            <a:spLocks noGrp="1"/>
          </p:cNvSpPr>
          <p:nvPr>
            <p:ph type="title"/>
          </p:nvPr>
        </p:nvSpPr>
        <p:spPr>
          <a:ln w="38100">
            <a:solidFill>
              <a:schemeClr val="bg1"/>
            </a:solidFill>
          </a:ln>
        </p:spPr>
        <p:txBody>
          <a:bodyPr/>
          <a:lstStyle/>
          <a:p>
            <a:r>
              <a:rPr lang="en-US" b="1" dirty="0"/>
              <a:t>Step 3.5: </a:t>
            </a:r>
            <a:r>
              <a:rPr lang="en-US" dirty="0"/>
              <a:t>Multi-Round Inference</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53EA0458-B0C6-D51B-7105-92BCAE1DD5E7}"/>
                  </a:ext>
                </a:extLst>
              </p:cNvPr>
              <p:cNvSpPr>
                <a:spLocks noGrp="1"/>
              </p:cNvSpPr>
              <p:nvPr>
                <p:ph sz="half" idx="1"/>
              </p:nvPr>
            </p:nvSpPr>
            <p:spPr/>
            <p:txBody>
              <a:bodyPr>
                <a:normAutofit fontScale="92500" lnSpcReduction="20000"/>
              </a:bodyPr>
              <a:lstStyle/>
              <a:p>
                <a:r>
                  <a:rPr lang="en-US" dirty="0"/>
                  <a:t>When sampling from the prior</a:t>
                </a: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can sampling in places where the likelihood of the real data is small:	</a:t>
                </a:r>
                <a:endParaRPr lang="en-US" b="0" i="1" dirty="0">
                  <a:latin typeface="Cambria Math" panose="02040503050406030204" pitchFamily="18" charset="0"/>
                </a:endParaRPr>
              </a:p>
              <a:p>
                <a:pPr marL="0" indent="0" algn="ctr">
                  <a:buNone/>
                </a:pP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a14:m>
                <a:r>
                  <a:rPr lang="en-US" dirty="0"/>
                  <a:t> small</a:t>
                </a:r>
              </a:p>
              <a:p>
                <a:r>
                  <a:rPr lang="en-US" dirty="0"/>
                  <a:t>Thus going to sample</a:t>
                </a: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𝑋</m:t>
                    </m:r>
                  </m:oMath>
                </a14:m>
                <a:r>
                  <a:rPr lang="en-US" dirty="0"/>
                  <a:t> far away from the posterior giving little information about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e>
                    </m:d>
                  </m:oMath>
                </a14:m>
                <a:endParaRPr lang="en-US" b="0" dirty="0"/>
              </a:p>
              <a:p>
                <a:r>
                  <a:rPr lang="en-US" dirty="0"/>
                  <a:t>The solution is to perform multi-round inference where the best guess of the posterior becomes the proposal distribution for sampling theta in the next round </a:t>
                </a:r>
              </a:p>
            </p:txBody>
          </p:sp>
        </mc:Choice>
        <mc:Fallback xmlns="">
          <p:sp>
            <p:nvSpPr>
              <p:cNvPr id="6" name="Content Placeholder 5">
                <a:extLst>
                  <a:ext uri="{FF2B5EF4-FFF2-40B4-BE49-F238E27FC236}">
                    <a16:creationId xmlns:a16="http://schemas.microsoft.com/office/drawing/2014/main" id="{53EA0458-B0C6-D51B-7105-92BCAE1DD5E7}"/>
                  </a:ext>
                </a:extLst>
              </p:cNvPr>
              <p:cNvSpPr>
                <a:spLocks noGrp="1" noRot="1" noChangeAspect="1" noMove="1" noResize="1" noEditPoints="1" noAdjustHandles="1" noChangeArrowheads="1" noChangeShapeType="1" noTextEdit="1"/>
              </p:cNvSpPr>
              <p:nvPr>
                <p:ph sz="half" idx="1"/>
              </p:nvPr>
            </p:nvSpPr>
            <p:spPr>
              <a:blipFill>
                <a:blip r:embed="rId2"/>
                <a:stretch>
                  <a:fillRect l="-1882" t="-3501" r="-2588"/>
                </a:stretch>
              </a:blipFill>
            </p:spPr>
            <p:txBody>
              <a:bodyPr/>
              <a:lstStyle/>
              <a:p>
                <a:r>
                  <a:rPr lang="en-US">
                    <a:noFill/>
                  </a:rPr>
                  <a:t> </a:t>
                </a:r>
              </a:p>
            </p:txBody>
          </p:sp>
        </mc:Fallback>
      </mc:AlternateContent>
      <p:sp>
        <p:nvSpPr>
          <p:cNvPr id="7" name="Content Placeholder 6">
            <a:extLst>
              <a:ext uri="{FF2B5EF4-FFF2-40B4-BE49-F238E27FC236}">
                <a16:creationId xmlns:a16="http://schemas.microsoft.com/office/drawing/2014/main" id="{C0D68692-0E34-456C-D68C-4DC6EFA7AC53}"/>
              </a:ext>
            </a:extLst>
          </p:cNvPr>
          <p:cNvSpPr>
            <a:spLocks noGrp="1"/>
          </p:cNvSpPr>
          <p:nvPr>
            <p:ph sz="half" idx="2"/>
          </p:nvPr>
        </p:nvSpPr>
        <p:spPr/>
        <p:txBody>
          <a:bodyPr>
            <a:normAutofit fontScale="92500" lnSpcReduction="20000"/>
          </a:bodyPr>
          <a:lstStyle/>
          <a:p>
            <a:endParaRPr lang="en-US" dirty="0"/>
          </a:p>
        </p:txBody>
      </p:sp>
      <p:grpSp>
        <p:nvGrpSpPr>
          <p:cNvPr id="8" name="Group 7">
            <a:extLst>
              <a:ext uri="{FF2B5EF4-FFF2-40B4-BE49-F238E27FC236}">
                <a16:creationId xmlns:a16="http://schemas.microsoft.com/office/drawing/2014/main" id="{5BB205E5-C9B3-FD25-C748-373D1AF7DE4A}"/>
              </a:ext>
            </a:extLst>
          </p:cNvPr>
          <p:cNvGrpSpPr/>
          <p:nvPr/>
        </p:nvGrpSpPr>
        <p:grpSpPr>
          <a:xfrm>
            <a:off x="6131019" y="1544204"/>
            <a:ext cx="5793504" cy="4413191"/>
            <a:chOff x="5102087" y="1690688"/>
            <a:chExt cx="7089913" cy="4351338"/>
          </a:xfrm>
        </p:grpSpPr>
        <p:pic>
          <p:nvPicPr>
            <p:cNvPr id="9" name="Content Placeholder 4">
              <a:extLst>
                <a:ext uri="{FF2B5EF4-FFF2-40B4-BE49-F238E27FC236}">
                  <a16:creationId xmlns:a16="http://schemas.microsoft.com/office/drawing/2014/main" id="{B81BF7E7-1EEF-8F27-9195-A8413E929331}"/>
                </a:ext>
              </a:extLst>
            </p:cNvPr>
            <p:cNvPicPr>
              <a:picLocks noChangeAspect="1"/>
            </p:cNvPicPr>
            <p:nvPr/>
          </p:nvPicPr>
          <p:blipFill>
            <a:blip r:embed="rId3"/>
            <a:stretch>
              <a:fillRect/>
            </a:stretch>
          </p:blipFill>
          <p:spPr>
            <a:xfrm>
              <a:off x="5102087" y="1690688"/>
              <a:ext cx="7089913" cy="4351338"/>
            </a:xfrm>
            <a:prstGeom prst="rect">
              <a:avLst/>
            </a:prstGeom>
          </p:spPr>
        </p:pic>
        <p:sp>
          <p:nvSpPr>
            <p:cNvPr id="10" name="Oval 9">
              <a:extLst>
                <a:ext uri="{FF2B5EF4-FFF2-40B4-BE49-F238E27FC236}">
                  <a16:creationId xmlns:a16="http://schemas.microsoft.com/office/drawing/2014/main" id="{AFAA138C-A797-2FFC-DC5E-53633EE07A86}"/>
                </a:ext>
              </a:extLst>
            </p:cNvPr>
            <p:cNvSpPr/>
            <p:nvPr/>
          </p:nvSpPr>
          <p:spPr>
            <a:xfrm>
              <a:off x="9208369" y="296343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CF42B1F-F839-9C79-1CD7-5358BDC0E8E4}"/>
                </a:ext>
              </a:extLst>
            </p:cNvPr>
            <p:cNvSpPr/>
            <p:nvPr/>
          </p:nvSpPr>
          <p:spPr>
            <a:xfrm>
              <a:off x="7224059" y="44407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0FD5CE28-6A26-3C18-0B36-837FA5485EFB}"/>
                </a:ext>
              </a:extLst>
            </p:cNvPr>
            <p:cNvSpPr/>
            <p:nvPr/>
          </p:nvSpPr>
          <p:spPr>
            <a:xfrm>
              <a:off x="9307895" y="320136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19FEAA40-998D-9D39-07B9-68A78A96D5C6}"/>
                </a:ext>
              </a:extLst>
            </p:cNvPr>
            <p:cNvSpPr/>
            <p:nvPr/>
          </p:nvSpPr>
          <p:spPr>
            <a:xfrm>
              <a:off x="6997015" y="423239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49337A74-F7DF-5C9F-A0FA-0D31363AB7D1}"/>
                </a:ext>
              </a:extLst>
            </p:cNvPr>
            <p:cNvSpPr/>
            <p:nvPr/>
          </p:nvSpPr>
          <p:spPr>
            <a:xfrm>
              <a:off x="7255160" y="428371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3E27E718-B0AD-8C84-38DE-013CB2400E4E}"/>
                </a:ext>
              </a:extLst>
            </p:cNvPr>
            <p:cNvSpPr/>
            <p:nvPr/>
          </p:nvSpPr>
          <p:spPr>
            <a:xfrm>
              <a:off x="7376459" y="45931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223CA5A8-342E-34EF-595D-A070405E6AF6}"/>
                </a:ext>
              </a:extLst>
            </p:cNvPr>
            <p:cNvSpPr/>
            <p:nvPr/>
          </p:nvSpPr>
          <p:spPr>
            <a:xfrm>
              <a:off x="7724802" y="46958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8074BF83-3D64-37D5-ADC2-A55F14FB8445}"/>
                </a:ext>
              </a:extLst>
            </p:cNvPr>
            <p:cNvSpPr/>
            <p:nvPr/>
          </p:nvSpPr>
          <p:spPr>
            <a:xfrm>
              <a:off x="7881868" y="438946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B8CB6F9A-D8A6-2D63-A4C0-DB3D030111A1}"/>
                </a:ext>
              </a:extLst>
            </p:cNvPr>
            <p:cNvSpPr/>
            <p:nvPr/>
          </p:nvSpPr>
          <p:spPr>
            <a:xfrm>
              <a:off x="8906679" y="467530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8CE0DF97-DCC4-1E3D-BA10-4A4D1406A188}"/>
                </a:ext>
              </a:extLst>
            </p:cNvPr>
            <p:cNvSpPr/>
            <p:nvPr/>
          </p:nvSpPr>
          <p:spPr>
            <a:xfrm>
              <a:off x="6992350" y="4004763"/>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9E1F447E-3B6B-82DF-731A-1E566EF417EB}"/>
                </a:ext>
              </a:extLst>
            </p:cNvPr>
            <p:cNvSpPr/>
            <p:nvPr/>
          </p:nvSpPr>
          <p:spPr>
            <a:xfrm>
              <a:off x="9009315" y="330400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2117EA35-C457-F3E6-057D-B3DD6BEDF465}"/>
                </a:ext>
              </a:extLst>
            </p:cNvPr>
            <p:cNvSpPr/>
            <p:nvPr/>
          </p:nvSpPr>
          <p:spPr>
            <a:xfrm>
              <a:off x="9166381" y="34906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2036B2F4-07FB-BCCD-D25B-173188BE08A1}"/>
                </a:ext>
              </a:extLst>
            </p:cNvPr>
            <p:cNvSpPr/>
            <p:nvPr/>
          </p:nvSpPr>
          <p:spPr>
            <a:xfrm>
              <a:off x="7210061" y="3973657"/>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A77603F0-0914-413E-9AB2-CD46EE8AED98}"/>
                </a:ext>
              </a:extLst>
            </p:cNvPr>
            <p:cNvSpPr/>
            <p:nvPr/>
          </p:nvSpPr>
          <p:spPr>
            <a:xfrm>
              <a:off x="7710806" y="3777716"/>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17A06FC3-9E0A-FB28-D6BE-73A0732A46EC}"/>
                </a:ext>
              </a:extLst>
            </p:cNvPr>
            <p:cNvSpPr/>
            <p:nvPr/>
          </p:nvSpPr>
          <p:spPr>
            <a:xfrm>
              <a:off x="7528859" y="47455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DD159D2A-9F43-F5F2-E4F3-AF5419C40002}"/>
                </a:ext>
              </a:extLst>
            </p:cNvPr>
            <p:cNvSpPr/>
            <p:nvPr/>
          </p:nvSpPr>
          <p:spPr>
            <a:xfrm>
              <a:off x="6853946" y="464449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23D72FDB-CBBA-F6E7-E5A4-4B28BDD116A9}"/>
                </a:ext>
              </a:extLst>
            </p:cNvPr>
            <p:cNvSpPr/>
            <p:nvPr/>
          </p:nvSpPr>
          <p:spPr>
            <a:xfrm>
              <a:off x="7096135" y="287168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147CCFD3-4E93-FA7B-88DA-F4E63E10B0DD}"/>
                </a:ext>
              </a:extLst>
            </p:cNvPr>
            <p:cNvSpPr/>
            <p:nvPr/>
          </p:nvSpPr>
          <p:spPr>
            <a:xfrm>
              <a:off x="8237986" y="3922339"/>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9AE93A60-FA02-55CD-3483-08E0E2F90062}"/>
                </a:ext>
              </a:extLst>
            </p:cNvPr>
            <p:cNvSpPr/>
            <p:nvPr/>
          </p:nvSpPr>
          <p:spPr>
            <a:xfrm>
              <a:off x="8247317" y="3069181"/>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a:extLst>
                <a:ext uri="{FF2B5EF4-FFF2-40B4-BE49-F238E27FC236}">
                  <a16:creationId xmlns:a16="http://schemas.microsoft.com/office/drawing/2014/main" id="{4465FC9C-D01D-E1AA-9249-1AB2C0FC6F9C}"/>
                </a:ext>
              </a:extLst>
            </p:cNvPr>
            <p:cNvSpPr/>
            <p:nvPr/>
          </p:nvSpPr>
          <p:spPr>
            <a:xfrm>
              <a:off x="7012566" y="363368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2E7DAFDC-437A-F6AC-F77A-BF79D96368DE}"/>
                </a:ext>
              </a:extLst>
            </p:cNvPr>
            <p:cNvSpPr/>
            <p:nvPr/>
          </p:nvSpPr>
          <p:spPr>
            <a:xfrm>
              <a:off x="8154011" y="4521352"/>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3ED871A6-FF33-40CB-0791-EB3FD06A4BA7}"/>
                </a:ext>
              </a:extLst>
            </p:cNvPr>
            <p:cNvSpPr/>
            <p:nvPr/>
          </p:nvSpPr>
          <p:spPr>
            <a:xfrm>
              <a:off x="8563068" y="4572670"/>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9CD8A763-0461-EB47-6E23-71FC1F04D57E}"/>
                </a:ext>
              </a:extLst>
            </p:cNvPr>
            <p:cNvSpPr/>
            <p:nvPr/>
          </p:nvSpPr>
          <p:spPr>
            <a:xfrm>
              <a:off x="7224059" y="4804674"/>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D9D82284-4AF5-5869-1FEE-E40DA78AFEB7}"/>
                </a:ext>
              </a:extLst>
            </p:cNvPr>
            <p:cNvSpPr/>
            <p:nvPr/>
          </p:nvSpPr>
          <p:spPr>
            <a:xfrm>
              <a:off x="7881867" y="402497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D676C911-DDD3-E893-4FBE-16212C755BFE}"/>
                </a:ext>
              </a:extLst>
            </p:cNvPr>
            <p:cNvSpPr/>
            <p:nvPr/>
          </p:nvSpPr>
          <p:spPr>
            <a:xfrm>
              <a:off x="7537413" y="4338145"/>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1E5A3A54-BB3D-065A-26D7-F67D5B61CD14}"/>
                </a:ext>
              </a:extLst>
            </p:cNvPr>
            <p:cNvSpPr/>
            <p:nvPr/>
          </p:nvSpPr>
          <p:spPr>
            <a:xfrm>
              <a:off x="8605055" y="2873238"/>
              <a:ext cx="83975" cy="10263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45" name="Straight Connector 44">
            <a:extLst>
              <a:ext uri="{FF2B5EF4-FFF2-40B4-BE49-F238E27FC236}">
                <a16:creationId xmlns:a16="http://schemas.microsoft.com/office/drawing/2014/main" id="{4E915357-A2E0-A6A2-0F7F-D2BB5E761170}"/>
              </a:ext>
            </a:extLst>
          </p:cNvPr>
          <p:cNvCxnSpPr/>
          <p:nvPr/>
        </p:nvCxnSpPr>
        <p:spPr>
          <a:xfrm>
            <a:off x="8869710" y="1544204"/>
            <a:ext cx="0" cy="441319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C77A947D-96E8-1F35-5602-16868FA1980E}"/>
              </a:ext>
            </a:extLst>
          </p:cNvPr>
          <p:cNvSpPr/>
          <p:nvPr/>
        </p:nvSpPr>
        <p:spPr>
          <a:xfrm>
            <a:off x="8602762" y="1614196"/>
            <a:ext cx="205336" cy="4516016"/>
          </a:xfrm>
          <a:custGeom>
            <a:avLst/>
            <a:gdLst>
              <a:gd name="connsiteX0" fmla="*/ 205336 w 205336"/>
              <a:gd name="connsiteY0" fmla="*/ 0 h 4516016"/>
              <a:gd name="connsiteX1" fmla="*/ 186675 w 205336"/>
              <a:gd name="connsiteY1" fmla="*/ 354563 h 4516016"/>
              <a:gd name="connsiteX2" fmla="*/ 177344 w 205336"/>
              <a:gd name="connsiteY2" fmla="*/ 662473 h 4516016"/>
              <a:gd name="connsiteX3" fmla="*/ 158683 w 205336"/>
              <a:gd name="connsiteY3" fmla="*/ 746449 h 4516016"/>
              <a:gd name="connsiteX4" fmla="*/ 140022 w 205336"/>
              <a:gd name="connsiteY4" fmla="*/ 1054359 h 4516016"/>
              <a:gd name="connsiteX5" fmla="*/ 130691 w 205336"/>
              <a:gd name="connsiteY5" fmla="*/ 1184988 h 4516016"/>
              <a:gd name="connsiteX6" fmla="*/ 121360 w 205336"/>
              <a:gd name="connsiteY6" fmla="*/ 1222310 h 4516016"/>
              <a:gd name="connsiteX7" fmla="*/ 102699 w 205336"/>
              <a:gd name="connsiteY7" fmla="*/ 1306286 h 4516016"/>
              <a:gd name="connsiteX8" fmla="*/ 102699 w 205336"/>
              <a:gd name="connsiteY8" fmla="*/ 1558212 h 4516016"/>
              <a:gd name="connsiteX9" fmla="*/ 112030 w 205336"/>
              <a:gd name="connsiteY9" fmla="*/ 1632857 h 4516016"/>
              <a:gd name="connsiteX10" fmla="*/ 130691 w 205336"/>
              <a:gd name="connsiteY10" fmla="*/ 1698171 h 4516016"/>
              <a:gd name="connsiteX11" fmla="*/ 140022 w 205336"/>
              <a:gd name="connsiteY11" fmla="*/ 1772816 h 4516016"/>
              <a:gd name="connsiteX12" fmla="*/ 149352 w 205336"/>
              <a:gd name="connsiteY12" fmla="*/ 1810139 h 4516016"/>
              <a:gd name="connsiteX13" fmla="*/ 121360 w 205336"/>
              <a:gd name="connsiteY13" fmla="*/ 2146041 h 4516016"/>
              <a:gd name="connsiteX14" fmla="*/ 84038 w 205336"/>
              <a:gd name="connsiteY14" fmla="*/ 2202024 h 4516016"/>
              <a:gd name="connsiteX15" fmla="*/ 28054 w 205336"/>
              <a:gd name="connsiteY15" fmla="*/ 2360645 h 4516016"/>
              <a:gd name="connsiteX16" fmla="*/ 18724 w 205336"/>
              <a:gd name="connsiteY16" fmla="*/ 2397967 h 4516016"/>
              <a:gd name="connsiteX17" fmla="*/ 28054 w 205336"/>
              <a:gd name="connsiteY17" fmla="*/ 2817845 h 4516016"/>
              <a:gd name="connsiteX18" fmla="*/ 62 w 205336"/>
              <a:gd name="connsiteY18" fmla="*/ 2929812 h 4516016"/>
              <a:gd name="connsiteX19" fmla="*/ 9393 w 205336"/>
              <a:gd name="connsiteY19" fmla="*/ 3200400 h 4516016"/>
              <a:gd name="connsiteX20" fmla="*/ 18724 w 205336"/>
              <a:gd name="connsiteY20" fmla="*/ 3256384 h 4516016"/>
              <a:gd name="connsiteX21" fmla="*/ 46716 w 205336"/>
              <a:gd name="connsiteY21" fmla="*/ 3331028 h 4516016"/>
              <a:gd name="connsiteX22" fmla="*/ 65377 w 205336"/>
              <a:gd name="connsiteY22" fmla="*/ 3424335 h 4516016"/>
              <a:gd name="connsiteX23" fmla="*/ 74707 w 205336"/>
              <a:gd name="connsiteY23" fmla="*/ 3498980 h 4516016"/>
              <a:gd name="connsiteX24" fmla="*/ 84038 w 205336"/>
              <a:gd name="connsiteY24" fmla="*/ 3592286 h 4516016"/>
              <a:gd name="connsiteX25" fmla="*/ 102699 w 205336"/>
              <a:gd name="connsiteY25" fmla="*/ 3666931 h 4516016"/>
              <a:gd name="connsiteX26" fmla="*/ 168014 w 205336"/>
              <a:gd name="connsiteY26" fmla="*/ 3853543 h 4516016"/>
              <a:gd name="connsiteX27" fmla="*/ 196005 w 205336"/>
              <a:gd name="connsiteY27" fmla="*/ 3946849 h 4516016"/>
              <a:gd name="connsiteX28" fmla="*/ 196005 w 205336"/>
              <a:gd name="connsiteY28" fmla="*/ 4516016 h 451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5336" h="4516016">
                <a:moveTo>
                  <a:pt x="205336" y="0"/>
                </a:moveTo>
                <a:cubicBezTo>
                  <a:pt x="192703" y="176859"/>
                  <a:pt x="194364" y="135426"/>
                  <a:pt x="186675" y="354563"/>
                </a:cubicBezTo>
                <a:cubicBezTo>
                  <a:pt x="183074" y="457184"/>
                  <a:pt x="182741" y="559931"/>
                  <a:pt x="177344" y="662473"/>
                </a:cubicBezTo>
                <a:cubicBezTo>
                  <a:pt x="176554" y="677483"/>
                  <a:pt x="162921" y="729496"/>
                  <a:pt x="158683" y="746449"/>
                </a:cubicBezTo>
                <a:cubicBezTo>
                  <a:pt x="141142" y="1149876"/>
                  <a:pt x="159468" y="821010"/>
                  <a:pt x="140022" y="1054359"/>
                </a:cubicBezTo>
                <a:cubicBezTo>
                  <a:pt x="136397" y="1097862"/>
                  <a:pt x="135512" y="1141601"/>
                  <a:pt x="130691" y="1184988"/>
                </a:cubicBezTo>
                <a:cubicBezTo>
                  <a:pt x="129275" y="1197733"/>
                  <a:pt x="123875" y="1209735"/>
                  <a:pt x="121360" y="1222310"/>
                </a:cubicBezTo>
                <a:cubicBezTo>
                  <a:pt x="104938" y="1304420"/>
                  <a:pt x="120859" y="1251807"/>
                  <a:pt x="102699" y="1306286"/>
                </a:cubicBezTo>
                <a:cubicBezTo>
                  <a:pt x="83558" y="1421136"/>
                  <a:pt x="89225" y="1362838"/>
                  <a:pt x="102699" y="1558212"/>
                </a:cubicBezTo>
                <a:cubicBezTo>
                  <a:pt x="104424" y="1583228"/>
                  <a:pt x="107908" y="1608123"/>
                  <a:pt x="112030" y="1632857"/>
                </a:cubicBezTo>
                <a:cubicBezTo>
                  <a:pt x="115937" y="1656298"/>
                  <a:pt x="123293" y="1675979"/>
                  <a:pt x="130691" y="1698171"/>
                </a:cubicBezTo>
                <a:cubicBezTo>
                  <a:pt x="133801" y="1723053"/>
                  <a:pt x="135900" y="1748082"/>
                  <a:pt x="140022" y="1772816"/>
                </a:cubicBezTo>
                <a:cubicBezTo>
                  <a:pt x="142130" y="1785465"/>
                  <a:pt x="149992" y="1797331"/>
                  <a:pt x="149352" y="1810139"/>
                </a:cubicBezTo>
                <a:cubicBezTo>
                  <a:pt x="143741" y="1922354"/>
                  <a:pt x="132823" y="2034272"/>
                  <a:pt x="121360" y="2146041"/>
                </a:cubicBezTo>
                <a:cubicBezTo>
                  <a:pt x="118273" y="2176136"/>
                  <a:pt x="105011" y="2181052"/>
                  <a:pt x="84038" y="2202024"/>
                </a:cubicBezTo>
                <a:cubicBezTo>
                  <a:pt x="65377" y="2254898"/>
                  <a:pt x="45785" y="2307452"/>
                  <a:pt x="28054" y="2360645"/>
                </a:cubicBezTo>
                <a:cubicBezTo>
                  <a:pt x="23999" y="2372810"/>
                  <a:pt x="18724" y="2385143"/>
                  <a:pt x="18724" y="2397967"/>
                </a:cubicBezTo>
                <a:cubicBezTo>
                  <a:pt x="18724" y="2537961"/>
                  <a:pt x="24944" y="2677886"/>
                  <a:pt x="28054" y="2817845"/>
                </a:cubicBezTo>
                <a:cubicBezTo>
                  <a:pt x="18723" y="2855167"/>
                  <a:pt x="-1264" y="2891364"/>
                  <a:pt x="62" y="2929812"/>
                </a:cubicBezTo>
                <a:cubicBezTo>
                  <a:pt x="3172" y="3020008"/>
                  <a:pt x="4244" y="3110297"/>
                  <a:pt x="9393" y="3200400"/>
                </a:cubicBezTo>
                <a:cubicBezTo>
                  <a:pt x="10472" y="3219288"/>
                  <a:pt x="13746" y="3238132"/>
                  <a:pt x="18724" y="3256384"/>
                </a:cubicBezTo>
                <a:cubicBezTo>
                  <a:pt x="30256" y="3298669"/>
                  <a:pt x="38419" y="3295075"/>
                  <a:pt x="46716" y="3331028"/>
                </a:cubicBezTo>
                <a:cubicBezTo>
                  <a:pt x="53848" y="3361934"/>
                  <a:pt x="60163" y="3393048"/>
                  <a:pt x="65377" y="3424335"/>
                </a:cubicBezTo>
                <a:cubicBezTo>
                  <a:pt x="69499" y="3449069"/>
                  <a:pt x="71938" y="3474058"/>
                  <a:pt x="74707" y="3498980"/>
                </a:cubicBezTo>
                <a:cubicBezTo>
                  <a:pt x="78159" y="3530046"/>
                  <a:pt x="78899" y="3561454"/>
                  <a:pt x="84038" y="3592286"/>
                </a:cubicBezTo>
                <a:cubicBezTo>
                  <a:pt x="88254" y="3617584"/>
                  <a:pt x="92835" y="3643256"/>
                  <a:pt x="102699" y="3666931"/>
                </a:cubicBezTo>
                <a:cubicBezTo>
                  <a:pt x="179614" y="3851526"/>
                  <a:pt x="126607" y="3708620"/>
                  <a:pt x="168014" y="3853543"/>
                </a:cubicBezTo>
                <a:cubicBezTo>
                  <a:pt x="169462" y="3858612"/>
                  <a:pt x="195770" y="3931567"/>
                  <a:pt x="196005" y="3946849"/>
                </a:cubicBezTo>
                <a:cubicBezTo>
                  <a:pt x="198923" y="4136549"/>
                  <a:pt x="196005" y="4326294"/>
                  <a:pt x="196005" y="4516016"/>
                </a:cubicBezTo>
              </a:path>
            </a:pathLst>
          </a:cu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FFC000"/>
                </a:solidFill>
              </a:ln>
              <a:solidFill>
                <a:srgbClr val="FFC000"/>
              </a:solidFill>
            </a:endParaRP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FBB292BF-B53C-17C7-24D9-DF579D08853F}"/>
                  </a:ext>
                </a:extLst>
              </p:cNvPr>
              <p:cNvSpPr txBox="1"/>
              <p:nvPr/>
            </p:nvSpPr>
            <p:spPr>
              <a:xfrm>
                <a:off x="8659201" y="6046317"/>
                <a:ext cx="24434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𝒙</m:t>
                      </m:r>
                    </m:oMath>
                  </m:oMathPara>
                </a14:m>
                <a:endParaRPr lang="en-US" sz="2000" b="1" dirty="0"/>
              </a:p>
            </p:txBody>
          </p:sp>
        </mc:Choice>
        <mc:Fallback xmlns="">
          <p:sp>
            <p:nvSpPr>
              <p:cNvPr id="48" name="TextBox 47">
                <a:extLst>
                  <a:ext uri="{FF2B5EF4-FFF2-40B4-BE49-F238E27FC236}">
                    <a16:creationId xmlns:a16="http://schemas.microsoft.com/office/drawing/2014/main" id="{FBB292BF-B53C-17C7-24D9-DF579D08853F}"/>
                  </a:ext>
                </a:extLst>
              </p:cNvPr>
              <p:cNvSpPr txBox="1">
                <a:spLocks noRot="1" noChangeAspect="1" noMove="1" noResize="1" noEditPoints="1" noAdjustHandles="1" noChangeArrowheads="1" noChangeShapeType="1" noTextEdit="1"/>
              </p:cNvSpPr>
              <p:nvPr/>
            </p:nvSpPr>
            <p:spPr>
              <a:xfrm>
                <a:off x="8659201" y="6046317"/>
                <a:ext cx="244340" cy="400110"/>
              </a:xfrm>
              <a:prstGeom prst="rect">
                <a:avLst/>
              </a:prstGeom>
              <a:blipFill>
                <a:blip r:embed="rId4"/>
                <a:stretch>
                  <a:fillRect r="-21951"/>
                </a:stretch>
              </a:blipFill>
            </p:spPr>
            <p:txBody>
              <a:bodyPr/>
              <a:lstStyle/>
              <a:p>
                <a:r>
                  <a:rPr lang="en-US">
                    <a:noFill/>
                  </a:rPr>
                  <a:t> </a:t>
                </a:r>
              </a:p>
            </p:txBody>
          </p:sp>
        </mc:Fallback>
      </mc:AlternateContent>
      <p:sp>
        <p:nvSpPr>
          <p:cNvPr id="49" name="Rectangle 48">
            <a:extLst>
              <a:ext uri="{FF2B5EF4-FFF2-40B4-BE49-F238E27FC236}">
                <a16:creationId xmlns:a16="http://schemas.microsoft.com/office/drawing/2014/main" id="{09330A03-BF16-5029-BFBB-0E71D4EE9380}"/>
              </a:ext>
            </a:extLst>
          </p:cNvPr>
          <p:cNvSpPr/>
          <p:nvPr/>
        </p:nvSpPr>
        <p:spPr>
          <a:xfrm>
            <a:off x="8624891" y="5957395"/>
            <a:ext cx="384105" cy="1812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solidFill>
                <a:schemeClr val="bg1"/>
              </a:solidFill>
            </a:endParaRPr>
          </a:p>
        </p:txBody>
      </p:sp>
      <p:cxnSp>
        <p:nvCxnSpPr>
          <p:cNvPr id="2" name="Straight Connector 1">
            <a:extLst>
              <a:ext uri="{FF2B5EF4-FFF2-40B4-BE49-F238E27FC236}">
                <a16:creationId xmlns:a16="http://schemas.microsoft.com/office/drawing/2014/main" id="{55424BE7-0FCD-9C8C-E5F5-134C37066B98}"/>
              </a:ext>
            </a:extLst>
          </p:cNvPr>
          <p:cNvCxnSpPr>
            <a:cxnSpLocks/>
          </p:cNvCxnSpPr>
          <p:nvPr/>
        </p:nvCxnSpPr>
        <p:spPr>
          <a:xfrm>
            <a:off x="6727371" y="1614196"/>
            <a:ext cx="4376058"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
        <p:nvSpPr>
          <p:cNvPr id="60" name="Freeform: Shape 59">
            <a:extLst>
              <a:ext uri="{FF2B5EF4-FFF2-40B4-BE49-F238E27FC236}">
                <a16:creationId xmlns:a16="http://schemas.microsoft.com/office/drawing/2014/main" id="{3016560D-E120-3FE4-D994-0BCD5DF7B33F}"/>
              </a:ext>
            </a:extLst>
          </p:cNvPr>
          <p:cNvSpPr/>
          <p:nvPr/>
        </p:nvSpPr>
        <p:spPr>
          <a:xfrm>
            <a:off x="6672350" y="3900077"/>
            <a:ext cx="4394719" cy="251926"/>
          </a:xfrm>
          <a:custGeom>
            <a:avLst/>
            <a:gdLst>
              <a:gd name="connsiteX0" fmla="*/ 0 w 4394719"/>
              <a:gd name="connsiteY0" fmla="*/ 233265 h 251926"/>
              <a:gd name="connsiteX1" fmla="*/ 419878 w 4394719"/>
              <a:gd name="connsiteY1" fmla="*/ 223934 h 251926"/>
              <a:gd name="connsiteX2" fmla="*/ 447870 w 4394719"/>
              <a:gd name="connsiteY2" fmla="*/ 205273 h 251926"/>
              <a:gd name="connsiteX3" fmla="*/ 475861 w 4394719"/>
              <a:gd name="connsiteY3" fmla="*/ 195943 h 251926"/>
              <a:gd name="connsiteX4" fmla="*/ 541176 w 4394719"/>
              <a:gd name="connsiteY4" fmla="*/ 149289 h 251926"/>
              <a:gd name="connsiteX5" fmla="*/ 578498 w 4394719"/>
              <a:gd name="connsiteY5" fmla="*/ 139959 h 251926"/>
              <a:gd name="connsiteX6" fmla="*/ 615821 w 4394719"/>
              <a:gd name="connsiteY6" fmla="*/ 111967 h 251926"/>
              <a:gd name="connsiteX7" fmla="*/ 653143 w 4394719"/>
              <a:gd name="connsiteY7" fmla="*/ 102636 h 251926"/>
              <a:gd name="connsiteX8" fmla="*/ 681135 w 4394719"/>
              <a:gd name="connsiteY8" fmla="*/ 93306 h 251926"/>
              <a:gd name="connsiteX9" fmla="*/ 718457 w 4394719"/>
              <a:gd name="connsiteY9" fmla="*/ 65314 h 251926"/>
              <a:gd name="connsiteX10" fmla="*/ 765110 w 4394719"/>
              <a:gd name="connsiteY10" fmla="*/ 55983 h 251926"/>
              <a:gd name="connsiteX11" fmla="*/ 839755 w 4394719"/>
              <a:gd name="connsiteY11" fmla="*/ 37322 h 251926"/>
              <a:gd name="connsiteX12" fmla="*/ 886408 w 4394719"/>
              <a:gd name="connsiteY12" fmla="*/ 27991 h 251926"/>
              <a:gd name="connsiteX13" fmla="*/ 914400 w 4394719"/>
              <a:gd name="connsiteY13" fmla="*/ 18661 h 251926"/>
              <a:gd name="connsiteX14" fmla="*/ 1054359 w 4394719"/>
              <a:gd name="connsiteY14" fmla="*/ 9330 h 251926"/>
              <a:gd name="connsiteX15" fmla="*/ 1129004 w 4394719"/>
              <a:gd name="connsiteY15" fmla="*/ 0 h 251926"/>
              <a:gd name="connsiteX16" fmla="*/ 1315616 w 4394719"/>
              <a:gd name="connsiteY16" fmla="*/ 9330 h 251926"/>
              <a:gd name="connsiteX17" fmla="*/ 1380931 w 4394719"/>
              <a:gd name="connsiteY17" fmla="*/ 18661 h 251926"/>
              <a:gd name="connsiteX18" fmla="*/ 1408923 w 4394719"/>
              <a:gd name="connsiteY18" fmla="*/ 46653 h 251926"/>
              <a:gd name="connsiteX19" fmla="*/ 1446245 w 4394719"/>
              <a:gd name="connsiteY19" fmla="*/ 65314 h 251926"/>
              <a:gd name="connsiteX20" fmla="*/ 1483567 w 4394719"/>
              <a:gd name="connsiteY20" fmla="*/ 74645 h 251926"/>
              <a:gd name="connsiteX21" fmla="*/ 1539551 w 4394719"/>
              <a:gd name="connsiteY21" fmla="*/ 93306 h 251926"/>
              <a:gd name="connsiteX22" fmla="*/ 1614196 w 4394719"/>
              <a:gd name="connsiteY22" fmla="*/ 111967 h 251926"/>
              <a:gd name="connsiteX23" fmla="*/ 1642188 w 4394719"/>
              <a:gd name="connsiteY23" fmla="*/ 121298 h 251926"/>
              <a:gd name="connsiteX24" fmla="*/ 1735494 w 4394719"/>
              <a:gd name="connsiteY24" fmla="*/ 139959 h 251926"/>
              <a:gd name="connsiteX25" fmla="*/ 1866123 w 4394719"/>
              <a:gd name="connsiteY25" fmla="*/ 167951 h 251926"/>
              <a:gd name="connsiteX26" fmla="*/ 1903445 w 4394719"/>
              <a:gd name="connsiteY26" fmla="*/ 177281 h 251926"/>
              <a:gd name="connsiteX27" fmla="*/ 2183363 w 4394719"/>
              <a:gd name="connsiteY27" fmla="*/ 205273 h 251926"/>
              <a:gd name="connsiteX28" fmla="*/ 2621902 w 4394719"/>
              <a:gd name="connsiteY28" fmla="*/ 214604 h 251926"/>
              <a:gd name="connsiteX29" fmla="*/ 3498980 w 4394719"/>
              <a:gd name="connsiteY29" fmla="*/ 233265 h 251926"/>
              <a:gd name="connsiteX30" fmla="*/ 3704253 w 4394719"/>
              <a:gd name="connsiteY30" fmla="*/ 251926 h 251926"/>
              <a:gd name="connsiteX31" fmla="*/ 4394719 w 4394719"/>
              <a:gd name="connsiteY31" fmla="*/ 242596 h 251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394719" h="251926">
                <a:moveTo>
                  <a:pt x="0" y="233265"/>
                </a:moveTo>
                <a:cubicBezTo>
                  <a:pt x="139959" y="230155"/>
                  <a:pt x="280157" y="232667"/>
                  <a:pt x="419878" y="223934"/>
                </a:cubicBezTo>
                <a:cubicBezTo>
                  <a:pt x="431070" y="223234"/>
                  <a:pt x="437840" y="210288"/>
                  <a:pt x="447870" y="205273"/>
                </a:cubicBezTo>
                <a:cubicBezTo>
                  <a:pt x="456667" y="200875"/>
                  <a:pt x="466531" y="199053"/>
                  <a:pt x="475861" y="195943"/>
                </a:cubicBezTo>
                <a:cubicBezTo>
                  <a:pt x="499985" y="171819"/>
                  <a:pt x="502155" y="166632"/>
                  <a:pt x="541176" y="149289"/>
                </a:cubicBezTo>
                <a:cubicBezTo>
                  <a:pt x="552894" y="144081"/>
                  <a:pt x="566057" y="143069"/>
                  <a:pt x="578498" y="139959"/>
                </a:cubicBezTo>
                <a:cubicBezTo>
                  <a:pt x="590939" y="130628"/>
                  <a:pt x="601912" y="118922"/>
                  <a:pt x="615821" y="111967"/>
                </a:cubicBezTo>
                <a:cubicBezTo>
                  <a:pt x="627291" y="106232"/>
                  <a:pt x="640813" y="106159"/>
                  <a:pt x="653143" y="102636"/>
                </a:cubicBezTo>
                <a:cubicBezTo>
                  <a:pt x="662600" y="99934"/>
                  <a:pt x="671804" y="96416"/>
                  <a:pt x="681135" y="93306"/>
                </a:cubicBezTo>
                <a:cubicBezTo>
                  <a:pt x="693576" y="83975"/>
                  <a:pt x="704246" y="71630"/>
                  <a:pt x="718457" y="65314"/>
                </a:cubicBezTo>
                <a:cubicBezTo>
                  <a:pt x="732949" y="58873"/>
                  <a:pt x="749657" y="59549"/>
                  <a:pt x="765110" y="55983"/>
                </a:cubicBezTo>
                <a:cubicBezTo>
                  <a:pt x="790101" y="50216"/>
                  <a:pt x="814606" y="42352"/>
                  <a:pt x="839755" y="37322"/>
                </a:cubicBezTo>
                <a:cubicBezTo>
                  <a:pt x="855306" y="34212"/>
                  <a:pt x="871023" y="31837"/>
                  <a:pt x="886408" y="27991"/>
                </a:cubicBezTo>
                <a:cubicBezTo>
                  <a:pt x="895950" y="25606"/>
                  <a:pt x="904625" y="19747"/>
                  <a:pt x="914400" y="18661"/>
                </a:cubicBezTo>
                <a:cubicBezTo>
                  <a:pt x="960871" y="13498"/>
                  <a:pt x="1007778" y="13380"/>
                  <a:pt x="1054359" y="9330"/>
                </a:cubicBezTo>
                <a:cubicBezTo>
                  <a:pt x="1079340" y="7158"/>
                  <a:pt x="1104122" y="3110"/>
                  <a:pt x="1129004" y="0"/>
                </a:cubicBezTo>
                <a:cubicBezTo>
                  <a:pt x="1191208" y="3110"/>
                  <a:pt x="1253504" y="4729"/>
                  <a:pt x="1315616" y="9330"/>
                </a:cubicBezTo>
                <a:cubicBezTo>
                  <a:pt x="1337549" y="10955"/>
                  <a:pt x="1360511" y="10493"/>
                  <a:pt x="1380931" y="18661"/>
                </a:cubicBezTo>
                <a:cubicBezTo>
                  <a:pt x="1393183" y="23562"/>
                  <a:pt x="1398185" y="38983"/>
                  <a:pt x="1408923" y="46653"/>
                </a:cubicBezTo>
                <a:cubicBezTo>
                  <a:pt x="1420241" y="54738"/>
                  <a:pt x="1433222" y="60430"/>
                  <a:pt x="1446245" y="65314"/>
                </a:cubicBezTo>
                <a:cubicBezTo>
                  <a:pt x="1458252" y="69817"/>
                  <a:pt x="1471284" y="70960"/>
                  <a:pt x="1483567" y="74645"/>
                </a:cubicBezTo>
                <a:cubicBezTo>
                  <a:pt x="1502408" y="80297"/>
                  <a:pt x="1520468" y="88535"/>
                  <a:pt x="1539551" y="93306"/>
                </a:cubicBezTo>
                <a:cubicBezTo>
                  <a:pt x="1564433" y="99526"/>
                  <a:pt x="1589865" y="103856"/>
                  <a:pt x="1614196" y="111967"/>
                </a:cubicBezTo>
                <a:cubicBezTo>
                  <a:pt x="1623527" y="115077"/>
                  <a:pt x="1632604" y="119086"/>
                  <a:pt x="1642188" y="121298"/>
                </a:cubicBezTo>
                <a:cubicBezTo>
                  <a:pt x="1673094" y="128430"/>
                  <a:pt x="1705404" y="129930"/>
                  <a:pt x="1735494" y="139959"/>
                </a:cubicBezTo>
                <a:cubicBezTo>
                  <a:pt x="1800806" y="161728"/>
                  <a:pt x="1738496" y="142425"/>
                  <a:pt x="1866123" y="167951"/>
                </a:cubicBezTo>
                <a:cubicBezTo>
                  <a:pt x="1878697" y="170466"/>
                  <a:pt x="1890871" y="174766"/>
                  <a:pt x="1903445" y="177281"/>
                </a:cubicBezTo>
                <a:cubicBezTo>
                  <a:pt x="1989908" y="194573"/>
                  <a:pt x="2112426" y="202276"/>
                  <a:pt x="2183363" y="205273"/>
                </a:cubicBezTo>
                <a:cubicBezTo>
                  <a:pt x="2329445" y="211446"/>
                  <a:pt x="2475722" y="211494"/>
                  <a:pt x="2621902" y="214604"/>
                </a:cubicBezTo>
                <a:cubicBezTo>
                  <a:pt x="2951214" y="269485"/>
                  <a:pt x="2610698" y="215675"/>
                  <a:pt x="3498980" y="233265"/>
                </a:cubicBezTo>
                <a:cubicBezTo>
                  <a:pt x="3554899" y="234372"/>
                  <a:pt x="3644883" y="245330"/>
                  <a:pt x="3704253" y="251926"/>
                </a:cubicBezTo>
                <a:cubicBezTo>
                  <a:pt x="4251635" y="241194"/>
                  <a:pt x="4021463" y="242596"/>
                  <a:pt x="4394719" y="242596"/>
                </a:cubicBezTo>
              </a:path>
            </a:pathLst>
          </a:cu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AC578AC-BB42-9682-D7AB-211EEFB635B6}"/>
                  </a:ext>
                </a:extLst>
              </p:cNvPr>
              <p:cNvSpPr txBox="1"/>
              <p:nvPr/>
            </p:nvSpPr>
            <p:spPr>
              <a:xfrm>
                <a:off x="6701108" y="2862292"/>
                <a:ext cx="1059342" cy="923330"/>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e>
                        <m:r>
                          <a:rPr lang="en-US" b="0" i="1" smtClean="0">
                            <a:latin typeface="Cambria Math" panose="02040503050406030204" pitchFamily="18" charset="0"/>
                          </a:rPr>
                          <m:t>𝜃</m:t>
                        </m:r>
                      </m:e>
                    </m:d>
                  </m:oMath>
                </a14:m>
                <a:r>
                  <a:rPr lang="en-US" dirty="0"/>
                  <a:t> large here</a:t>
                </a:r>
              </a:p>
            </p:txBody>
          </p:sp>
        </mc:Choice>
        <mc:Fallback xmlns="">
          <p:sp>
            <p:nvSpPr>
              <p:cNvPr id="61" name="TextBox 60">
                <a:extLst>
                  <a:ext uri="{FF2B5EF4-FFF2-40B4-BE49-F238E27FC236}">
                    <a16:creationId xmlns:a16="http://schemas.microsoft.com/office/drawing/2014/main" id="{FAC578AC-BB42-9682-D7AB-211EEFB635B6}"/>
                  </a:ext>
                </a:extLst>
              </p:cNvPr>
              <p:cNvSpPr txBox="1">
                <a:spLocks noRot="1" noChangeAspect="1" noMove="1" noResize="1" noEditPoints="1" noAdjustHandles="1" noChangeArrowheads="1" noChangeShapeType="1" noTextEdit="1"/>
              </p:cNvSpPr>
              <p:nvPr/>
            </p:nvSpPr>
            <p:spPr>
              <a:xfrm>
                <a:off x="6701108" y="2862292"/>
                <a:ext cx="1059342" cy="923330"/>
              </a:xfrm>
              <a:prstGeom prst="rect">
                <a:avLst/>
              </a:prstGeom>
              <a:blipFill>
                <a:blip r:embed="rId5"/>
                <a:stretch>
                  <a:fillRect l="-4598" b="-99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A4DEE524-F60D-0119-4E4E-1AA653954F79}"/>
                  </a:ext>
                </a:extLst>
              </p:cNvPr>
              <p:cNvSpPr txBox="1"/>
              <p:nvPr/>
            </p:nvSpPr>
            <p:spPr>
              <a:xfrm>
                <a:off x="8993460" y="2856563"/>
                <a:ext cx="1059342" cy="923330"/>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e>
                        <m:r>
                          <a:rPr lang="en-US" b="0" i="1" smtClean="0">
                            <a:latin typeface="Cambria Math" panose="02040503050406030204" pitchFamily="18" charset="0"/>
                          </a:rPr>
                          <m:t>𝜃</m:t>
                        </m:r>
                      </m:e>
                    </m:d>
                  </m:oMath>
                </a14:m>
                <a:r>
                  <a:rPr lang="en-US" dirty="0"/>
                  <a:t>  small here</a:t>
                </a:r>
              </a:p>
            </p:txBody>
          </p:sp>
        </mc:Choice>
        <mc:Fallback xmlns="">
          <p:sp>
            <p:nvSpPr>
              <p:cNvPr id="62" name="TextBox 61">
                <a:extLst>
                  <a:ext uri="{FF2B5EF4-FFF2-40B4-BE49-F238E27FC236}">
                    <a16:creationId xmlns:a16="http://schemas.microsoft.com/office/drawing/2014/main" id="{A4DEE524-F60D-0119-4E4E-1AA653954F79}"/>
                  </a:ext>
                </a:extLst>
              </p:cNvPr>
              <p:cNvSpPr txBox="1">
                <a:spLocks noRot="1" noChangeAspect="1" noMove="1" noResize="1" noEditPoints="1" noAdjustHandles="1" noChangeArrowheads="1" noChangeShapeType="1" noTextEdit="1"/>
              </p:cNvSpPr>
              <p:nvPr/>
            </p:nvSpPr>
            <p:spPr>
              <a:xfrm>
                <a:off x="8993460" y="2856563"/>
                <a:ext cx="1059342" cy="923330"/>
              </a:xfrm>
              <a:prstGeom prst="rect">
                <a:avLst/>
              </a:prstGeom>
              <a:blipFill>
                <a:blip r:embed="rId6"/>
                <a:stretch>
                  <a:fillRect l="-4598" b="-9934"/>
                </a:stretch>
              </a:blipFill>
            </p:spPr>
            <p:txBody>
              <a:bodyPr/>
              <a:lstStyle/>
              <a:p>
                <a:r>
                  <a:rPr lang="en-US">
                    <a:noFill/>
                  </a:rPr>
                  <a:t> </a:t>
                </a:r>
              </a:p>
            </p:txBody>
          </p:sp>
        </mc:Fallback>
      </mc:AlternateContent>
      <p:sp>
        <p:nvSpPr>
          <p:cNvPr id="63" name="Arrow: Right 62">
            <a:extLst>
              <a:ext uri="{FF2B5EF4-FFF2-40B4-BE49-F238E27FC236}">
                <a16:creationId xmlns:a16="http://schemas.microsoft.com/office/drawing/2014/main" id="{271FCCC5-94A2-10F2-6CBE-8FF1DCFF539C}"/>
              </a:ext>
            </a:extLst>
          </p:cNvPr>
          <p:cNvSpPr/>
          <p:nvPr/>
        </p:nvSpPr>
        <p:spPr>
          <a:xfrm rot="1714729">
            <a:off x="7260735" y="3411726"/>
            <a:ext cx="406121" cy="39959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Arrow: Right 63">
            <a:extLst>
              <a:ext uri="{FF2B5EF4-FFF2-40B4-BE49-F238E27FC236}">
                <a16:creationId xmlns:a16="http://schemas.microsoft.com/office/drawing/2014/main" id="{48AE67EA-7368-93B4-EAC6-3516838D76E3}"/>
              </a:ext>
            </a:extLst>
          </p:cNvPr>
          <p:cNvSpPr/>
          <p:nvPr/>
        </p:nvSpPr>
        <p:spPr>
          <a:xfrm rot="7600736">
            <a:off x="8973165" y="3692095"/>
            <a:ext cx="406121" cy="39959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9125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0" presetClass="path" presetSubtype="0" accel="50000" decel="50000" fill="hold" nodeType="afterEffect">
                                  <p:stCondLst>
                                    <p:cond delay="0"/>
                                  </p:stCondLst>
                                  <p:childTnLst>
                                    <p:animMotion origin="layout" path="M 1.11022E-16 3.33333E-6 L 1.11022E-16 0.00023 C 0.00156 0.02569 0.00573 0.08588 0.00651 0.11689 C 0.00729 0.13055 0.00729 0.14398 0.00768 0.15787 C 0.00729 0.18611 0.00729 0.21389 0.00651 0.24213 C 0.00651 0.24745 0.00625 0.25324 0.00586 0.25856 C 0.00573 0.26759 0.00508 0.27662 0.00508 0.28564 C 0.00443 0.31574 0.0056 0.34583 0.00365 0.37546 C 0.00208 0.40324 0.00286 0.39189 0.00156 0.40949 C 0.0013 0.43449 0.00078 0.45949 0.00078 0.48449 C 0.00065 0.4875 0.00013 0.49074 1.11022E-16 0.49398 C -0.00065 0.49745 -0.00065 0.50115 -0.00078 0.50486 C -0.0013 0.52477 -0.00091 0.54467 -0.00156 0.56458 C -0.00208 0.56967 -0.00208 0.55463 -0.00234 0.54953 C -0.00352 0.53958 -0.0043 0.52963 -0.0056 0.51967 C -0.00508 0.48935 -0.0056 0.45902 -0.00495 0.4287 C -0.0043 0.41435 -0.00208 0.40023 1.11022E-16 0.38634 C -0.0013 0.38055 -0.00352 0.375 -0.00378 0.36875 C -0.00638 0.33564 -0.00495 0.32083 -0.00156 0.28981 C -0.0013 0.28657 -0.00065 0.28356 1.11022E-16 0.28032 C -0.00078 0.27268 -0.00143 0.26481 -0.00234 0.25694 C -0.00273 0.25301 -0.00352 0.24907 -0.00378 0.2449 C -0.00443 0.24004 -0.00495 0.23495 -0.0056 0.23009 C -0.00495 0.19652 -0.00417 0.16296 -0.00378 0.12939 C -0.00365 0.09444 -0.00716 0.14305 -0.00378 0.09213 C -0.00273 0.07453 -0.00208 0.06736 0.00221 0.05162 C 0.00339 0.04722 0.00495 0.04352 0.00586 0.03935 C 0.00651 0.03657 0.00768 0.03102 0.00768 0.03125 C 0.00729 0.02592 0.00729 0.02106 0.00651 0.0162 C 0.00651 0.01458 0.00573 0.01342 0.00508 0.0118 C 0.00495 0.01088 0.00482 0.00949 0.00443 0.00764 C 0.00638 0.06157 0.00638 0.04467 0.00156 0.13889 C 0.00078 0.15393 -0.0013 0.16134 -0.00378 0.17407 C -0.0043 0.20254 -0.00495 0.23148 -0.0056 0.25995 C -0.0056 0.26273 -0.00586 0.26527 -0.00638 0.26805 C -0.00703 0.27801 -0.00729 0.2831 -0.00781 0.29398 C -0.0099 0.37152 -0.00703 0.33264 -0.01302 0.39051 C -0.01354 0.39699 -0.01354 0.40324 -0.0138 0.40949 C -0.01419 0.41458 -0.01432 0.41944 -0.01497 0.42453 C -0.01497 0.43032 -0.0151 0.43634 -0.01523 0.44213 C -0.01432 0.45671 -0.01354 0.47129 -0.01224 0.48564 C -0.01146 0.49398 -0.0099 0.50208 -0.00924 0.51018 C -0.00781 0.52662 -0.00638 0.54282 -0.0056 0.55926 C -0.00495 0.56782 -0.00495 0.57662 -0.00378 0.58472 C -0.00352 0.59097 -0.0043 0.57314 -0.00495 0.56713 C -0.00417 0.5287 -0.0043 0.49027 -0.00352 0.45185 C -0.00286 0.44375 -0.00065 0.43657 1.11022E-16 0.4287 C 0.00156 0.39699 0.00195 0.36504 0.00299 0.33333 C 0.00273 0.32754 0.00299 0.32152 0.00221 0.31574 C 0.0013 0.30949 -0.0013 0.30416 -0.00234 0.29791 C -0.00352 0.29236 -0.00378 0.28634 -0.00495 0.28032 C -0.00495 0.27592 -0.0056 0.27106 -0.0056 0.26643 C -0.0056 0.24838 -0.00495 0.23773 -0.00234 0.2206 C -0.00208 0.21574 -0.00065 0.21018 0.00078 0.20555 C 0.00078 0.20393 0.00143 0.20254 0.00156 0.20139 C 0.00156 0.1949 -0.00404 0.37592 -0.00404 0.3699 " pathEditMode="relative" rAng="0" ptsTypes="AAAAAAAAAAAAAAAAAAAAAAAAAAAAAAAAAAAAAAAAAAAAAAAAAAAAAAAA">
                                      <p:cBhvr>
                                        <p:cTn id="9" dur="5000" fill="hold"/>
                                        <p:tgtEl>
                                          <p:spTgt spid="2"/>
                                        </p:tgtEl>
                                        <p:attrNameLst>
                                          <p:attrName>ppt_x</p:attrName>
                                          <p:attrName>ppt_y</p:attrName>
                                        </p:attrNameLst>
                                      </p:cBhvr>
                                      <p:rCtr x="-378" y="29306"/>
                                    </p:animMotion>
                                  </p:childTnLst>
                                </p:cTn>
                              </p:par>
                            </p:childTnLst>
                          </p:cTn>
                        </p:par>
                        <p:par>
                          <p:cTn id="10" fill="hold">
                            <p:stCondLst>
                              <p:cond delay="5000"/>
                            </p:stCondLst>
                            <p:childTnLst>
                              <p:par>
                                <p:cTn id="11" presetID="1" presetClass="entr" presetSubtype="0" fill="hold" grpId="0" nodeType="after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p:bldP spid="62" grpId="0"/>
      <p:bldP spid="63" grpId="0" animBg="1"/>
      <p:bldP spid="6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AB93EC-623A-120F-0DEA-86E4692A130A}"/>
              </a:ext>
            </a:extLst>
          </p:cNvPr>
          <p:cNvSpPr>
            <a:spLocks noGrp="1"/>
          </p:cNvSpPr>
          <p:nvPr>
            <p:ph type="ctrTitle"/>
          </p:nvPr>
        </p:nvSpPr>
        <p:spPr/>
        <p:txBody>
          <a:bodyPr>
            <a:normAutofit fontScale="90000"/>
          </a:bodyPr>
          <a:lstStyle/>
          <a:p>
            <a:r>
              <a:rPr lang="en-US" dirty="0"/>
              <a:t>Alternative to Mixture of Gaussians: Normalizing Flows</a:t>
            </a:r>
          </a:p>
        </p:txBody>
      </p:sp>
      <p:sp>
        <p:nvSpPr>
          <p:cNvPr id="5" name="Subtitle 4">
            <a:extLst>
              <a:ext uri="{FF2B5EF4-FFF2-40B4-BE49-F238E27FC236}">
                <a16:creationId xmlns:a16="http://schemas.microsoft.com/office/drawing/2014/main" id="{06E46C61-28EB-ABC7-F9F1-5BB4BC8AA4C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53462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BD9287A-382C-9407-641C-F3A40E9823B5}"/>
                  </a:ext>
                </a:extLst>
              </p:cNvPr>
              <p:cNvSpPr>
                <a:spLocks noGrp="1"/>
              </p:cNvSpPr>
              <p:nvPr>
                <p:ph type="title"/>
              </p:nvPr>
            </p:nvSpPr>
            <p:spPr/>
            <p:txBody>
              <a:bodyPr>
                <a:normAutofit/>
              </a:bodyPr>
              <a:lstStyle/>
              <a:p>
                <a:r>
                  <a:rPr lang="en-US" dirty="0"/>
                  <a:t>SNPE Example: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 </m:t>
                    </m:r>
                    <m:r>
                      <m:rPr>
                        <m:sty m:val="p"/>
                      </m:rPr>
                      <a:rPr lang="en-US" b="0" i="1" smtClean="0">
                        <a:latin typeface="Cambria Math" panose="02040503050406030204" pitchFamily="18" charset="0"/>
                      </a:rPr>
                      <m:t>ϵ</m:t>
                    </m:r>
                    <m:r>
                      <a:rPr lang="en-US" b="0" i="1" smtClean="0">
                        <a:latin typeface="Cambria Math" panose="02040503050406030204" pitchFamily="18" charset="0"/>
                      </a:rPr>
                      <m:t> </m:t>
                    </m:r>
                  </m:oMath>
                </a14:m>
                <a:endParaRPr lang="en-US" dirty="0"/>
              </a:p>
            </p:txBody>
          </p:sp>
        </mc:Choice>
        <mc:Fallback xmlns="">
          <p:sp>
            <p:nvSpPr>
              <p:cNvPr id="2" name="Title 1">
                <a:extLst>
                  <a:ext uri="{FF2B5EF4-FFF2-40B4-BE49-F238E27FC236}">
                    <a16:creationId xmlns:a16="http://schemas.microsoft.com/office/drawing/2014/main" id="{0BD9287A-382C-9407-641C-F3A40E9823B5}"/>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A5E6D8-682A-078E-9376-5A4474ED834E}"/>
                  </a:ext>
                </a:extLst>
              </p:cNvPr>
              <p:cNvSpPr>
                <a:spLocks noGrp="1"/>
              </p:cNvSpPr>
              <p:nvPr>
                <p:ph idx="1"/>
              </p:nvPr>
            </p:nvSpPr>
            <p:spPr>
              <a:xfrm>
                <a:off x="838200" y="1825625"/>
                <a:ext cx="10515600" cy="4351338"/>
              </a:xfrm>
            </p:spPr>
            <p:txBody>
              <a:bodyPr>
                <a:normAutofit lnSpcReduction="10000"/>
              </a:bodyPr>
              <a:lstStyle/>
              <a:p>
                <a14:m>
                  <m:oMath xmlns:m="http://schemas.openxmlformats.org/officeDocument/2006/math">
                    <m:r>
                      <a:rPr lang="en-US" b="0" i="1" smtClean="0">
                        <a:latin typeface="Cambria Math" panose="02040503050406030204" pitchFamily="18" charset="0"/>
                      </a:rPr>
                      <m:t>𝑋</m:t>
                    </m:r>
                  </m:oMath>
                </a14:m>
                <a:r>
                  <a:rPr lang="en-US" dirty="0"/>
                  <a:t> = data,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dirty="0"/>
                  <a:t>= model simulations,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 prior over </a:t>
                </a:r>
                <a14:m>
                  <m:oMath xmlns:m="http://schemas.openxmlformats.org/officeDocument/2006/math">
                    <m:r>
                      <a:rPr lang="en-US" b="0" i="1" smtClean="0">
                        <a:latin typeface="Cambria Math" panose="02040503050406030204" pitchFamily="18" charset="0"/>
                      </a:rPr>
                      <m:t>𝜃</m:t>
                    </m:r>
                  </m:oMath>
                </a14:m>
                <a:r>
                  <a:rPr lang="en-US" dirty="0"/>
                  <a:t>, </a:t>
                </a:r>
                <a14:m>
                  <m:oMath xmlns:m="http://schemas.openxmlformats.org/officeDocument/2006/math">
                    <m:r>
                      <a:rPr lang="en-US" b="0" i="1" dirty="0" smtClean="0">
                        <a:latin typeface="Cambria Math" panose="02040503050406030204" pitchFamily="18" charset="0"/>
                      </a:rPr>
                      <m:t>𝜖</m:t>
                    </m:r>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b="0" i="1" dirty="0" smtClean="0">
                        <a:latin typeface="Cambria Math" panose="02040503050406030204" pitchFamily="18" charset="0"/>
                      </a:rPr>
                      <m:t>(0,1)</m:t>
                    </m:r>
                  </m:oMath>
                </a14:m>
                <a:endParaRPr lang="en-US" dirty="0"/>
              </a:p>
              <a:p>
                <a:r>
                  <a:rPr lang="en-US" dirty="0"/>
                  <a:t>Objective: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endParaRPr lang="en-US" dirty="0"/>
              </a:p>
              <a:p>
                <a:r>
                  <a:rPr lang="en-US" b="1" dirty="0"/>
                  <a:t>Step 1: </a:t>
                </a:r>
                <a14:m>
                  <m:oMath xmlns:m="http://schemas.openxmlformats.org/officeDocument/2006/math">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e>
                        </m:d>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𝐼</m:t>
                        </m:r>
                      </m:sup>
                    </m:sSubSup>
                  </m:oMath>
                </a14:m>
                <a:r>
                  <a:rPr lang="en-US" b="0" dirty="0"/>
                  <a:t> = simulated via Monte Carlo</a:t>
                </a:r>
              </a:p>
              <a:p>
                <a:pPr marL="914400" lvl="1" indent="-457200">
                  <a:buFont typeface="+mj-lt"/>
                  <a:buAutoNum type="arabicPeriod"/>
                </a:pPr>
                <a:r>
                  <a:rPr lang="en-US" dirty="0"/>
                  <a:t>Sample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b="0" dirty="0"/>
                  <a:t> from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endParaRPr lang="en-US" b="0" dirty="0"/>
              </a:p>
              <a:p>
                <a:pPr marL="914400" lvl="1" indent="-457200">
                  <a:buFont typeface="+mj-lt"/>
                  <a:buAutoNum type="arabicPeriod"/>
                </a:pPr>
                <a:r>
                  <a:rPr lang="en-US" dirty="0"/>
                  <a:t>Sample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b="0" dirty="0"/>
                  <a:t> from simulated model conditional on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dirty="0"/>
                  <a: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 </m:t>
                    </m:r>
                    <m:r>
                      <m:rPr>
                        <m:sty m:val="p"/>
                      </m:rPr>
                      <a:rPr lang="en-US" b="0" i="1" smtClean="0">
                        <a:latin typeface="Cambria Math" panose="02040503050406030204" pitchFamily="18" charset="0"/>
                      </a:rPr>
                      <m:t>ϵ</m:t>
                    </m:r>
                  </m:oMath>
                </a14:m>
                <a:endParaRPr lang="en-US" b="0" dirty="0"/>
              </a:p>
              <a:p>
                <a:r>
                  <a:rPr lang="en-US" b="1" dirty="0"/>
                  <a:t>Step 2: </a:t>
                </a:r>
                <a:r>
                  <a:rPr lang="en-US" dirty="0"/>
                  <a:t>Estimate the conditional density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oMath>
                </a14:m>
                <a:r>
                  <a:rPr lang="en-US" b="0" dirty="0"/>
                  <a:t> </a:t>
                </a:r>
              </a:p>
              <a:p>
                <a:pPr marL="914400" lvl="1" indent="-457200">
                  <a:buFont typeface="+mj-lt"/>
                  <a:buAutoNum type="arabicPeriod"/>
                </a:pPr>
                <a:r>
                  <a:rPr lang="en-US" dirty="0"/>
                  <a:t>Use a conditional density estimator</a:t>
                </a:r>
              </a:p>
              <a:p>
                <a:pPr lvl="2">
                  <a:buFont typeface="Wingdings" panose="05000000000000000000" pitchFamily="2" charset="2"/>
                  <a:buChar char="§"/>
                </a:pPr>
                <a:r>
                  <a:rPr lang="en-US" dirty="0"/>
                  <a:t>Many different CDEs can be used, I will discuss a conditional mixture of Gaussians and normalizing flows</a:t>
                </a:r>
              </a:p>
              <a:p>
                <a:r>
                  <a:rPr lang="en-US" b="1" dirty="0"/>
                  <a:t>Step 3: </a:t>
                </a:r>
                <a:r>
                  <a:rPr lang="en-US" dirty="0"/>
                  <a:t>Condition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b="1" dirty="0"/>
                  <a:t> </a:t>
                </a:r>
                <a:r>
                  <a:rPr lang="en-US" dirty="0"/>
                  <a:t>on the real data, </a:t>
                </a:r>
                <a14:m>
                  <m:oMath xmlns:m="http://schemas.openxmlformats.org/officeDocument/2006/math">
                    <m:r>
                      <a:rPr lang="en-US" b="0" i="1" smtClean="0">
                        <a:latin typeface="Cambria Math" panose="02040503050406030204" pitchFamily="18" charset="0"/>
                      </a:rPr>
                      <m:t>𝑋</m:t>
                    </m:r>
                  </m:oMath>
                </a14:m>
                <a:r>
                  <a:rPr lang="en-US" dirty="0"/>
                  <a:t>, forming the posterior: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9CA5E6D8-682A-078E-9376-5A4474ED834E}"/>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3"/>
                <a:stretch>
                  <a:fillRect l="-1043" t="-3081"/>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8CDF3D0D-5B30-692D-C86E-54068AC85DF7}"/>
              </a:ext>
            </a:extLst>
          </p:cNvPr>
          <p:cNvSpPr/>
          <p:nvPr/>
        </p:nvSpPr>
        <p:spPr>
          <a:xfrm>
            <a:off x="1063690" y="3993502"/>
            <a:ext cx="10067730" cy="1399592"/>
          </a:xfrm>
          <a:prstGeom prst="rect">
            <a:avLst/>
          </a:prstGeom>
          <a:solidFill>
            <a:srgbClr val="FFFF0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9617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09517-DE4A-1E0E-988B-AFB709B574FA}"/>
              </a:ext>
            </a:extLst>
          </p:cNvPr>
          <p:cNvSpPr>
            <a:spLocks noGrp="1"/>
          </p:cNvSpPr>
          <p:nvPr>
            <p:ph type="title"/>
          </p:nvPr>
        </p:nvSpPr>
        <p:spPr/>
        <p:txBody>
          <a:bodyPr/>
          <a:lstStyle/>
          <a:p>
            <a:r>
              <a:rPr lang="en-US" dirty="0"/>
              <a:t>Smets-</a:t>
            </a:r>
            <a:r>
              <a:rPr lang="en-US" dirty="0" err="1"/>
              <a:t>Wouters</a:t>
            </a:r>
            <a:r>
              <a:rPr lang="en-US" dirty="0"/>
              <a:t> 2007</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8ACC88-A276-7D35-C9CF-6F47729BCDA6}"/>
                  </a:ext>
                </a:extLst>
              </p:cNvPr>
              <p:cNvSpPr>
                <a:spLocks noGrp="1"/>
              </p:cNvSpPr>
              <p:nvPr>
                <p:ph idx="1"/>
              </p:nvPr>
            </p:nvSpPr>
            <p:spPr/>
            <p:txBody>
              <a:bodyPr>
                <a:normAutofit fontScale="92500" lnSpcReduction="10000"/>
              </a:bodyPr>
              <a:lstStyle/>
              <a:p>
                <a:r>
                  <a:rPr lang="en-US" dirty="0"/>
                  <a:t>In Smets-</a:t>
                </a:r>
                <a:r>
                  <a:rPr lang="en-US" dirty="0" err="1"/>
                  <a:t>Wouters</a:t>
                </a:r>
                <a:r>
                  <a:rPr lang="en-US" dirty="0"/>
                  <a:t> 2007, </a:t>
                </a:r>
                <a14:m>
                  <m:oMath xmlns:m="http://schemas.openxmlformats.org/officeDocument/2006/math">
                    <m:r>
                      <a:rPr lang="en-US" b="0" i="1" smtClean="0">
                        <a:latin typeface="Cambria Math" panose="02040503050406030204" pitchFamily="18" charset="0"/>
                      </a:rPr>
                      <m:t>𝜃</m:t>
                    </m:r>
                  </m:oMath>
                </a14:m>
                <a:r>
                  <a:rPr lang="en-US" dirty="0"/>
                  <a:t> is 36 dimensional</a:t>
                </a:r>
              </a:p>
              <a:p>
                <a:endParaRPr lang="en-US" dirty="0"/>
              </a:p>
              <a:p>
                <a:r>
                  <a:rPr lang="en-US" dirty="0"/>
                  <a:t>For Gaussian Mixture: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𝑗</m:t>
                        </m:r>
                      </m:sub>
                      <m:sup>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𝑘</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𝛼</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e>
                    </m:nary>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𝑗</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e>
                    </m:d>
                  </m:oMath>
                </a14:m>
                <a:endParaRPr lang="en-US" dirty="0"/>
              </a:p>
              <a:p>
                <a:endParaRPr lang="en-US" dirty="0"/>
              </a:p>
              <a:p>
                <a:r>
                  <a:rPr lang="en-US" dirty="0"/>
                  <a:t>Each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𝑗</m:t>
                        </m:r>
                      </m:sub>
                    </m:sSub>
                  </m:oMath>
                </a14:m>
                <a:r>
                  <a:rPr lang="en-US" dirty="0"/>
                  <a:t> is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36∗37/2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𝑅</m:t>
                        </m:r>
                      </m:e>
                      <m:sup>
                        <m:r>
                          <a:rPr lang="en-US" b="0" i="1" smtClean="0">
                            <a:latin typeface="Cambria Math" panose="02040503050406030204" pitchFamily="18" charset="0"/>
                          </a:rPr>
                          <m:t>666</m:t>
                        </m:r>
                      </m:sup>
                    </m:sSup>
                  </m:oMath>
                </a14:m>
                <a:endParaRPr lang="en-US" dirty="0"/>
              </a:p>
              <a:p>
                <a:endParaRPr lang="en-US" dirty="0"/>
              </a:p>
              <a:p>
                <a:r>
                  <a:rPr lang="en-US" dirty="0"/>
                  <a:t>Infeasible for large </a:t>
                </a:r>
                <a14:m>
                  <m:oMath xmlns:m="http://schemas.openxmlformats.org/officeDocument/2006/math">
                    <m:r>
                      <a:rPr lang="en-US" b="0" i="1" smtClean="0">
                        <a:latin typeface="Cambria Math" panose="02040503050406030204" pitchFamily="18" charset="0"/>
                      </a:rPr>
                      <m:t>𝜃</m:t>
                    </m:r>
                  </m:oMath>
                </a14:m>
                <a:endParaRPr lang="en-US" dirty="0"/>
              </a:p>
              <a:p>
                <a:endParaRPr lang="en-US" dirty="0"/>
              </a:p>
              <a:p>
                <a:r>
                  <a:rPr lang="en-US" dirty="0"/>
                  <a:t>Alternative: Use normalizing flow for Step 2: Conditional Density Estimator</a:t>
                </a:r>
              </a:p>
            </p:txBody>
          </p:sp>
        </mc:Choice>
        <mc:Fallback xmlns="">
          <p:sp>
            <p:nvSpPr>
              <p:cNvPr id="3" name="Content Placeholder 2">
                <a:extLst>
                  <a:ext uri="{FF2B5EF4-FFF2-40B4-BE49-F238E27FC236}">
                    <a16:creationId xmlns:a16="http://schemas.microsoft.com/office/drawing/2014/main" id="{B68ACC88-A276-7D35-C9CF-6F47729BCDA6}"/>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n-US">
                    <a:noFill/>
                  </a:rPr>
                  <a:t> </a:t>
                </a:r>
              </a:p>
            </p:txBody>
          </p:sp>
        </mc:Fallback>
      </mc:AlternateContent>
    </p:spTree>
    <p:extLst>
      <p:ext uri="{BB962C8B-B14F-4D97-AF65-F5344CB8AC3E}">
        <p14:creationId xmlns:p14="http://schemas.microsoft.com/office/powerpoint/2010/main" val="3522250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42DD0-0264-F150-C050-B7D960763289}"/>
              </a:ext>
            </a:extLst>
          </p:cNvPr>
          <p:cNvSpPr>
            <a:spLocks noGrp="1"/>
          </p:cNvSpPr>
          <p:nvPr>
            <p:ph type="title"/>
          </p:nvPr>
        </p:nvSpPr>
        <p:spPr/>
        <p:txBody>
          <a:bodyPr/>
          <a:lstStyle/>
          <a:p>
            <a:r>
              <a:rPr lang="en-US" dirty="0"/>
              <a:t>Change of Variables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D25DBA-1023-9714-9F7A-5265CE9F02A1}"/>
                  </a:ext>
                </a:extLst>
              </p:cNvPr>
              <p:cNvSpPr>
                <a:spLocks noGrp="1"/>
              </p:cNvSpPr>
              <p:nvPr>
                <p:ph idx="1"/>
              </p:nvPr>
            </p:nvSpPr>
            <p:spPr/>
            <p:txBody>
              <a:bodyPr/>
              <a:lstStyle/>
              <a:p>
                <a:r>
                  <a:rPr lang="en-US" dirty="0"/>
                  <a:t>Given a random variable: </a:t>
                </a:r>
                <a14:m>
                  <m:oMath xmlns:m="http://schemas.openxmlformats.org/officeDocument/2006/math">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r>
                      <a:rPr lang="en-US" b="0" i="0" smtClean="0">
                        <a:latin typeface="Cambria Math" panose="02040503050406030204" pitchFamily="18" charset="0"/>
                      </a:rPr>
                      <m:t>,</m:t>
                    </m:r>
                  </m:oMath>
                </a14:m>
                <a:r>
                  <a:rPr lang="en-US" dirty="0"/>
                  <a:t> and a function f</a:t>
                </a:r>
                <a14:m>
                  <m:oMath xmlns:m="http://schemas.openxmlformats.org/officeDocument/2006/math">
                    <m:r>
                      <a:rPr lang="en-US" b="0" i="0" smtClean="0">
                        <a:latin typeface="Cambria Math" panose="02040503050406030204" pitchFamily="18" charset="0"/>
                      </a:rPr>
                      <m:t>:</m:t>
                    </m:r>
                  </m:oMath>
                </a14:m>
                <a:r>
                  <a:rPr lang="en-US" dirty="0"/>
                  <a:t> </a:t>
                </a:r>
              </a:p>
              <a:p>
                <a:pPr marL="0" indent="0">
                  <a:buNone/>
                </a:pPr>
                <a14:m>
                  <m:oMathPara xmlns:m="http://schemas.openxmlformats.org/officeDocument/2006/math">
                    <m:oMathParaPr>
                      <m:jc m:val="centerGroup"/>
                    </m:oMathParaPr>
                    <m:oMath xmlns:m="http://schemas.openxmlformats.org/officeDocument/2006/math">
                      <m:r>
                        <m:rPr>
                          <m:sty m:val="p"/>
                        </m:rPr>
                        <a:rPr lang="en-US" smtClean="0">
                          <a:latin typeface="Cambria Math" panose="02040503050406030204" pitchFamily="18" charset="0"/>
                        </a:rPr>
                        <m:t>q</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d>
                            <m:dPr>
                              <m:ctrlPr>
                                <a:rPr lang="en-US" b="1" i="1" smtClean="0">
                                  <a:latin typeface="Cambria Math" panose="02040503050406030204" pitchFamily="18" charset="0"/>
                                </a:rPr>
                              </m:ctrlPr>
                            </m:dPr>
                            <m:e>
                              <m:r>
                                <a:rPr lang="en-US" b="1" i="1" smtClean="0">
                                  <a:latin typeface="Cambria Math" panose="02040503050406030204" pitchFamily="18" charset="0"/>
                                </a:rPr>
                                <m:t>𝜽</m:t>
                              </m:r>
                            </m:e>
                          </m:d>
                        </m:e>
                      </m:d>
                      <m:r>
                        <a:rPr lang="en-US" b="0" i="1" smtClean="0">
                          <a:latin typeface="Cambria Math" panose="02040503050406030204" pitchFamily="18" charset="0"/>
                        </a:rPr>
                        <m:t>=</m:t>
                      </m:r>
                      <m:r>
                        <m:rPr>
                          <m:sty m:val="p"/>
                        </m:rPr>
                        <a:rPr lang="en-US" b="0" i="0" smtClean="0">
                          <a:latin typeface="Cambria Math" panose="02040503050406030204" pitchFamily="18" charset="0"/>
                        </a:rPr>
                        <m:t>p</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det</m:t>
                              </m:r>
                              <m:f>
                                <m:fPr>
                                  <m:ctrlPr>
                                    <a:rPr lang="en-US" b="0" i="1" smtClean="0">
                                      <a:latin typeface="Cambria Math" panose="02040503050406030204" pitchFamily="18" charset="0"/>
                                    </a:rPr>
                                  </m:ctrlPr>
                                </m:fPr>
                                <m:num>
                                  <m:r>
                                    <a:rPr lang="en-US" b="0" i="1" smtClean="0">
                                      <a:latin typeface="Cambria Math" panose="02040503050406030204" pitchFamily="18" charset="0"/>
                                    </a:rPr>
                                    <m:t>𝛿</m:t>
                                  </m:r>
                                  <m:r>
                                    <a:rPr lang="en-US" b="0" i="1" smtClean="0">
                                      <a:latin typeface="Cambria Math" panose="02040503050406030204" pitchFamily="18" charset="0"/>
                                    </a:rPr>
                                    <m:t>𝑓</m:t>
                                  </m:r>
                                </m:num>
                                <m:den>
                                  <m:r>
                                    <a:rPr lang="en-US" b="0" i="1" smtClean="0">
                                      <a:latin typeface="Cambria Math" panose="02040503050406030204" pitchFamily="18" charset="0"/>
                                    </a:rPr>
                                    <m:t>𝛿</m:t>
                                  </m:r>
                                  <m:r>
                                    <a:rPr lang="en-US" b="1" i="1" smtClean="0">
                                      <a:latin typeface="Cambria Math" panose="02040503050406030204" pitchFamily="18" charset="0"/>
                                    </a:rPr>
                                    <m:t>𝜽</m:t>
                                  </m:r>
                                </m:den>
                              </m:f>
                            </m:e>
                          </m:d>
                        </m:e>
                        <m:sup>
                          <m:r>
                            <a:rPr lang="en-US" b="0" i="1" smtClean="0">
                              <a:latin typeface="Cambria Math" panose="02040503050406030204" pitchFamily="18" charset="0"/>
                            </a:rPr>
                            <m:t>−1</m:t>
                          </m:r>
                        </m:sup>
                      </m:sSup>
                    </m:oMath>
                  </m:oMathPara>
                </a14:m>
                <a:endParaRPr lang="en-US" b="0" dirty="0"/>
              </a:p>
              <a:p>
                <a:r>
                  <a:rPr lang="en-US" dirty="0"/>
                  <a:t>Given a series of transformations: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𝑲</m:t>
                        </m:r>
                      </m:sub>
                    </m:sSub>
                    <m:r>
                      <a:rPr lang="en-US" b="1"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sub>
                    </m:sSub>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r>
                          <a:rPr lang="en-US" b="0" i="1" smtClean="0">
                            <a:latin typeface="Cambria Math" panose="02040503050406030204" pitchFamily="18" charset="0"/>
                          </a:rPr>
                          <m:t>−1</m:t>
                        </m:r>
                      </m:sub>
                    </m:sSub>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1" i="1" smtClean="0">
                        <a:latin typeface="Cambria Math" panose="02040503050406030204" pitchFamily="18" charset="0"/>
                      </a:rPr>
                      <m:t>𝜽</m:t>
                    </m:r>
                    <m:r>
                      <a:rPr lang="en-US" b="0" i="1" smtClean="0">
                        <a:latin typeface="Cambria Math" panose="02040503050406030204" pitchFamily="18" charset="0"/>
                      </a:rPr>
                      <m:t>)</m:t>
                    </m:r>
                  </m:oMath>
                </a14:m>
                <a:r>
                  <a:rPr lang="en-US" dirty="0"/>
                  <a:t>:</a:t>
                </a:r>
              </a:p>
              <a:p>
                <a:pPr marL="0" indent="0" algn="ctr">
                  <a:buNone/>
                </a:pPr>
                <a14:m>
                  <m:oMath xmlns:m="http://schemas.openxmlformats.org/officeDocument/2006/math">
                    <m:r>
                      <m:rPr>
                        <m:sty m:val="p"/>
                      </m:rPr>
                      <a:rPr lang="en-US" b="0" i="0" smtClean="0">
                        <a:latin typeface="Cambria Math" panose="02040503050406030204" pitchFamily="18" charset="0"/>
                      </a:rPr>
                      <m:t>ln</m:t>
                    </m:r>
                    <m:d>
                      <m:dPr>
                        <m:ctrlPr>
                          <a:rPr lang="en-US" b="0" i="1" smtClean="0">
                            <a:latin typeface="Cambria Math" panose="02040503050406030204" pitchFamily="18" charset="0"/>
                          </a:rPr>
                        </m:ctrlPr>
                      </m:dPr>
                      <m:e>
                        <m:r>
                          <m:rPr>
                            <m:sty m:val="p"/>
                          </m:rPr>
                          <a:rPr lang="en-US" smtClean="0">
                            <a:latin typeface="Cambria Math" panose="02040503050406030204" pitchFamily="18" charset="0"/>
                          </a:rPr>
                          <m:t>q</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𝑲</m:t>
                                </m:r>
                              </m:sub>
                            </m:sSub>
                          </m:e>
                        </m:d>
                      </m:e>
                    </m:d>
                    <m:r>
                      <a:rPr lang="en-US" b="0" i="1" smtClean="0">
                        <a:latin typeface="Cambria Math" panose="02040503050406030204" pitchFamily="18" charset="0"/>
                      </a:rPr>
                      <m:t>=</m:t>
                    </m:r>
                    <m:r>
                      <m:rPr>
                        <m:sty m:val="p"/>
                      </m:rPr>
                      <a:rPr lang="en-US" b="0" i="0" smtClean="0">
                        <a:latin typeface="Cambria Math" panose="02040503050406030204" pitchFamily="18" charset="0"/>
                      </a:rPr>
                      <m:t>ln</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p</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𝟎</m:t>
                                </m:r>
                              </m:sub>
                            </m:sSub>
                          </m:e>
                        </m:d>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sub>
                      <m:sup>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𝐾</m:t>
                        </m:r>
                      </m:sup>
                      <m:e>
                        <m:r>
                          <m:rPr>
                            <m:sty m:val="p"/>
                          </m:rPr>
                          <a:rPr lang="en-US" b="0" i="0" smtClean="0">
                            <a:latin typeface="Cambria Math" panose="02040503050406030204" pitchFamily="18" charset="0"/>
                          </a:rPr>
                          <m:t>ln</m:t>
                        </m:r>
                        <m:r>
                          <a:rPr lang="en-US" b="0" i="0" smtClean="0">
                            <a:latin typeface="Cambria Math" panose="02040503050406030204" pitchFamily="18" charset="0"/>
                          </a:rPr>
                          <m:t>(|</m:t>
                        </m:r>
                        <m:r>
                          <m:rPr>
                            <m:sty m:val="p"/>
                          </m:rPr>
                          <a:rPr lang="en-US" b="0" i="0" smtClean="0">
                            <a:latin typeface="Cambria Math" panose="02040503050406030204" pitchFamily="18" charset="0"/>
                          </a:rPr>
                          <m:t>det</m:t>
                        </m:r>
                      </m:e>
                    </m:nary>
                  </m:oMath>
                </a14:m>
                <a:r>
                  <a:rPr lang="en-US" b="0"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𝛿</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num>
                      <m:den>
                        <m:r>
                          <a:rPr lang="en-US" b="0" i="1" smtClean="0">
                            <a:latin typeface="Cambria Math" panose="02040503050406030204" pitchFamily="18" charset="0"/>
                          </a:rPr>
                          <m:t>𝛿</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 </m:t>
                            </m:r>
                          </m:sub>
                        </m:sSub>
                      </m:den>
                    </m:f>
                    <m:r>
                      <a:rPr lang="en-US" b="0" i="0" smtClean="0">
                        <a:latin typeface="Cambria Math" panose="02040503050406030204" pitchFamily="18" charset="0"/>
                      </a:rPr>
                      <m:t>|)</m:t>
                    </m:r>
                  </m:oMath>
                </a14:m>
                <a:endParaRPr lang="en-US" b="1" dirty="0"/>
              </a:p>
              <a:p>
                <a:r>
                  <a:rPr lang="en-US" dirty="0"/>
                  <a:t>Given this information, we can create a series of transformations</a:t>
                </a:r>
                <a14:m>
                  <m:oMath xmlns:m="http://schemas.openxmlformats.org/officeDocument/2006/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oMath>
                </a14:m>
                <a:r>
                  <a:rPr lang="en-US" dirty="0"/>
                  <a:t> that can take a parametric distribution like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𝟎</m:t>
                            </m:r>
                          </m:sub>
                        </m:sSub>
                      </m:e>
                    </m:d>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𝟎</m:t>
                        </m:r>
                      </m:e>
                    </m:acc>
                    <m:r>
                      <a:rPr lang="en-US" b="0" i="1" smtClean="0">
                        <a:latin typeface="Cambria Math" panose="02040503050406030204" pitchFamily="18" charset="0"/>
                      </a:rPr>
                      <m:t>,</m:t>
                    </m:r>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𝟏</m:t>
                        </m:r>
                      </m:e>
                    </m:acc>
                    <m:r>
                      <a:rPr lang="en-US" b="0" i="1" smtClean="0">
                        <a:latin typeface="Cambria Math" panose="02040503050406030204" pitchFamily="18" charset="0"/>
                      </a:rPr>
                      <m:t> )</m:t>
                    </m:r>
                  </m:oMath>
                </a14:m>
                <a:r>
                  <a:rPr lang="en-US" dirty="0"/>
                  <a:t>, and morph it into a broad family of distributions</a:t>
                </a:r>
              </a:p>
            </p:txBody>
          </p:sp>
        </mc:Choice>
        <mc:Fallback xmlns="">
          <p:sp>
            <p:nvSpPr>
              <p:cNvPr id="3" name="Content Placeholder 2">
                <a:extLst>
                  <a:ext uri="{FF2B5EF4-FFF2-40B4-BE49-F238E27FC236}">
                    <a16:creationId xmlns:a16="http://schemas.microsoft.com/office/drawing/2014/main" id="{3CD25DBA-1023-9714-9F7A-5265CE9F02A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256145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9E43C-0C1A-60D5-35DB-AF8D7630F1DF}"/>
              </a:ext>
            </a:extLst>
          </p:cNvPr>
          <p:cNvSpPr>
            <a:spLocks noGrp="1"/>
          </p:cNvSpPr>
          <p:nvPr>
            <p:ph type="title"/>
          </p:nvPr>
        </p:nvSpPr>
        <p:spPr/>
        <p:txBody>
          <a:bodyPr/>
          <a:lstStyle/>
          <a:p>
            <a:r>
              <a:rPr lang="en-US" dirty="0"/>
              <a:t>Talking Syntax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7411B3-BC05-D1BF-F8B7-1D137B8924F7}"/>
                  </a:ext>
                </a:extLst>
              </p:cNvPr>
              <p:cNvSpPr>
                <a:spLocks noGrp="1"/>
              </p:cNvSpPr>
              <p:nvPr>
                <p:ph idx="1"/>
              </p:nvPr>
            </p:nvSpPr>
            <p:spPr/>
            <p:txBody>
              <a:bodyPr>
                <a:normAutofit lnSpcReduction="10000"/>
              </a:bodyPr>
              <a:lstStyle/>
              <a:p>
                <a:r>
                  <a:rPr lang="en-US" dirty="0"/>
                  <a:t>Some syntax:</a:t>
                </a:r>
              </a:p>
              <a:p>
                <a:pPr lvl="1"/>
                <a:r>
                  <a:rPr lang="en-US" dirty="0"/>
                  <a:t>Call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 a bijector (because it will be a bijection…more to follow), a stack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’s is a flow</a:t>
                </a:r>
              </a:p>
              <a:p>
                <a:pPr marL="457200" lvl="1" indent="0">
                  <a:buNone/>
                </a:pPr>
                <a:endParaRPr lang="en-US" dirty="0"/>
              </a:p>
              <a:p>
                <a:pPr lvl="1"/>
                <a:r>
                  <a:rPr lang="en-US" dirty="0"/>
                  <a:t>Subscript variables like the </a:t>
                </a:r>
                <a14:m>
                  <m:oMath xmlns:m="http://schemas.openxmlformats.org/officeDocument/2006/math">
                    <m:r>
                      <a:rPr lang="en-US" b="0" i="1" smtClean="0">
                        <a:latin typeface="Cambria Math" panose="02040503050406030204" pitchFamily="18" charset="0"/>
                      </a:rPr>
                      <m:t>𝑘</m:t>
                    </m:r>
                  </m:oMath>
                </a14:m>
                <a:r>
                  <a:rPr lang="en-US" dirty="0"/>
                  <a:t> 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𝑘</m:t>
                        </m:r>
                      </m:sub>
                    </m:sSub>
                  </m:oMath>
                </a14:m>
                <a:r>
                  <a:rPr lang="en-US" dirty="0"/>
                  <a:t> correspond to the composition level in the equations: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𝑲</m:t>
                        </m:r>
                      </m:sub>
                    </m:sSub>
                    <m:r>
                      <a:rPr lang="en-US" b="1"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sub>
                    </m:sSub>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𝐾</m:t>
                        </m:r>
                        <m:r>
                          <a:rPr lang="en-US" b="0" i="1" smtClean="0">
                            <a:latin typeface="Cambria Math" panose="02040503050406030204" pitchFamily="18" charset="0"/>
                          </a:rPr>
                          <m:t>−1</m:t>
                        </m:r>
                      </m:sub>
                    </m:sSub>
                    <m:r>
                      <a:rPr lang="en-US" b="1"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𝟎</m:t>
                        </m:r>
                      </m:sub>
                    </m:sSub>
                    <m:r>
                      <a:rPr lang="en-US" b="0" i="1" smtClean="0">
                        <a:latin typeface="Cambria Math" panose="02040503050406030204" pitchFamily="18" charset="0"/>
                      </a:rPr>
                      <m:t>)</m:t>
                    </m:r>
                  </m:oMath>
                </a14:m>
                <a:r>
                  <a:rPr lang="en-US" dirty="0"/>
                  <a:t>:</a:t>
                </a:r>
              </a:p>
              <a:p>
                <a:pPr marL="457200" lvl="1" indent="0">
                  <a:buNone/>
                </a:pPr>
                <a:endParaRPr lang="en-US" dirty="0"/>
              </a:p>
              <a:p>
                <a:pPr lvl="1"/>
                <a:r>
                  <a:rPr lang="en-US" dirty="0"/>
                  <a:t>Superscript variables, </a:t>
                </a:r>
                <a14:m>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𝜽</m:t>
                        </m:r>
                      </m:e>
                      <m:sub>
                        <m:r>
                          <a:rPr lang="en-US" b="1" i="1" smtClean="0">
                            <a:latin typeface="Cambria Math" panose="02040503050406030204" pitchFamily="18" charset="0"/>
                          </a:rPr>
                          <m:t>𝒌</m:t>
                        </m:r>
                      </m:sub>
                      <m:sup>
                        <m:r>
                          <a:rPr lang="en-US" b="1" i="1" smtClean="0">
                            <a:latin typeface="Cambria Math" panose="02040503050406030204" pitchFamily="18" charset="0"/>
                          </a:rPr>
                          <m:t>𝒋</m:t>
                        </m:r>
                      </m:sup>
                    </m:sSubSup>
                  </m:oMath>
                </a14:m>
                <a:r>
                  <a:rPr lang="en-US" dirty="0"/>
                  <a:t> and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𝑓</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oMath>
                </a14:m>
                <a:r>
                  <a:rPr lang="en-US" dirty="0"/>
                  <a:t> which I introduce here, indicate the element in the vector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sub>
                    </m:sSub>
                    <m:r>
                      <a:rPr lang="en-US" b="0" i="0" smtClean="0">
                        <a:latin typeface="Cambria Math" panose="02040503050406030204" pitchFamily="18" charset="0"/>
                      </a:rPr>
                      <m:t> </m:t>
                    </m:r>
                  </m:oMath>
                </a14:m>
                <a:r>
                  <a:rPr lang="en-US" dirty="0"/>
                  <a:t>or</a:t>
                </a:r>
                <a14:m>
                  <m:oMath xmlns:m="http://schemas.openxmlformats.org/officeDocument/2006/math">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𝑘</m:t>
                        </m:r>
                      </m:sub>
                    </m:sSub>
                  </m:oMath>
                </a14:m>
                <a:r>
                  <a:rPr lang="en-US" dirty="0"/>
                  <a:t>, as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sub>
                    </m:sSub>
                  </m:oMath>
                </a14:m>
                <a:r>
                  <a:rPr lang="en-US" b="1" dirty="0"/>
                  <a:t> </a:t>
                </a:r>
                <a:r>
                  <a:rPr lang="en-US" dirty="0"/>
                  <a:t>is a vector and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𝑓</m:t>
                        </m:r>
                      </m:e>
                      <m:sub>
                        <m:r>
                          <a:rPr lang="en-US" b="0" i="1" dirty="0" smtClean="0">
                            <a:latin typeface="Cambria Math" panose="02040503050406030204" pitchFamily="18" charset="0"/>
                          </a:rPr>
                          <m:t>𝑘</m:t>
                        </m:r>
                      </m:sub>
                    </m:sSub>
                  </m:oMath>
                </a14:m>
                <a:r>
                  <a:rPr lang="en-US" dirty="0"/>
                  <a:t> is a vector valued function</a:t>
                </a:r>
              </a:p>
              <a:p>
                <a:pPr lvl="1"/>
                <a:endParaRPr lang="en-US" dirty="0"/>
              </a:p>
              <a:p>
                <a:pPr lvl="1"/>
                <a:r>
                  <a:rPr lang="en-US" dirty="0"/>
                  <a:t>Next, will discuss the structure of individual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 with the understanding that we will compose many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’s together to form a flow </a:t>
                </a:r>
              </a:p>
              <a:p>
                <a:endParaRPr lang="en-US" dirty="0"/>
              </a:p>
            </p:txBody>
          </p:sp>
        </mc:Choice>
        <mc:Fallback xmlns="">
          <p:sp>
            <p:nvSpPr>
              <p:cNvPr id="3" name="Content Placeholder 2">
                <a:extLst>
                  <a:ext uri="{FF2B5EF4-FFF2-40B4-BE49-F238E27FC236}">
                    <a16:creationId xmlns:a16="http://schemas.microsoft.com/office/drawing/2014/main" id="{DD7411B3-BC05-D1BF-F8B7-1D137B8924F7}"/>
                  </a:ext>
                </a:extLst>
              </p:cNvPr>
              <p:cNvSpPr>
                <a:spLocks noGrp="1" noRot="1" noChangeAspect="1" noMove="1" noResize="1" noEditPoints="1" noAdjustHandles="1" noChangeArrowheads="1" noChangeShapeType="1" noTextEdit="1"/>
              </p:cNvSpPr>
              <p:nvPr>
                <p:ph idx="1"/>
              </p:nvPr>
            </p:nvSpPr>
            <p:spPr>
              <a:blipFill>
                <a:blip r:embed="rId2"/>
                <a:stretch>
                  <a:fillRect l="-1043" t="-3081" r="-1333"/>
                </a:stretch>
              </a:blipFill>
            </p:spPr>
            <p:txBody>
              <a:bodyPr/>
              <a:lstStyle/>
              <a:p>
                <a:r>
                  <a:rPr lang="en-US">
                    <a:noFill/>
                  </a:rPr>
                  <a:t> </a:t>
                </a:r>
              </a:p>
            </p:txBody>
          </p:sp>
        </mc:Fallback>
      </mc:AlternateContent>
    </p:spTree>
    <p:extLst>
      <p:ext uri="{BB962C8B-B14F-4D97-AF65-F5344CB8AC3E}">
        <p14:creationId xmlns:p14="http://schemas.microsoft.com/office/powerpoint/2010/main" val="31302533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82E3181-8185-5C72-14FB-1561ECF742D6}"/>
                  </a:ext>
                </a:extLst>
              </p:cNvPr>
              <p:cNvSpPr>
                <a:spLocks noGrp="1"/>
              </p:cNvSpPr>
              <p:nvPr>
                <p:ph type="title"/>
              </p:nvPr>
            </p:nvSpPr>
            <p:spPr/>
            <p:txBody>
              <a:bodyPr/>
              <a:lstStyle/>
              <a:p>
                <a:r>
                  <a:rPr lang="en-US" b="0" dirty="0"/>
                  <a:t>Properties of a good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oMath>
                </a14:m>
                <a:r>
                  <a:rPr lang="en-US" dirty="0"/>
                  <a:t> </a:t>
                </a:r>
              </a:p>
            </p:txBody>
          </p:sp>
        </mc:Choice>
        <mc:Fallback xmlns="">
          <p:sp>
            <p:nvSpPr>
              <p:cNvPr id="2" name="Title 1">
                <a:extLst>
                  <a:ext uri="{FF2B5EF4-FFF2-40B4-BE49-F238E27FC236}">
                    <a16:creationId xmlns:a16="http://schemas.microsoft.com/office/drawing/2014/main" id="{E82E3181-8185-5C72-14FB-1561ECF742D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3F921A-C401-CF6F-DD51-D55516F7155E}"/>
                  </a:ext>
                </a:extLst>
              </p:cNvPr>
              <p:cNvSpPr>
                <a:spLocks noGrp="1"/>
              </p:cNvSpPr>
              <p:nvPr>
                <p:ph idx="1"/>
              </p:nvPr>
            </p:nvSpPr>
            <p:spPr/>
            <p:txBody>
              <a:bodyPr>
                <a:normAutofit/>
              </a:bodyPr>
              <a:lstStyle/>
              <a:p>
                <a:r>
                  <a:rPr lang="en-US" dirty="0"/>
                  <a:t>In order to sample from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𝑲</m:t>
                        </m:r>
                      </m:sub>
                    </m:sSub>
                  </m:oMath>
                </a14:m>
                <a:r>
                  <a:rPr lang="en-US" b="1" i="1" dirty="0">
                    <a:latin typeface="Cambria Math" panose="02040503050406030204" pitchFamily="18" charset="0"/>
                  </a:rPr>
                  <a:t> </a:t>
                </a:r>
                <a:r>
                  <a:rPr lang="en-US" dirty="0"/>
                  <a:t>need to go from </a:t>
                </a:r>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smtClean="0">
                            <a:latin typeface="Cambria Math" panose="02040503050406030204" pitchFamily="18" charset="0"/>
                          </a:rPr>
                          <m:t>𝟎</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smtClean="0">
                            <a:latin typeface="Cambria Math" panose="02040503050406030204" pitchFamily="18" charset="0"/>
                          </a:rPr>
                          <m:t>𝑲</m:t>
                        </m:r>
                      </m:sub>
                    </m:sSub>
                  </m:oMath>
                </a14:m>
                <a:r>
                  <a:rPr lang="en-US" dirty="0"/>
                  <a:t>…</a:t>
                </a:r>
                <a:endParaRPr lang="en-US" b="1" i="1" dirty="0">
                  <a:latin typeface="Cambria Math" panose="02040503050406030204" pitchFamily="18" charset="0"/>
                </a:endParaRPr>
              </a:p>
              <a:p>
                <a:endParaRPr lang="en-US" i="1" dirty="0">
                  <a:latin typeface="Cambria Math" panose="02040503050406030204" pitchFamily="18" charset="0"/>
                </a:endParaRPr>
              </a:p>
              <a:p>
                <a:r>
                  <a:rPr lang="en-US" dirty="0"/>
                  <a:t>In order to calculate the probability of </a:t>
                </a:r>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smtClean="0">
                            <a:latin typeface="Cambria Math" panose="02040503050406030204" pitchFamily="18" charset="0"/>
                          </a:rPr>
                          <m:t>𝑲</m:t>
                        </m:r>
                      </m:sub>
                    </m:sSub>
                  </m:oMath>
                </a14:m>
                <a:r>
                  <a:rPr lang="en-US" dirty="0"/>
                  <a:t>, need to go from </a:t>
                </a:r>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smtClean="0">
                            <a:latin typeface="Cambria Math" panose="02040503050406030204" pitchFamily="18" charset="0"/>
                          </a:rPr>
                          <m:t>𝑲</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smtClean="0">
                            <a:latin typeface="Cambria Math" panose="02040503050406030204" pitchFamily="18" charset="0"/>
                          </a:rPr>
                          <m:t>𝟎</m:t>
                        </m:r>
                      </m:sub>
                    </m:sSub>
                  </m:oMath>
                </a14:m>
                <a:endParaRPr lang="en-US" b="1" dirty="0"/>
              </a:p>
              <a:p>
                <a:endParaRPr lang="en-US" b="0" dirty="0"/>
              </a:p>
              <a:p>
                <a:r>
                  <a:rPr lang="en-US" b="0" dirty="0"/>
                  <a:t>Thus,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r>
                      <a:rPr lang="en-US" b="0" i="0" smtClean="0">
                        <a:latin typeface="Cambria Math" panose="02040503050406030204" pitchFamily="18" charset="0"/>
                      </a:rPr>
                      <m:t> </m:t>
                    </m:r>
                  </m:oMath>
                </a14:m>
                <a:r>
                  <a:rPr lang="en-US" dirty="0"/>
                  <a:t>must be a bijection</a:t>
                </a:r>
              </a:p>
              <a:p>
                <a:endParaRPr lang="en-US" dirty="0"/>
              </a:p>
              <a:p>
                <a:r>
                  <a:rPr lang="en-US" dirty="0"/>
                  <a:t>A simple, but inflexible function that is bijection is an affine transformation: </a:t>
                </a:r>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smtClean="0">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 </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𝒂</m:t>
                        </m:r>
                      </m:e>
                      <m:sub>
                        <m:r>
                          <a:rPr lang="en-US" b="1" i="1" smtClean="0">
                            <a:latin typeface="Cambria Math" panose="02040503050406030204" pitchFamily="18" charset="0"/>
                          </a:rPr>
                          <m:t>𝒌</m:t>
                        </m:r>
                        <m:r>
                          <a:rPr lang="en-US" b="1" i="1" smtClean="0">
                            <a:latin typeface="Cambria Math" panose="02040503050406030204" pitchFamily="18" charset="0"/>
                          </a:rPr>
                          <m:t> </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smtClean="0">
                            <a:latin typeface="Cambria Math" panose="02040503050406030204" pitchFamily="18" charset="0"/>
                          </a:rPr>
                          <m:t>𝒌</m:t>
                        </m:r>
                      </m:sub>
                    </m:sSub>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𝒃</m:t>
                        </m:r>
                      </m:e>
                      <m:sub>
                        <m:r>
                          <a:rPr lang="en-US" b="1" i="1" smtClean="0">
                            <a:latin typeface="Cambria Math" panose="02040503050406030204" pitchFamily="18" charset="0"/>
                          </a:rPr>
                          <m:t>𝒌</m:t>
                        </m:r>
                        <m:r>
                          <a:rPr lang="en-US" b="1" i="1" smtClean="0">
                            <a:latin typeface="Cambria Math" panose="02040503050406030204" pitchFamily="18" charset="0"/>
                          </a:rPr>
                          <m:t> </m:t>
                        </m:r>
                      </m:sub>
                    </m:sSub>
                    <m:r>
                      <m:rPr>
                        <m:sty m:val="p"/>
                      </m:rPr>
                      <a:rPr lang="en-US" b="0" i="0" smtClean="0">
                        <a:latin typeface="Cambria Math" panose="02040503050406030204" pitchFamily="18" charset="0"/>
                      </a:rPr>
                      <m:t>and</m:t>
                    </m:r>
                  </m:oMath>
                </a14:m>
                <a:r>
                  <a:rPr lang="en-US" b="1" dirty="0"/>
                  <a:t> </a:t>
                </a:r>
                <a14:m>
                  <m:oMath xmlns:m="http://schemas.openxmlformats.org/officeDocument/2006/math">
                    <m:sSub>
                      <m:sSubPr>
                        <m:ctrlPr>
                          <a:rPr lang="en-US" b="1" i="1" dirty="0" smtClean="0">
                            <a:latin typeface="Cambria Math" panose="02040503050406030204" pitchFamily="18" charset="0"/>
                          </a:rPr>
                        </m:ctrlPr>
                      </m:sSubPr>
                      <m:e>
                        <m:r>
                          <a:rPr lang="en-US" b="1" i="1">
                            <a:latin typeface="Cambria Math" panose="02040503050406030204" pitchFamily="18" charset="0"/>
                          </a:rPr>
                          <m:t>𝜽</m:t>
                        </m:r>
                      </m:e>
                      <m:sub>
                        <m:r>
                          <a:rPr lang="en-US" b="1" i="1" dirty="0" smtClean="0">
                            <a:latin typeface="Cambria Math" panose="02040503050406030204" pitchFamily="18" charset="0"/>
                          </a:rPr>
                          <m:t>𝒌</m:t>
                        </m:r>
                      </m:sub>
                    </m:sSub>
                    <m:r>
                      <a:rPr lang="en-US" b="1" i="1" dirty="0" smtClean="0">
                        <a:latin typeface="Cambria Math" panose="02040503050406030204" pitchFamily="18" charset="0"/>
                      </a:rPr>
                      <m:t>=</m:t>
                    </m:r>
                    <m:f>
                      <m:fPr>
                        <m:ctrlPr>
                          <a:rPr lang="en-US" b="1" i="1" dirty="0" smtClean="0">
                            <a:latin typeface="Cambria Math" panose="02040503050406030204" pitchFamily="18" charset="0"/>
                          </a:rPr>
                        </m:ctrlPr>
                      </m:fPr>
                      <m:num>
                        <m:sSub>
                          <m:sSubPr>
                            <m:ctrlPr>
                              <a:rPr lang="en-US" b="1" i="1" dirty="0" smtClean="0">
                                <a:latin typeface="Cambria Math" panose="02040503050406030204" pitchFamily="18" charset="0"/>
                              </a:rPr>
                            </m:ctrlPr>
                          </m:sSubPr>
                          <m:e>
                            <m:r>
                              <a:rPr lang="en-US" b="1" i="1">
                                <a:latin typeface="Cambria Math" panose="02040503050406030204" pitchFamily="18" charset="0"/>
                              </a:rPr>
                              <m:t>𝜽</m:t>
                            </m:r>
                          </m:e>
                          <m:sub>
                            <m:r>
                              <a:rPr lang="en-US" b="1" i="1" dirty="0" smtClean="0">
                                <a:latin typeface="Cambria Math" panose="02040503050406030204" pitchFamily="18" charset="0"/>
                              </a:rPr>
                              <m:t>𝒌</m:t>
                            </m:r>
                            <m:r>
                              <a:rPr lang="en-US" b="1" i="1" dirty="0" smtClean="0">
                                <a:latin typeface="Cambria Math" panose="02040503050406030204" pitchFamily="18" charset="0"/>
                              </a:rPr>
                              <m:t>+</m:t>
                            </m:r>
                            <m:r>
                              <a:rPr lang="en-US" b="1" i="1" dirty="0" smtClean="0">
                                <a:latin typeface="Cambria Math" panose="02040503050406030204" pitchFamily="18" charset="0"/>
                              </a:rPr>
                              <m:t>𝟏</m:t>
                            </m:r>
                            <m:r>
                              <a:rPr lang="en-US" b="1" i="1" dirty="0" smtClean="0">
                                <a:latin typeface="Cambria Math" panose="02040503050406030204" pitchFamily="18" charset="0"/>
                              </a:rPr>
                              <m:t> </m:t>
                            </m:r>
                          </m:sub>
                        </m:sSub>
                        <m:r>
                          <a:rPr lang="en-US" b="1" i="1" dirty="0" smtClean="0">
                            <a:latin typeface="Cambria Math" panose="02040503050406030204" pitchFamily="18" charset="0"/>
                          </a:rPr>
                          <m:t>−</m:t>
                        </m:r>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𝒃</m:t>
                            </m:r>
                          </m:e>
                          <m:sub>
                            <m:r>
                              <a:rPr lang="en-US" b="1" i="1" dirty="0" smtClean="0">
                                <a:latin typeface="Cambria Math" panose="02040503050406030204" pitchFamily="18" charset="0"/>
                              </a:rPr>
                              <m:t>𝒌</m:t>
                            </m:r>
                            <m:r>
                              <a:rPr lang="en-US" b="1" i="1" dirty="0" smtClean="0">
                                <a:latin typeface="Cambria Math" panose="02040503050406030204" pitchFamily="18" charset="0"/>
                              </a:rPr>
                              <m:t> </m:t>
                            </m:r>
                          </m:sub>
                        </m:sSub>
                      </m:num>
                      <m:den>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𝒂</m:t>
                            </m:r>
                          </m:e>
                          <m:sub>
                            <m:r>
                              <a:rPr lang="en-US" b="1" i="1" dirty="0" smtClean="0">
                                <a:latin typeface="Cambria Math" panose="02040503050406030204" pitchFamily="18" charset="0"/>
                              </a:rPr>
                              <m:t>𝒌</m:t>
                            </m:r>
                          </m:sub>
                        </m:sSub>
                      </m:den>
                    </m:f>
                  </m:oMath>
                </a14:m>
                <a:r>
                  <a:rPr lang="en-US" b="1" dirty="0"/>
                  <a:t> </a:t>
                </a:r>
              </a:p>
            </p:txBody>
          </p:sp>
        </mc:Choice>
        <mc:Fallback xmlns="">
          <p:sp>
            <p:nvSpPr>
              <p:cNvPr id="3" name="Content Placeholder 2">
                <a:extLst>
                  <a:ext uri="{FF2B5EF4-FFF2-40B4-BE49-F238E27FC236}">
                    <a16:creationId xmlns:a16="http://schemas.microsoft.com/office/drawing/2014/main" id="{273F921A-C401-CF6F-DD51-D55516F7155E}"/>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9096750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6D21-2D41-DDFC-848E-E0641D0EB98E}"/>
              </a:ext>
            </a:extLst>
          </p:cNvPr>
          <p:cNvSpPr>
            <a:spLocks noGrp="1"/>
          </p:cNvSpPr>
          <p:nvPr>
            <p:ph type="title"/>
          </p:nvPr>
        </p:nvSpPr>
        <p:spPr/>
        <p:txBody>
          <a:bodyPr/>
          <a:lstStyle/>
          <a:p>
            <a:r>
              <a:rPr lang="en-US" dirty="0"/>
              <a:t>Masked Autoregressive Flows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5F88926-1929-C9B6-FF04-08213D327BF2}"/>
                  </a:ext>
                </a:extLst>
              </p:cNvPr>
              <p:cNvSpPr>
                <a:spLocks noGrp="1"/>
              </p:cNvSpPr>
              <p:nvPr>
                <p:ph idx="1"/>
              </p:nvPr>
            </p:nvSpPr>
            <p:spPr/>
            <p:txBody>
              <a:bodyPr/>
              <a:lstStyle/>
              <a:p>
                <a:r>
                  <a:rPr lang="en-US" dirty="0"/>
                  <a:t>The following will discuss Masked Autoregressive Flows</a:t>
                </a:r>
              </a:p>
              <a:p>
                <a:endParaRPr lang="en-US" dirty="0"/>
              </a:p>
              <a:p>
                <a:r>
                  <a:rPr lang="en-US" dirty="0"/>
                  <a:t>In order to make the bijector more expressive, we can condition the affine parameters on </a:t>
                </a:r>
                <a14:m>
                  <m:oMath xmlns:m="http://schemas.openxmlformats.org/officeDocument/2006/math">
                    <m:sSubSup>
                      <m:sSubSupPr>
                        <m:ctrlPr>
                          <a:rPr lang="en-US" b="0" i="1" smtClean="0">
                            <a:latin typeface="Cambria Math" panose="02040503050406030204" pitchFamily="18" charset="0"/>
                          </a:rPr>
                        </m:ctrlPr>
                      </m:sSubSupPr>
                      <m:e>
                        <m:r>
                          <a:rPr lang="en-US" b="0" i="1">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𝑗</m:t>
                        </m:r>
                      </m:sup>
                    </m:sSubSup>
                  </m:oMath>
                </a14:m>
                <a:endParaRPr lang="en-US" b="0" dirty="0"/>
              </a:p>
              <a:p>
                <a:endParaRPr lang="en-US" dirty="0"/>
              </a:p>
              <a:p>
                <a:r>
                  <a:rPr lang="en-US" dirty="0"/>
                  <a:t>To preserve invertibility condition on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sub>
                    </m:sSub>
                  </m:oMath>
                </a14:m>
                <a:r>
                  <a:rPr lang="en-US" b="1" dirty="0"/>
                  <a:t> </a:t>
                </a:r>
                <a:r>
                  <a:rPr lang="en-US" dirty="0"/>
                  <a:t>like this:</a:t>
                </a:r>
              </a:p>
              <a:p>
                <a:pPr marL="0" indent="0" algn="ctr">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oMath>
                  </m:oMathPara>
                </a14:m>
                <a:endParaRPr lang="en-US" b="0" dirty="0"/>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𝑗</m:t>
                        </m:r>
                        <m:r>
                          <a:rPr lang="en-US" b="0" i="1" smtClean="0">
                            <a:latin typeface="Cambria Math" panose="02040503050406030204" pitchFamily="18" charset="0"/>
                          </a:rPr>
                          <m:t>&gt;0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oMath>
                </a14:m>
                <a:r>
                  <a:rPr lang="en-US" b="0" dirty="0"/>
                  <a:t> </a:t>
                </a:r>
                <a14:m>
                  <m:oMath xmlns:m="http://schemas.openxmlformats.org/officeDocument/2006/math">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oMath>
                </a14:m>
                <a:endParaRPr lang="en-US" dirty="0"/>
              </a:p>
              <a:p>
                <a:pPr marL="0" indent="0" algn="ctr">
                  <a:buNone/>
                </a:pPr>
                <a:endParaRPr lang="en-US" dirty="0"/>
              </a:p>
            </p:txBody>
          </p:sp>
        </mc:Choice>
        <mc:Fallback xmlns="">
          <p:sp>
            <p:nvSpPr>
              <p:cNvPr id="3" name="Content Placeholder 2">
                <a:extLst>
                  <a:ext uri="{FF2B5EF4-FFF2-40B4-BE49-F238E27FC236}">
                    <a16:creationId xmlns:a16="http://schemas.microsoft.com/office/drawing/2014/main" id="{95F88926-1929-C9B6-FF04-08213D327BF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649243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E96A-424D-B330-F49F-4F0082FC0A91}"/>
              </a:ext>
            </a:extLst>
          </p:cNvPr>
          <p:cNvSpPr>
            <a:spLocks noGrp="1"/>
          </p:cNvSpPr>
          <p:nvPr>
            <p:ph type="title"/>
          </p:nvPr>
        </p:nvSpPr>
        <p:spPr/>
        <p:txBody>
          <a:bodyPr/>
          <a:lstStyle/>
          <a:p>
            <a:r>
              <a:rPr lang="en-US" dirty="0"/>
              <a:t>Masked Autoregressive Flows: Preserving Invertibility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AF81CB-45D4-77B1-7E92-391AB9F0604D}"/>
                  </a:ext>
                </a:extLst>
              </p:cNvPr>
              <p:cNvSpPr>
                <a:spLocks noGrp="1"/>
              </p:cNvSpPr>
              <p:nvPr>
                <p:ph idx="1"/>
              </p:nvPr>
            </p:nvSpPr>
            <p:spPr/>
            <p:txBody>
              <a:bodyPr/>
              <a:lstStyle/>
              <a:p>
                <a:r>
                  <a:rPr lang="en-US" dirty="0"/>
                  <a:t>Given the forward equations</a:t>
                </a:r>
              </a:p>
              <a:p>
                <a:pPr marL="0" indent="0" algn="ctr">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oMath>
                  </m:oMathPara>
                </a14:m>
                <a:endParaRPr lang="en-US" b="0" dirty="0"/>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𝑗</m:t>
                        </m:r>
                        <m:r>
                          <a:rPr lang="en-US" b="0" i="1" smtClean="0">
                            <a:latin typeface="Cambria Math" panose="02040503050406030204" pitchFamily="18" charset="0"/>
                          </a:rPr>
                          <m:t>&gt;0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oMath>
                </a14:m>
                <a:r>
                  <a:rPr lang="en-US" b="0" dirty="0"/>
                  <a:t> </a:t>
                </a:r>
                <a14:m>
                  <m:oMath xmlns:m="http://schemas.openxmlformats.org/officeDocument/2006/math">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oMath>
                </a14:m>
                <a:endParaRPr lang="en-US" dirty="0"/>
              </a:p>
              <a:p>
                <a:r>
                  <a:rPr lang="en-US" dirty="0"/>
                  <a:t>Finding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sub>
                    </m:sSub>
                  </m:oMath>
                </a14:m>
                <a:r>
                  <a:rPr lang="en-US" dirty="0"/>
                  <a:t> from </a:t>
                </a:r>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𝒌</m:t>
                        </m:r>
                      </m:sub>
                    </m:sSub>
                  </m:oMath>
                </a14:m>
                <a:r>
                  <a:rPr lang="en-US" b="1" dirty="0"/>
                  <a:t> </a:t>
                </a:r>
                <a:r>
                  <a:rPr lang="en-US" dirty="0"/>
                  <a:t>requires evaluating the forward equations</a:t>
                </a:r>
              </a:p>
              <a:p>
                <a:r>
                  <a:rPr lang="en-US" dirty="0"/>
                  <a:t>If one knows only knows </a:t>
                </a:r>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𝜽</m:t>
                        </m:r>
                      </m:e>
                      <m:sub>
                        <m:r>
                          <a:rPr lang="en-US" b="1" i="1" smtClean="0">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sub>
                    </m:sSub>
                  </m:oMath>
                </a14:m>
                <a:r>
                  <a:rPr lang="en-US" dirty="0"/>
                  <a:t>, to find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sub>
                    </m:sSub>
                  </m:oMath>
                </a14:m>
                <a:endParaRPr lang="en-US" b="1" dirty="0"/>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0</m:t>
                              </m:r>
                            </m:sup>
                          </m:sSubSup>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den>
                      </m:f>
                    </m:oMath>
                  </m:oMathPara>
                </a14:m>
                <a:endParaRPr lang="en-US" dirty="0"/>
              </a:p>
              <a:p>
                <a:pPr marL="0" indent="0" algn="ctr">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oMath>
                </a14:m>
                <a:r>
                  <a:rPr lang="en-US" b="0" dirty="0"/>
                  <a:t> </a:t>
                </a:r>
                <a14:m>
                  <m:oMath xmlns:m="http://schemas.openxmlformats.org/officeDocument/2006/math">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1</m:t>
                            </m:r>
                          </m:sup>
                        </m:sSubSup>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num>
                      <m:den>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0</m:t>
                            </m:r>
                          </m:sup>
                        </m:sSubSup>
                        <m:r>
                          <a:rPr lang="en-US" b="0" i="1" smtClean="0">
                            <a:latin typeface="Cambria Math" panose="02040503050406030204" pitchFamily="18" charset="0"/>
                          </a:rPr>
                          <m:t>)</m:t>
                        </m:r>
                      </m:den>
                    </m:f>
                  </m:oMath>
                </a14:m>
                <a:endParaRPr lang="en-US" dirty="0"/>
              </a:p>
            </p:txBody>
          </p:sp>
        </mc:Choice>
        <mc:Fallback xmlns="">
          <p:sp>
            <p:nvSpPr>
              <p:cNvPr id="3" name="Content Placeholder 2">
                <a:extLst>
                  <a:ext uri="{FF2B5EF4-FFF2-40B4-BE49-F238E27FC236}">
                    <a16:creationId xmlns:a16="http://schemas.microsoft.com/office/drawing/2014/main" id="{6EAF81CB-45D4-77B1-7E92-391AB9F0604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C9A60104-4D54-E577-D77B-E73F1E28B6D6}"/>
              </a:ext>
            </a:extLst>
          </p:cNvPr>
          <p:cNvSpPr/>
          <p:nvPr/>
        </p:nvSpPr>
        <p:spPr>
          <a:xfrm>
            <a:off x="4865137" y="4502084"/>
            <a:ext cx="407436" cy="345233"/>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5E4832-A2CC-4277-309D-21401EF84F16}"/>
              </a:ext>
            </a:extLst>
          </p:cNvPr>
          <p:cNvSpPr/>
          <p:nvPr/>
        </p:nvSpPr>
        <p:spPr>
          <a:xfrm>
            <a:off x="6951023" y="5259185"/>
            <a:ext cx="426097" cy="323461"/>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F641370-9AFE-DF7D-D491-A75C6DCD45CF}"/>
              </a:ext>
            </a:extLst>
          </p:cNvPr>
          <p:cNvSpPr/>
          <p:nvPr/>
        </p:nvSpPr>
        <p:spPr>
          <a:xfrm>
            <a:off x="6410130" y="5596042"/>
            <a:ext cx="426097" cy="323461"/>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FFB168B9-47A1-7F5C-2BA7-3F7B770B5500}"/>
              </a:ext>
            </a:extLst>
          </p:cNvPr>
          <p:cNvSpPr txBox="1"/>
          <p:nvPr/>
        </p:nvSpPr>
        <p:spPr>
          <a:xfrm>
            <a:off x="6295334" y="5892710"/>
            <a:ext cx="966990" cy="1200329"/>
          </a:xfrm>
          <a:prstGeom prst="rect">
            <a:avLst/>
          </a:prstGeom>
          <a:noFill/>
        </p:spPr>
        <p:txBody>
          <a:bodyPr wrap="square" rtlCol="0">
            <a:spAutoFit/>
          </a:bodyPr>
          <a:lstStyle/>
          <a:p>
            <a:r>
              <a:rPr lang="en-US" sz="2400" b="1" dirty="0"/>
              <a:t>.</a:t>
            </a:r>
          </a:p>
          <a:p>
            <a:r>
              <a:rPr lang="en-US" sz="2400" b="1" dirty="0"/>
              <a:t>.</a:t>
            </a:r>
          </a:p>
          <a:p>
            <a:r>
              <a:rPr lang="en-US" sz="2400" b="1" dirty="0"/>
              <a:t>.</a:t>
            </a:r>
          </a:p>
        </p:txBody>
      </p:sp>
    </p:spTree>
    <p:extLst>
      <p:ext uri="{BB962C8B-B14F-4D97-AF65-F5344CB8AC3E}">
        <p14:creationId xmlns:p14="http://schemas.microsoft.com/office/powerpoint/2010/main" val="2975566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8422-57C7-02B8-9946-AF41D71CCC15}"/>
              </a:ext>
            </a:extLst>
          </p:cNvPr>
          <p:cNvSpPr>
            <a:spLocks noGrp="1"/>
          </p:cNvSpPr>
          <p:nvPr>
            <p:ph type="title"/>
          </p:nvPr>
        </p:nvSpPr>
        <p:spPr/>
        <p:txBody>
          <a:bodyPr/>
          <a:lstStyle/>
          <a:p>
            <a:r>
              <a:rPr lang="en-US" dirty="0"/>
              <a:t>Non-Linearity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3942FE0-610A-BDC1-5B6B-BBD34B072B9D}"/>
                  </a:ext>
                </a:extLst>
              </p:cNvPr>
              <p:cNvSpPr>
                <a:spLocks noGrp="1"/>
              </p:cNvSpPr>
              <p:nvPr>
                <p:ph idx="1"/>
              </p:nvPr>
            </p:nvSpPr>
            <p:spPr/>
            <p:txBody>
              <a:bodyPr/>
              <a:lstStyle/>
              <a:p>
                <a:r>
                  <a:rPr lang="en-US" dirty="0"/>
                  <a:t>A composition of affine functions is still affine</a:t>
                </a:r>
              </a:p>
              <a:p>
                <a:r>
                  <a:rPr lang="en-US" dirty="0"/>
                  <a:t>In order to make stacks of </a:t>
                </a:r>
                <a:r>
                  <a:rPr lang="en-US" dirty="0" err="1"/>
                  <a:t>bijectors</a:t>
                </a:r>
                <a:r>
                  <a:rPr lang="en-US" dirty="0"/>
                  <a:t> more expressive, add a bijective nonlinear ‘link’ function between each bijector:</a:t>
                </a:r>
              </a:p>
              <a:p>
                <a:pPr marL="0" indent="0">
                  <a:buNone/>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𝑗</m:t>
                          </m:r>
                        </m:sup>
                      </m:sSub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𝑎</m:t>
                          </m:r>
                        </m:e>
                        <m:sup>
                          <m:r>
                            <a:rPr lang="en-US" b="0" i="1" smtClean="0">
                              <a:latin typeface="Cambria Math" panose="02040503050406030204" pitchFamily="18" charset="0"/>
                            </a:rPr>
                            <m:t>𝑗</m:t>
                          </m:r>
                        </m:sup>
                      </m:s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𝑘</m:t>
                          </m:r>
                        </m:sub>
                        <m:sup>
                          <m:r>
                            <a:rPr lang="en-US" b="0" i="1" smtClean="0">
                              <a:latin typeface="Cambria Math" panose="02040503050406030204" pitchFamily="18" charset="0"/>
                            </a:rPr>
                            <m:t>𝑗</m:t>
                          </m:r>
                        </m:sup>
                      </m:sSub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𝑗</m:t>
                          </m:r>
                        </m:sup>
                      </m:sSup>
                      <m:r>
                        <a:rPr lang="en-US" b="0" i="1" smtClean="0">
                          <a:latin typeface="Cambria Math" panose="02040503050406030204" pitchFamily="18" charset="0"/>
                        </a:rPr>
                        <m:t>(.))</m:t>
                      </m:r>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43942FE0-610A-BDC1-5B6B-BBD34B072B9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C42E9E0A-99F7-10AD-90EE-68B9A7D5D177}"/>
              </a:ext>
            </a:extLst>
          </p:cNvPr>
          <p:cNvPicPr>
            <a:picLocks noChangeAspect="1"/>
          </p:cNvPicPr>
          <p:nvPr/>
        </p:nvPicPr>
        <p:blipFill>
          <a:blip r:embed="rId3"/>
          <a:stretch>
            <a:fillRect/>
          </a:stretch>
        </p:blipFill>
        <p:spPr>
          <a:xfrm>
            <a:off x="4354085" y="4001294"/>
            <a:ext cx="3483830" cy="2455393"/>
          </a:xfrm>
          <a:prstGeom prst="rect">
            <a:avLst/>
          </a:prstGeom>
        </p:spPr>
      </p:pic>
      <p:sp>
        <p:nvSpPr>
          <p:cNvPr id="10" name="Arrow: Right 9">
            <a:extLst>
              <a:ext uri="{FF2B5EF4-FFF2-40B4-BE49-F238E27FC236}">
                <a16:creationId xmlns:a16="http://schemas.microsoft.com/office/drawing/2014/main" id="{66BDA9DF-75AD-1D6E-A765-75C6B92AC50E}"/>
              </a:ext>
            </a:extLst>
          </p:cNvPr>
          <p:cNvSpPr/>
          <p:nvPr/>
        </p:nvSpPr>
        <p:spPr>
          <a:xfrm rot="2094418">
            <a:off x="5080859" y="3684748"/>
            <a:ext cx="587756" cy="36321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5249B56-784A-97CA-6193-202A0FDC70DE}"/>
              </a:ext>
            </a:extLst>
          </p:cNvPr>
          <p:cNvSpPr/>
          <p:nvPr/>
        </p:nvSpPr>
        <p:spPr>
          <a:xfrm>
            <a:off x="4964493" y="3225025"/>
            <a:ext cx="344929" cy="378580"/>
          </a:xfrm>
          <a:prstGeom prst="rect">
            <a:avLst/>
          </a:prstGeom>
          <a:solidFill>
            <a:srgbClr val="FFFF00">
              <a:alpha val="40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48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43BA9-4EEF-73A2-4AAE-A29EECF3BDCA}"/>
              </a:ext>
            </a:extLst>
          </p:cNvPr>
          <p:cNvSpPr>
            <a:spLocks noGrp="1"/>
          </p:cNvSpPr>
          <p:nvPr>
            <p:ph type="title"/>
          </p:nvPr>
        </p:nvSpPr>
        <p:spPr/>
        <p:txBody>
          <a:bodyPr/>
          <a:lstStyle/>
          <a:p>
            <a:r>
              <a:rPr lang="en-US" dirty="0"/>
              <a:t>Universal Approximating Theorems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9ED4904-CBA9-BF27-E32B-CD4892BAFDDE}"/>
                  </a:ext>
                </a:extLst>
              </p:cNvPr>
              <p:cNvSpPr>
                <a:spLocks noGrp="1"/>
              </p:cNvSpPr>
              <p:nvPr>
                <p:ph idx="1"/>
              </p:nvPr>
            </p:nvSpPr>
            <p:spPr/>
            <p:txBody>
              <a:bodyPr>
                <a:normAutofit/>
              </a:bodyPr>
              <a:lstStyle/>
              <a:p>
                <a:r>
                  <a:rPr lang="en-US" dirty="0"/>
                  <a:t>With some small tweaks to the non-linearity and changing the conditioning order of each variable between </a:t>
                </a:r>
                <a:r>
                  <a:rPr lang="en-US" dirty="0" err="1"/>
                  <a:t>bijectors</a:t>
                </a:r>
                <a:r>
                  <a:rPr lang="en-US" dirty="0"/>
                  <a:t>, one can show that this normalizing flow can approximate any continuous distribution (Huang et. al. 2018)</a:t>
                </a:r>
              </a:p>
              <a:p>
                <a:r>
                  <a:rPr lang="en-US" dirty="0"/>
                  <a:t>If you add additional conditioning variables into the input of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and </a:t>
                </a:r>
                <a14:m>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m:t>
                    </m:r>
                  </m:oMath>
                </a14:m>
                <a:r>
                  <a:rPr lang="en-US" dirty="0"/>
                  <a:t> you can make this into a conditional density estimator</a:t>
                </a:r>
              </a:p>
              <a:p>
                <a:r>
                  <a:rPr lang="en-US" dirty="0"/>
                  <a:t>Flow density estimation involves maximizing </a:t>
                </a:r>
                <a14:m>
                  <m:oMath xmlns:m="http://schemas.openxmlformats.org/officeDocument/2006/math">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r>
                          <m:rPr>
                            <m:sty m:val="p"/>
                          </m:rPr>
                          <a:rPr lang="en-US" b="0" i="0" smtClean="0">
                            <a:latin typeface="Cambria Math" panose="02040503050406030204" pitchFamily="18" charset="0"/>
                          </a:rPr>
                          <m:t>i</m:t>
                        </m:r>
                        <m:r>
                          <a:rPr lang="en-US" b="0" i="0" smtClean="0">
                            <a:latin typeface="Cambria Math" panose="02040503050406030204" pitchFamily="18" charset="0"/>
                          </a:rPr>
                          <m:t>=</m:t>
                        </m:r>
                        <m:r>
                          <m:rPr>
                            <m:sty m:val="p"/>
                          </m:rPr>
                          <a:rPr lang="en-US" b="0" i="0" smtClean="0">
                            <a:latin typeface="Cambria Math" panose="02040503050406030204" pitchFamily="18" charset="0"/>
                          </a:rPr>
                          <m:t>I</m:t>
                        </m:r>
                      </m:sup>
                      <m:e>
                        <m:r>
                          <m:rPr>
                            <m:sty m:val="p"/>
                          </m:rPr>
                          <a:rPr lang="en-US" b="0" i="0" smtClean="0">
                            <a:latin typeface="Cambria Math" panose="02040503050406030204" pitchFamily="18" charset="0"/>
                          </a:rPr>
                          <m:t>ln</m:t>
                        </m:r>
                        <m:d>
                          <m:dPr>
                            <m:ctrlPr>
                              <a:rPr lang="en-US" b="0" i="1" smtClean="0">
                                <a:latin typeface="Cambria Math" panose="02040503050406030204" pitchFamily="18" charset="0"/>
                              </a:rPr>
                            </m:ctrlPr>
                          </m:dPr>
                          <m:e>
                            <m:r>
                              <m:rPr>
                                <m:sty m:val="p"/>
                              </m:rPr>
                              <a:rPr lang="en-US" smtClean="0">
                                <a:latin typeface="Cambria Math" panose="02040503050406030204" pitchFamily="18" charset="0"/>
                              </a:rPr>
                              <m:t>q</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𝑲</m:t>
                                        </m:r>
                                      </m:sub>
                                    </m:sSub>
                                    <m:r>
                                      <a:rPr lang="en-US" b="0" i="1" smtClean="0">
                                        <a:latin typeface="Cambria Math" panose="02040503050406030204" pitchFamily="18" charset="0"/>
                                      </a:rPr>
                                      <m:t>}</m:t>
                                    </m:r>
                                  </m:e>
                                  <m:sub>
                                    <m:r>
                                      <a:rPr lang="en-US" b="0" i="1" smtClean="0">
                                        <a:latin typeface="Cambria Math" panose="02040503050406030204" pitchFamily="18" charset="0"/>
                                      </a:rPr>
                                      <m:t>𝑖</m:t>
                                    </m:r>
                                  </m:sub>
                                </m:sSub>
                              </m:e>
                            </m:d>
                          </m:e>
                        </m:d>
                      </m:e>
                    </m:nary>
                  </m:oMath>
                </a14:m>
                <a:r>
                  <a:rPr lang="en-US" dirty="0"/>
                  <a:t>, where </a:t>
                </a:r>
                <a14:m>
                  <m:oMath xmlns:m="http://schemas.openxmlformats.org/officeDocument/2006/math">
                    <m:r>
                      <m:rPr>
                        <m:sty m:val="p"/>
                      </m:rPr>
                      <a:rPr lang="en-US" b="0" i="0" smtClean="0">
                        <a:latin typeface="Cambria Math" panose="02040503050406030204" pitchFamily="18" charset="0"/>
                      </a:rPr>
                      <m:t>ln</m:t>
                    </m:r>
                    <m:d>
                      <m:dPr>
                        <m:ctrlPr>
                          <a:rPr lang="en-US" b="0" i="1" smtClean="0">
                            <a:latin typeface="Cambria Math" panose="02040503050406030204" pitchFamily="18" charset="0"/>
                          </a:rPr>
                        </m:ctrlPr>
                      </m:dPr>
                      <m:e>
                        <m:r>
                          <m:rPr>
                            <m:sty m:val="p"/>
                          </m:rPr>
                          <a:rPr lang="en-US" smtClean="0">
                            <a:latin typeface="Cambria Math" panose="02040503050406030204" pitchFamily="18" charset="0"/>
                          </a:rPr>
                          <m:t>q</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𝑲</m:t>
                                    </m:r>
                                  </m:sub>
                                </m:sSub>
                                <m:r>
                                  <a:rPr lang="en-US" b="0" i="1" smtClean="0">
                                    <a:latin typeface="Cambria Math" panose="02040503050406030204" pitchFamily="18" charset="0"/>
                                  </a:rPr>
                                  <m:t>}</m:t>
                                </m:r>
                              </m:e>
                              <m:sub>
                                <m:r>
                                  <a:rPr lang="en-US" b="0" i="1" smtClean="0">
                                    <a:latin typeface="Cambria Math" panose="02040503050406030204" pitchFamily="18" charset="0"/>
                                  </a:rPr>
                                  <m:t>𝑖</m:t>
                                </m:r>
                              </m:sub>
                            </m:sSub>
                          </m:e>
                        </m:d>
                      </m:e>
                    </m:d>
                  </m:oMath>
                </a14:m>
                <a:r>
                  <a:rPr lang="en-US" dirty="0"/>
                  <a:t> comes from:</a:t>
                </a:r>
              </a:p>
              <a:p>
                <a:pPr marL="0" indent="0" algn="ctr">
                  <a:buNone/>
                </a:pPr>
                <a14:m>
                  <m:oMath xmlns:m="http://schemas.openxmlformats.org/officeDocument/2006/math">
                    <m:r>
                      <m:rPr>
                        <m:sty m:val="p"/>
                      </m:rPr>
                      <a:rPr lang="en-US" b="0" i="0" smtClean="0">
                        <a:latin typeface="Cambria Math" panose="02040503050406030204" pitchFamily="18" charset="0"/>
                      </a:rPr>
                      <m:t>ln</m:t>
                    </m:r>
                    <m:d>
                      <m:dPr>
                        <m:ctrlPr>
                          <a:rPr lang="en-US" b="0" i="1" smtClean="0">
                            <a:latin typeface="Cambria Math" panose="02040503050406030204" pitchFamily="18" charset="0"/>
                          </a:rPr>
                        </m:ctrlPr>
                      </m:dPr>
                      <m:e>
                        <m:r>
                          <m:rPr>
                            <m:sty m:val="p"/>
                          </m:rPr>
                          <a:rPr lang="en-US" smtClean="0">
                            <a:latin typeface="Cambria Math" panose="02040503050406030204" pitchFamily="18" charset="0"/>
                          </a:rPr>
                          <m:t>q</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𝑲</m:t>
                                </m:r>
                              </m:sub>
                            </m:sSub>
                          </m:e>
                        </m:d>
                      </m:e>
                    </m:d>
                    <m:r>
                      <a:rPr lang="en-US" b="0" i="1" smtClean="0">
                        <a:latin typeface="Cambria Math" panose="02040503050406030204" pitchFamily="18" charset="0"/>
                      </a:rPr>
                      <m:t>=</m:t>
                    </m:r>
                    <m:r>
                      <m:rPr>
                        <m:sty m:val="p"/>
                      </m:rPr>
                      <a:rPr lang="en-US" b="0" i="0" smtClean="0">
                        <a:latin typeface="Cambria Math" panose="02040503050406030204" pitchFamily="18" charset="0"/>
                      </a:rPr>
                      <m:t>ln</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p</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𝟎</m:t>
                                </m:r>
                              </m:sub>
                            </m:sSub>
                          </m:e>
                        </m:d>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𝑘</m:t>
                        </m:r>
                      </m:sub>
                      <m:sup>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𝐾</m:t>
                        </m:r>
                      </m:sup>
                      <m:e>
                        <m:r>
                          <m:rPr>
                            <m:sty m:val="p"/>
                          </m:rPr>
                          <a:rPr lang="en-US" b="0" i="0" smtClean="0">
                            <a:latin typeface="Cambria Math" panose="02040503050406030204" pitchFamily="18" charset="0"/>
                          </a:rPr>
                          <m:t>ln</m:t>
                        </m:r>
                        <m:r>
                          <a:rPr lang="en-US" b="0" i="0" smtClean="0">
                            <a:latin typeface="Cambria Math" panose="02040503050406030204" pitchFamily="18" charset="0"/>
                          </a:rPr>
                          <m:t>(|</m:t>
                        </m:r>
                        <m:r>
                          <m:rPr>
                            <m:sty m:val="p"/>
                          </m:rPr>
                          <a:rPr lang="en-US" b="0" i="0" smtClean="0">
                            <a:latin typeface="Cambria Math" panose="02040503050406030204" pitchFamily="18" charset="0"/>
                          </a:rPr>
                          <m:t>det</m:t>
                        </m:r>
                      </m:e>
                    </m:nary>
                  </m:oMath>
                </a14:m>
                <a:r>
                  <a:rPr lang="en-US" b="0"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𝛿</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num>
                      <m:den>
                        <m:r>
                          <a:rPr lang="en-US" b="0" i="1" smtClean="0">
                            <a:latin typeface="Cambria Math" panose="02040503050406030204" pitchFamily="18" charset="0"/>
                          </a:rPr>
                          <m:t>𝛿</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 </m:t>
                            </m:r>
                          </m:sub>
                        </m:sSub>
                      </m:den>
                    </m:f>
                    <m:r>
                      <a:rPr lang="en-US" b="0" i="0" smtClean="0">
                        <a:latin typeface="Cambria Math" panose="02040503050406030204" pitchFamily="18" charset="0"/>
                      </a:rPr>
                      <m:t>|)</m:t>
                    </m:r>
                  </m:oMath>
                </a14:m>
                <a:endParaRPr lang="en-US" b="1"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69ED4904-CBA9-BF27-E32B-CD4892BAFDDE}"/>
                  </a:ext>
                </a:extLst>
              </p:cNvPr>
              <p:cNvSpPr>
                <a:spLocks noGrp="1" noRot="1" noChangeAspect="1" noMove="1" noResize="1" noEditPoints="1" noAdjustHandles="1" noChangeArrowheads="1" noChangeShapeType="1" noTextEdit="1"/>
              </p:cNvSpPr>
              <p:nvPr>
                <p:ph idx="1"/>
              </p:nvPr>
            </p:nvSpPr>
            <p:spPr>
              <a:blipFill>
                <a:blip r:embed="rId2"/>
                <a:stretch>
                  <a:fillRect l="-1043" t="-2241" r="-812"/>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36BF8E5A-CEA2-8342-9AFE-1C8A7D0F8318}"/>
              </a:ext>
            </a:extLst>
          </p:cNvPr>
          <p:cNvSpPr txBox="1"/>
          <p:nvPr/>
        </p:nvSpPr>
        <p:spPr>
          <a:xfrm>
            <a:off x="942680" y="6353666"/>
            <a:ext cx="1583704" cy="369332"/>
          </a:xfrm>
          <a:prstGeom prst="rect">
            <a:avLst/>
          </a:prstGeom>
          <a:noFill/>
        </p:spPr>
        <p:txBody>
          <a:bodyPr wrap="square" rtlCol="0">
            <a:spAutoFit/>
          </a:bodyPr>
          <a:lstStyle/>
          <a:p>
            <a:r>
              <a:rPr lang="en-US" dirty="0">
                <a:hlinkClick r:id="rId3" action="ppaction://hlinksldjump"/>
              </a:rPr>
              <a:t>Proof Intuition</a:t>
            </a:r>
            <a:endParaRPr lang="en-US" dirty="0"/>
          </a:p>
        </p:txBody>
      </p:sp>
    </p:spTree>
    <p:extLst>
      <p:ext uri="{BB962C8B-B14F-4D97-AF65-F5344CB8AC3E}">
        <p14:creationId xmlns:p14="http://schemas.microsoft.com/office/powerpoint/2010/main" val="10976340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C710C-275C-E695-61ED-2E0219324189}"/>
              </a:ext>
            </a:extLst>
          </p:cNvPr>
          <p:cNvSpPr>
            <a:spLocks noGrp="1"/>
          </p:cNvSpPr>
          <p:nvPr>
            <p:ph type="title"/>
          </p:nvPr>
        </p:nvSpPr>
        <p:spPr/>
        <p:txBody>
          <a:bodyPr/>
          <a:lstStyle/>
          <a:p>
            <a:r>
              <a:rPr lang="en-US" dirty="0"/>
              <a:t>Normalizing Flows as Density Estimators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D0A27D3A-5759-BA22-54F5-164DAA301390}"/>
                  </a:ext>
                </a:extLst>
              </p:cNvPr>
              <p:cNvSpPr>
                <a:spLocks noGrp="1"/>
              </p:cNvSpPr>
              <p:nvPr>
                <p:ph idx="1"/>
              </p:nvPr>
            </p:nvSpPr>
            <p:spPr/>
            <p:txBody>
              <a:bodyPr/>
              <a:lstStyle/>
              <a:p>
                <a:r>
                  <a:rPr lang="en-US" dirty="0"/>
                  <a:t>In this case, we can estimate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oMath>
                </a14:m>
                <a:r>
                  <a:rPr lang="en-US" dirty="0"/>
                  <a:t> using the normalizing flow as a density estimator for the conditional distribution:</a:t>
                </a:r>
              </a:p>
              <a:p>
                <a:pPr marL="0" indent="0" algn="ctr">
                  <a:buNone/>
                </a:pPr>
                <a14:m>
                  <m:oMath xmlns:m="http://schemas.openxmlformats.org/officeDocument/2006/math">
                    <m:r>
                      <m:rPr>
                        <m:sty m:val="p"/>
                      </m:rPr>
                      <a:rPr lang="en-US" b="0" i="0" smtClean="0">
                        <a:latin typeface="Cambria Math" panose="02040503050406030204" pitchFamily="18" charset="0"/>
                      </a:rPr>
                      <m:t>ln</m:t>
                    </m:r>
                    <m:d>
                      <m:dPr>
                        <m:ctrlPr>
                          <a:rPr lang="en-US" b="0" i="1" smtClean="0">
                            <a:latin typeface="Cambria Math" panose="02040503050406030204" pitchFamily="18" charset="0"/>
                          </a:rPr>
                        </m:ctrlPr>
                      </m:dPr>
                      <m:e>
                        <m:r>
                          <m:rPr>
                            <m:sty m:val="p"/>
                          </m:rPr>
                          <a:rPr lang="en-US" smtClean="0">
                            <a:latin typeface="Cambria Math" panose="02040503050406030204" pitchFamily="18" charset="0"/>
                          </a:rPr>
                          <m:t>q</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𝑲</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e>
                    </m:d>
                    <m:r>
                      <a:rPr lang="en-US" b="0" i="1" smtClean="0">
                        <a:latin typeface="Cambria Math" panose="02040503050406030204" pitchFamily="18" charset="0"/>
                      </a:rPr>
                      <m:t>=</m:t>
                    </m:r>
                    <m:r>
                      <m:rPr>
                        <m:sty m:val="p"/>
                      </m:rPr>
                      <a:rPr lang="en-US" b="0" i="0" smtClean="0">
                        <a:latin typeface="Cambria Math" panose="02040503050406030204" pitchFamily="18" charset="0"/>
                      </a:rPr>
                      <m:t>ln</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p</m:t>
                        </m:r>
                        <m:d>
                          <m:dPr>
                            <m:ctrlPr>
                              <a:rPr lang="en-US" b="0" i="1" smtClean="0">
                                <a:latin typeface="Cambria Math" panose="02040503050406030204" pitchFamily="18" charset="0"/>
                              </a:rPr>
                            </m:ctrlPr>
                          </m:dPr>
                          <m:e>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𝟎</m:t>
                                </m:r>
                              </m:sub>
                            </m:sSub>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𝑿</m:t>
                                </m:r>
                              </m:e>
                              <m:sup>
                                <m:r>
                                  <a:rPr lang="en-US" b="1" i="1" smtClean="0">
                                    <a:latin typeface="Cambria Math" panose="02040503050406030204" pitchFamily="18" charset="0"/>
                                  </a:rPr>
                                  <m:t>∗</m:t>
                                </m:r>
                              </m:sup>
                            </m:sSup>
                          </m:e>
                        </m:d>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𝑘</m:t>
                        </m:r>
                      </m:sub>
                      <m:sup>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𝐾</m:t>
                        </m:r>
                      </m:sup>
                      <m:e>
                        <m:r>
                          <m:rPr>
                            <m:sty m:val="p"/>
                          </m:rPr>
                          <a:rPr lang="en-US" b="0" i="0" smtClean="0">
                            <a:latin typeface="Cambria Math" panose="02040503050406030204" pitchFamily="18" charset="0"/>
                          </a:rPr>
                          <m:t>ln</m:t>
                        </m:r>
                        <m:r>
                          <a:rPr lang="en-US" b="0" i="0" smtClean="0">
                            <a:latin typeface="Cambria Math" panose="02040503050406030204" pitchFamily="18" charset="0"/>
                          </a:rPr>
                          <m:t>(|</m:t>
                        </m:r>
                        <m:r>
                          <m:rPr>
                            <m:sty m:val="p"/>
                          </m:rPr>
                          <a:rPr lang="en-US" b="0" i="0" smtClean="0">
                            <a:latin typeface="Cambria Math" panose="02040503050406030204" pitchFamily="18" charset="0"/>
                          </a:rPr>
                          <m:t>det</m:t>
                        </m:r>
                      </m:e>
                    </m:nary>
                  </m:oMath>
                </a14:m>
                <a:r>
                  <a:rPr lang="en-US" b="0" dirty="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𝛿</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1" i="1">
                                <a:latin typeface="Cambria Math" panose="02040503050406030204" pitchFamily="18" charset="0"/>
                              </a:rPr>
                            </m:ctrlPr>
                          </m:sSubPr>
                          <m:e>
                            <m:r>
                              <a:rPr lang="en-US" b="1" i="1" smtClean="0">
                                <a:latin typeface="Cambria Math" panose="02040503050406030204" pitchFamily="18" charset="0"/>
                              </a:rPr>
                              <m:t>𝜽</m:t>
                            </m:r>
                          </m:e>
                          <m:sub>
                            <m:r>
                              <a:rPr lang="en-US" b="1" i="1">
                                <a:latin typeface="Cambria Math" panose="02040503050406030204" pitchFamily="18" charset="0"/>
                              </a:rPr>
                              <m:t>𝒌</m:t>
                            </m:r>
                            <m:r>
                              <a:rPr lang="en-US" b="1" i="1">
                                <a:latin typeface="Cambria Math" panose="02040503050406030204" pitchFamily="18" charset="0"/>
                              </a:rPr>
                              <m:t>−</m:t>
                            </m:r>
                            <m:r>
                              <a:rPr lang="en-US" b="1" i="1">
                                <a:latin typeface="Cambria Math" panose="02040503050406030204" pitchFamily="18" charset="0"/>
                              </a:rPr>
                              <m:t>𝟏</m:t>
                            </m:r>
                            <m:r>
                              <a:rPr lang="en-US" b="1" i="1">
                                <a:latin typeface="Cambria Math" panose="02040503050406030204" pitchFamily="18" charset="0"/>
                              </a:rPr>
                              <m:t> </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num>
                      <m:den>
                        <m:r>
                          <a:rPr lang="en-US" b="0" i="1" smtClean="0">
                            <a:latin typeface="Cambria Math" panose="02040503050406030204" pitchFamily="18" charset="0"/>
                          </a:rPr>
                          <m:t>𝛿</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𝜽</m:t>
                            </m:r>
                          </m:e>
                          <m:sub>
                            <m:r>
                              <a:rPr lang="en-US" b="1" i="1" smtClean="0">
                                <a:latin typeface="Cambria Math" panose="02040503050406030204" pitchFamily="18" charset="0"/>
                              </a:rPr>
                              <m:t>𝒌</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 </m:t>
                            </m:r>
                          </m:sub>
                        </m:sSub>
                      </m:den>
                    </m:f>
                    <m:r>
                      <a:rPr lang="en-US" b="0" i="0" smtClean="0">
                        <a:latin typeface="Cambria Math" panose="02040503050406030204" pitchFamily="18" charset="0"/>
                      </a:rPr>
                      <m:t>|)</m:t>
                    </m:r>
                  </m:oMath>
                </a14:m>
                <a:endParaRPr lang="en-US" b="1" dirty="0"/>
              </a:p>
              <a:p>
                <a:endParaRPr lang="en-US" dirty="0"/>
              </a:p>
              <a:p>
                <a:r>
                  <a:rPr lang="en-US" dirty="0"/>
                  <a:t>One advantage of a flow-based density estimation is you can both sample from the flow and calculate probabilities without resorting to rejection sampling techniques like you would for a kernel density estimator</a:t>
                </a:r>
              </a:p>
              <a:p>
                <a:pPr marL="0" indent="0">
                  <a:buNone/>
                </a:pPr>
                <a:endParaRPr lang="en-US" dirty="0"/>
              </a:p>
              <a:p>
                <a:endParaRPr lang="en-US" dirty="0"/>
              </a:p>
            </p:txBody>
          </p:sp>
        </mc:Choice>
        <mc:Fallback xmlns="">
          <p:sp>
            <p:nvSpPr>
              <p:cNvPr id="5" name="Content Placeholder 4">
                <a:extLst>
                  <a:ext uri="{FF2B5EF4-FFF2-40B4-BE49-F238E27FC236}">
                    <a16:creationId xmlns:a16="http://schemas.microsoft.com/office/drawing/2014/main" id="{D0A27D3A-5759-BA22-54F5-164DAA301390}"/>
                  </a:ext>
                </a:extLst>
              </p:cNvPr>
              <p:cNvSpPr>
                <a:spLocks noGrp="1" noRot="1" noChangeAspect="1" noMove="1" noResize="1" noEditPoints="1" noAdjustHandles="1" noChangeArrowheads="1" noChangeShapeType="1" noTextEdit="1"/>
              </p:cNvSpPr>
              <p:nvPr>
                <p:ph idx="1"/>
              </p:nvPr>
            </p:nvSpPr>
            <p:spPr>
              <a:blipFill>
                <a:blip r:embed="rId2"/>
                <a:stretch>
                  <a:fillRect l="-1043" t="-2241" r="-580"/>
                </a:stretch>
              </a:blipFill>
            </p:spPr>
            <p:txBody>
              <a:bodyPr/>
              <a:lstStyle/>
              <a:p>
                <a:r>
                  <a:rPr lang="en-US">
                    <a:noFill/>
                  </a:rPr>
                  <a:t> </a:t>
                </a:r>
              </a:p>
            </p:txBody>
          </p:sp>
        </mc:Fallback>
      </mc:AlternateContent>
    </p:spTree>
    <p:extLst>
      <p:ext uri="{BB962C8B-B14F-4D97-AF65-F5344CB8AC3E}">
        <p14:creationId xmlns:p14="http://schemas.microsoft.com/office/powerpoint/2010/main" val="2587370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BD9287A-382C-9407-641C-F3A40E9823B5}"/>
                  </a:ext>
                </a:extLst>
              </p:cNvPr>
              <p:cNvSpPr>
                <a:spLocks noGrp="1"/>
              </p:cNvSpPr>
              <p:nvPr>
                <p:ph type="title"/>
              </p:nvPr>
            </p:nvSpPr>
            <p:spPr/>
            <p:txBody>
              <a:bodyPr>
                <a:normAutofit/>
              </a:bodyPr>
              <a:lstStyle/>
              <a:p>
                <a:r>
                  <a:rPr lang="en-US" dirty="0"/>
                  <a:t>SNPE Example Redux: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 </m:t>
                    </m:r>
                    <m:r>
                      <m:rPr>
                        <m:sty m:val="p"/>
                      </m:rPr>
                      <a:rPr lang="en-US" b="0" i="1" smtClean="0">
                        <a:latin typeface="Cambria Math" panose="02040503050406030204" pitchFamily="18" charset="0"/>
                      </a:rPr>
                      <m:t>ϵ</m:t>
                    </m:r>
                    <m:r>
                      <a:rPr lang="en-US" b="0" i="1" smtClean="0">
                        <a:latin typeface="Cambria Math" panose="02040503050406030204" pitchFamily="18" charset="0"/>
                      </a:rPr>
                      <m:t> </m:t>
                    </m:r>
                  </m:oMath>
                </a14:m>
                <a:endParaRPr lang="en-US" dirty="0"/>
              </a:p>
            </p:txBody>
          </p:sp>
        </mc:Choice>
        <mc:Fallback xmlns="">
          <p:sp>
            <p:nvSpPr>
              <p:cNvPr id="2" name="Title 1">
                <a:extLst>
                  <a:ext uri="{FF2B5EF4-FFF2-40B4-BE49-F238E27FC236}">
                    <a16:creationId xmlns:a16="http://schemas.microsoft.com/office/drawing/2014/main" id="{0BD9287A-382C-9407-641C-F3A40E9823B5}"/>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A5E6D8-682A-078E-9376-5A4474ED834E}"/>
                  </a:ext>
                </a:extLst>
              </p:cNvPr>
              <p:cNvSpPr>
                <a:spLocks noGrp="1"/>
              </p:cNvSpPr>
              <p:nvPr>
                <p:ph idx="1"/>
              </p:nvPr>
            </p:nvSpPr>
            <p:spPr>
              <a:xfrm>
                <a:off x="838200" y="1825625"/>
                <a:ext cx="10515600" cy="4351338"/>
              </a:xfrm>
            </p:spPr>
            <p:txBody>
              <a:bodyPr>
                <a:normAutofit lnSpcReduction="10000"/>
              </a:bodyPr>
              <a:lstStyle/>
              <a:p>
                <a14:m>
                  <m:oMath xmlns:m="http://schemas.openxmlformats.org/officeDocument/2006/math">
                    <m:r>
                      <a:rPr lang="en-US" b="0" i="1" smtClean="0">
                        <a:latin typeface="Cambria Math" panose="02040503050406030204" pitchFamily="18" charset="0"/>
                      </a:rPr>
                      <m:t>𝑋</m:t>
                    </m:r>
                  </m:oMath>
                </a14:m>
                <a:r>
                  <a:rPr lang="en-US" dirty="0"/>
                  <a:t> = data,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dirty="0"/>
                  <a:t>= model simulations,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 prior over </a:t>
                </a:r>
                <a14:m>
                  <m:oMath xmlns:m="http://schemas.openxmlformats.org/officeDocument/2006/math">
                    <m:r>
                      <a:rPr lang="en-US" b="0" i="1" smtClean="0">
                        <a:latin typeface="Cambria Math" panose="02040503050406030204" pitchFamily="18" charset="0"/>
                      </a:rPr>
                      <m:t>𝜃</m:t>
                    </m:r>
                  </m:oMath>
                </a14:m>
                <a:r>
                  <a:rPr lang="en-US" dirty="0"/>
                  <a:t>, </a:t>
                </a:r>
                <a14:m>
                  <m:oMath xmlns:m="http://schemas.openxmlformats.org/officeDocument/2006/math">
                    <m:r>
                      <a:rPr lang="en-US" b="0" i="1" dirty="0" smtClean="0">
                        <a:latin typeface="Cambria Math" panose="02040503050406030204" pitchFamily="18" charset="0"/>
                      </a:rPr>
                      <m:t>𝜖</m:t>
                    </m:r>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b="0" i="1" dirty="0" smtClean="0">
                        <a:latin typeface="Cambria Math" panose="02040503050406030204" pitchFamily="18" charset="0"/>
                      </a:rPr>
                      <m:t>(0,1)</m:t>
                    </m:r>
                  </m:oMath>
                </a14:m>
                <a:endParaRPr lang="en-US" dirty="0"/>
              </a:p>
              <a:p>
                <a:r>
                  <a:rPr lang="en-US" dirty="0"/>
                  <a:t>Objective: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endParaRPr lang="en-US" dirty="0"/>
              </a:p>
              <a:p>
                <a:r>
                  <a:rPr lang="en-US" b="1" dirty="0"/>
                  <a:t>Step 1: </a:t>
                </a:r>
                <a14:m>
                  <m:oMath xmlns:m="http://schemas.openxmlformats.org/officeDocument/2006/math">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e>
                        </m:d>
                      </m:e>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𝐼</m:t>
                        </m:r>
                      </m:sup>
                    </m:sSubSup>
                  </m:oMath>
                </a14:m>
                <a:r>
                  <a:rPr lang="en-US" b="0" dirty="0"/>
                  <a:t> = simulated via Monte Carlo</a:t>
                </a:r>
              </a:p>
              <a:p>
                <a:pPr marL="914400" lvl="1" indent="-457200">
                  <a:buFont typeface="+mj-lt"/>
                  <a:buAutoNum type="arabicPeriod"/>
                </a:pPr>
                <a:r>
                  <a:rPr lang="en-US" dirty="0"/>
                  <a:t>Sample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b="0" dirty="0"/>
                  <a:t> from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endParaRPr lang="en-US" b="0" dirty="0"/>
              </a:p>
              <a:p>
                <a:pPr marL="914400" lvl="1" indent="-457200">
                  <a:buFont typeface="+mj-lt"/>
                  <a:buAutoNum type="arabicPeriod"/>
                </a:pPr>
                <a:r>
                  <a:rPr lang="en-US" dirty="0"/>
                  <a:t>Sample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b="0" dirty="0"/>
                  <a:t> from simulated model conditional on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oMath>
                </a14:m>
                <a:r>
                  <a:rPr lang="en-US" dirty="0"/>
                  <a: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m:t>
                    </m:r>
                  </m:oMath>
                </a14:m>
                <a:r>
                  <a:rPr lang="en-US" dirty="0"/>
                  <a: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𝜃</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 </m:t>
                    </m:r>
                    <m:r>
                      <m:rPr>
                        <m:sty m:val="p"/>
                      </m:rPr>
                      <a:rPr lang="en-US" b="0" i="1" smtClean="0">
                        <a:latin typeface="Cambria Math" panose="02040503050406030204" pitchFamily="18" charset="0"/>
                      </a:rPr>
                      <m:t>ϵ</m:t>
                    </m:r>
                  </m:oMath>
                </a14:m>
                <a:endParaRPr lang="en-US" b="0" dirty="0"/>
              </a:p>
              <a:p>
                <a:r>
                  <a:rPr lang="en-US" b="1" dirty="0"/>
                  <a:t>Step 2: </a:t>
                </a:r>
                <a:r>
                  <a:rPr lang="en-US" dirty="0"/>
                  <a:t>Estimate the conditional density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e>
                    </m:d>
                  </m:oMath>
                </a14:m>
                <a:r>
                  <a:rPr lang="en-US" b="0" dirty="0"/>
                  <a:t> </a:t>
                </a:r>
              </a:p>
              <a:p>
                <a:pPr marL="914400" lvl="1" indent="-457200">
                  <a:buFont typeface="+mj-lt"/>
                  <a:buAutoNum type="arabicPeriod"/>
                </a:pPr>
                <a:r>
                  <a:rPr lang="en-US" dirty="0"/>
                  <a:t>Use a conditional density estimator</a:t>
                </a:r>
              </a:p>
              <a:p>
                <a:pPr lvl="2">
                  <a:buFont typeface="Wingdings" panose="05000000000000000000" pitchFamily="2" charset="2"/>
                  <a:buChar char="§"/>
                </a:pPr>
                <a:r>
                  <a:rPr lang="en-US" dirty="0"/>
                  <a:t>Many different CDEs can be used, I will discuss a conditional mixture of Gaussians and normalizing flows</a:t>
                </a:r>
              </a:p>
              <a:p>
                <a:r>
                  <a:rPr lang="en-US" b="1" dirty="0"/>
                  <a:t>Step 3: </a:t>
                </a:r>
                <a:r>
                  <a:rPr lang="en-US" dirty="0"/>
                  <a:t>Condition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b="1" dirty="0"/>
                  <a:t> </a:t>
                </a:r>
                <a:r>
                  <a:rPr lang="en-US" dirty="0"/>
                  <a:t>on the real data, </a:t>
                </a:r>
                <a14:m>
                  <m:oMath xmlns:m="http://schemas.openxmlformats.org/officeDocument/2006/math">
                    <m:r>
                      <a:rPr lang="en-US" b="0" i="1" smtClean="0">
                        <a:latin typeface="Cambria Math" panose="02040503050406030204" pitchFamily="18" charset="0"/>
                      </a:rPr>
                      <m:t>𝑋</m:t>
                    </m:r>
                  </m:oMath>
                </a14:m>
                <a:r>
                  <a:rPr lang="en-US" dirty="0"/>
                  <a:t>, forming the posterior: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9CA5E6D8-682A-078E-9376-5A4474ED834E}"/>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3"/>
                <a:stretch>
                  <a:fillRect l="-1043" t="-308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9F4E1B9-D63F-73D3-2F95-104B0CA79D8E}"/>
              </a:ext>
            </a:extLst>
          </p:cNvPr>
          <p:cNvSpPr txBox="1"/>
          <p:nvPr/>
        </p:nvSpPr>
        <p:spPr>
          <a:xfrm>
            <a:off x="8648700" y="2713038"/>
            <a:ext cx="2105025" cy="369332"/>
          </a:xfrm>
          <a:prstGeom prst="rect">
            <a:avLst/>
          </a:prstGeom>
          <a:noFill/>
        </p:spPr>
        <p:txBody>
          <a:bodyPr wrap="square" rtlCol="0">
            <a:spAutoFit/>
          </a:bodyPr>
          <a:lstStyle/>
          <a:p>
            <a:r>
              <a:rPr lang="en-US" dirty="0">
                <a:hlinkClick r:id="rId4" action="ppaction://hlinksldjump"/>
              </a:rPr>
              <a:t>Simulate diagram</a:t>
            </a:r>
            <a:endParaRPr lang="en-US" dirty="0"/>
          </a:p>
        </p:txBody>
      </p:sp>
      <p:sp>
        <p:nvSpPr>
          <p:cNvPr id="5" name="TextBox 4">
            <a:extLst>
              <a:ext uri="{FF2B5EF4-FFF2-40B4-BE49-F238E27FC236}">
                <a16:creationId xmlns:a16="http://schemas.microsoft.com/office/drawing/2014/main" id="{F8E25899-86EF-D141-C91D-65CACE6AD21C}"/>
              </a:ext>
            </a:extLst>
          </p:cNvPr>
          <p:cNvSpPr txBox="1">
            <a:spLocks/>
          </p:cNvSpPr>
          <p:nvPr/>
        </p:nvSpPr>
        <p:spPr>
          <a:xfrm>
            <a:off x="8648700" y="4001294"/>
            <a:ext cx="2105025" cy="369332"/>
          </a:xfrm>
          <a:prstGeom prst="rect">
            <a:avLst/>
          </a:prstGeom>
          <a:noFill/>
        </p:spPr>
        <p:txBody>
          <a:bodyPr wrap="square" rtlCol="0">
            <a:spAutoFit/>
          </a:bodyPr>
          <a:lstStyle/>
          <a:p>
            <a:r>
              <a:rPr lang="en-US" dirty="0">
                <a:hlinkClick r:id="rId5" action="ppaction://hlinksldjump"/>
              </a:rPr>
              <a:t>Estimate diagram</a:t>
            </a:r>
            <a:endParaRPr lang="en-US" dirty="0"/>
          </a:p>
        </p:txBody>
      </p:sp>
      <p:sp>
        <p:nvSpPr>
          <p:cNvPr id="6" name="TextBox 5">
            <a:extLst>
              <a:ext uri="{FF2B5EF4-FFF2-40B4-BE49-F238E27FC236}">
                <a16:creationId xmlns:a16="http://schemas.microsoft.com/office/drawing/2014/main" id="{544DE18B-236B-8F84-22C0-4FCE0A5BF428}"/>
              </a:ext>
            </a:extLst>
          </p:cNvPr>
          <p:cNvSpPr txBox="1">
            <a:spLocks/>
          </p:cNvSpPr>
          <p:nvPr/>
        </p:nvSpPr>
        <p:spPr>
          <a:xfrm>
            <a:off x="8648700" y="5734844"/>
            <a:ext cx="2105025" cy="369332"/>
          </a:xfrm>
          <a:prstGeom prst="rect">
            <a:avLst/>
          </a:prstGeom>
          <a:noFill/>
        </p:spPr>
        <p:txBody>
          <a:bodyPr wrap="square" rtlCol="0">
            <a:spAutoFit/>
          </a:bodyPr>
          <a:lstStyle/>
          <a:p>
            <a:r>
              <a:rPr lang="en-US" dirty="0">
                <a:hlinkClick r:id="rId6" action="ppaction://hlinksldjump"/>
              </a:rPr>
              <a:t>Condition diagram</a:t>
            </a:r>
            <a:endParaRPr lang="en-US" dirty="0"/>
          </a:p>
        </p:txBody>
      </p:sp>
    </p:spTree>
    <p:extLst>
      <p:ext uri="{BB962C8B-B14F-4D97-AF65-F5344CB8AC3E}">
        <p14:creationId xmlns:p14="http://schemas.microsoft.com/office/powerpoint/2010/main" val="1106779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635BE6-58D7-E213-8FE1-543F7436249F}"/>
              </a:ext>
            </a:extLst>
          </p:cNvPr>
          <p:cNvSpPr>
            <a:spLocks noGrp="1"/>
          </p:cNvSpPr>
          <p:nvPr>
            <p:ph type="ctrTitle"/>
          </p:nvPr>
        </p:nvSpPr>
        <p:spPr/>
        <p:txBody>
          <a:bodyPr/>
          <a:lstStyle/>
          <a:p>
            <a:r>
              <a:rPr lang="en-US" dirty="0"/>
              <a:t>Results</a:t>
            </a:r>
          </a:p>
        </p:txBody>
      </p:sp>
      <p:sp>
        <p:nvSpPr>
          <p:cNvPr id="5" name="Subtitle 4">
            <a:extLst>
              <a:ext uri="{FF2B5EF4-FFF2-40B4-BE49-F238E27FC236}">
                <a16:creationId xmlns:a16="http://schemas.microsoft.com/office/drawing/2014/main" id="{996443F8-F8E6-2BEB-6148-B4C12F8B333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333646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0295FC-5510-6797-FC35-55EBF5C3B6F7}"/>
              </a:ext>
            </a:extLst>
          </p:cNvPr>
          <p:cNvSpPr>
            <a:spLocks noGrp="1"/>
          </p:cNvSpPr>
          <p:nvPr>
            <p:ph type="title"/>
          </p:nvPr>
        </p:nvSpPr>
        <p:spPr/>
        <p:txBody>
          <a:bodyPr/>
          <a:lstStyle/>
          <a:p>
            <a:r>
              <a:rPr lang="en-US" dirty="0"/>
              <a:t>Comparison of Estimation Algorithms Ability to Handle a Selection of Solution Methods</a:t>
            </a:r>
          </a:p>
        </p:txBody>
      </p:sp>
      <p:sp>
        <p:nvSpPr>
          <p:cNvPr id="2" name="TextBox 1">
            <a:extLst>
              <a:ext uri="{FF2B5EF4-FFF2-40B4-BE49-F238E27FC236}">
                <a16:creationId xmlns:a16="http://schemas.microsoft.com/office/drawing/2014/main" id="{A2A3A73B-8FC7-D6AE-B8F6-EB95DD8081FA}"/>
              </a:ext>
            </a:extLst>
          </p:cNvPr>
          <p:cNvSpPr txBox="1"/>
          <p:nvPr/>
        </p:nvSpPr>
        <p:spPr>
          <a:xfrm>
            <a:off x="1054359" y="6279502"/>
            <a:ext cx="1978090" cy="369332"/>
          </a:xfrm>
          <a:prstGeom prst="rect">
            <a:avLst/>
          </a:prstGeom>
          <a:noFill/>
        </p:spPr>
        <p:txBody>
          <a:bodyPr wrap="square" rtlCol="0">
            <a:spAutoFit/>
          </a:bodyPr>
          <a:lstStyle/>
          <a:p>
            <a:r>
              <a:rPr lang="en-US" dirty="0">
                <a:hlinkClick r:id="rId2" action="ppaction://hlinksldjump"/>
              </a:rPr>
              <a:t>Perturbation</a:t>
            </a:r>
            <a:endParaRPr lang="en-US" dirty="0"/>
          </a:p>
        </p:txBody>
      </p:sp>
      <p:sp>
        <p:nvSpPr>
          <p:cNvPr id="3" name="TextBox 2">
            <a:extLst>
              <a:ext uri="{FF2B5EF4-FFF2-40B4-BE49-F238E27FC236}">
                <a16:creationId xmlns:a16="http://schemas.microsoft.com/office/drawing/2014/main" id="{A58009B0-A8A7-4804-3C5E-2669B01DB9CE}"/>
              </a:ext>
            </a:extLst>
          </p:cNvPr>
          <p:cNvSpPr txBox="1"/>
          <p:nvPr/>
        </p:nvSpPr>
        <p:spPr>
          <a:xfrm>
            <a:off x="2945363" y="6280932"/>
            <a:ext cx="1978090" cy="369332"/>
          </a:xfrm>
          <a:prstGeom prst="rect">
            <a:avLst/>
          </a:prstGeom>
          <a:noFill/>
        </p:spPr>
        <p:txBody>
          <a:bodyPr wrap="square" rtlCol="0">
            <a:spAutoFit/>
          </a:bodyPr>
          <a:lstStyle/>
          <a:p>
            <a:r>
              <a:rPr lang="en-US" dirty="0">
                <a:hlinkClick r:id="rId3" action="ppaction://hlinksldjump"/>
              </a:rPr>
              <a:t>Projection</a:t>
            </a:r>
            <a:endParaRPr lang="en-US" dirty="0"/>
          </a:p>
        </p:txBody>
      </p:sp>
      <p:sp>
        <p:nvSpPr>
          <p:cNvPr id="4" name="TextBox 3">
            <a:extLst>
              <a:ext uri="{FF2B5EF4-FFF2-40B4-BE49-F238E27FC236}">
                <a16:creationId xmlns:a16="http://schemas.microsoft.com/office/drawing/2014/main" id="{1CB465E8-1D3F-A39A-699F-68D1ABF49FB3}"/>
              </a:ext>
            </a:extLst>
          </p:cNvPr>
          <p:cNvSpPr txBox="1"/>
          <p:nvPr/>
        </p:nvSpPr>
        <p:spPr>
          <a:xfrm>
            <a:off x="4640727" y="6280932"/>
            <a:ext cx="2562506" cy="369332"/>
          </a:xfrm>
          <a:prstGeom prst="rect">
            <a:avLst/>
          </a:prstGeom>
          <a:noFill/>
        </p:spPr>
        <p:txBody>
          <a:bodyPr wrap="square" rtlCol="0">
            <a:spAutoFit/>
          </a:bodyPr>
          <a:lstStyle/>
          <a:p>
            <a:r>
              <a:rPr lang="en-US" dirty="0">
                <a:hlinkClick r:id="rId4" action="ppaction://hlinksldjump"/>
              </a:rPr>
              <a:t>Value Function Iteration</a:t>
            </a:r>
            <a:endParaRPr lang="en-US" dirty="0"/>
          </a:p>
        </p:txBody>
      </p:sp>
      <p:sp>
        <p:nvSpPr>
          <p:cNvPr id="7" name="TextBox 6">
            <a:extLst>
              <a:ext uri="{FF2B5EF4-FFF2-40B4-BE49-F238E27FC236}">
                <a16:creationId xmlns:a16="http://schemas.microsoft.com/office/drawing/2014/main" id="{74BE050C-1F70-64C8-236C-8BC5FDDE6FC1}"/>
              </a:ext>
            </a:extLst>
          </p:cNvPr>
          <p:cNvSpPr txBox="1"/>
          <p:nvPr/>
        </p:nvSpPr>
        <p:spPr>
          <a:xfrm>
            <a:off x="7295739" y="6280932"/>
            <a:ext cx="1978090" cy="369332"/>
          </a:xfrm>
          <a:prstGeom prst="rect">
            <a:avLst/>
          </a:prstGeom>
          <a:noFill/>
        </p:spPr>
        <p:txBody>
          <a:bodyPr wrap="square" rtlCol="0">
            <a:spAutoFit/>
          </a:bodyPr>
          <a:lstStyle/>
          <a:p>
            <a:r>
              <a:rPr lang="en-US" dirty="0">
                <a:hlinkClick r:id="rId5" action="ppaction://hlinksldjump"/>
              </a:rPr>
              <a:t>HANK Reiter</a:t>
            </a:r>
            <a:endParaRPr lang="en-US" dirty="0"/>
          </a:p>
        </p:txBody>
      </p:sp>
      <p:sp>
        <p:nvSpPr>
          <p:cNvPr id="8" name="TextBox 7">
            <a:extLst>
              <a:ext uri="{FF2B5EF4-FFF2-40B4-BE49-F238E27FC236}">
                <a16:creationId xmlns:a16="http://schemas.microsoft.com/office/drawing/2014/main" id="{96EBCF35-B3D4-562B-196F-6F67A99FD831}"/>
              </a:ext>
            </a:extLst>
          </p:cNvPr>
          <p:cNvSpPr txBox="1"/>
          <p:nvPr/>
        </p:nvSpPr>
        <p:spPr>
          <a:xfrm>
            <a:off x="9099657" y="6280932"/>
            <a:ext cx="1978090" cy="369332"/>
          </a:xfrm>
          <a:prstGeom prst="rect">
            <a:avLst/>
          </a:prstGeom>
          <a:noFill/>
        </p:spPr>
        <p:txBody>
          <a:bodyPr wrap="square" rtlCol="0">
            <a:spAutoFit/>
          </a:bodyPr>
          <a:lstStyle/>
          <a:p>
            <a:r>
              <a:rPr lang="en-US" dirty="0">
                <a:hlinkClick r:id="rId6" action="ppaction://hlinksldjump"/>
              </a:rPr>
              <a:t>HANK </a:t>
            </a:r>
            <a:r>
              <a:rPr lang="en-US" dirty="0" err="1">
                <a:hlinkClick r:id="rId6" action="ppaction://hlinksldjump"/>
              </a:rPr>
              <a:t>Winberry</a:t>
            </a:r>
            <a:endParaRPr lang="en-US" dirty="0"/>
          </a:p>
        </p:txBody>
      </p:sp>
      <p:pic>
        <p:nvPicPr>
          <p:cNvPr id="28" name="Picture 27">
            <a:extLst>
              <a:ext uri="{FF2B5EF4-FFF2-40B4-BE49-F238E27FC236}">
                <a16:creationId xmlns:a16="http://schemas.microsoft.com/office/drawing/2014/main" id="{565BFD20-8183-16EF-CFCB-BA1E16F614A4}"/>
              </a:ext>
            </a:extLst>
          </p:cNvPr>
          <p:cNvPicPr>
            <a:picLocks noChangeAspect="1"/>
          </p:cNvPicPr>
          <p:nvPr/>
        </p:nvPicPr>
        <p:blipFill>
          <a:blip r:embed="rId7"/>
          <a:stretch>
            <a:fillRect/>
          </a:stretch>
        </p:blipFill>
        <p:spPr>
          <a:xfrm>
            <a:off x="838199" y="2993820"/>
            <a:ext cx="10515599" cy="3284251"/>
          </a:xfrm>
          <a:prstGeom prst="rect">
            <a:avLst/>
          </a:prstGeom>
        </p:spPr>
      </p:pic>
      <p:pic>
        <p:nvPicPr>
          <p:cNvPr id="30" name="Picture 29">
            <a:extLst>
              <a:ext uri="{FF2B5EF4-FFF2-40B4-BE49-F238E27FC236}">
                <a16:creationId xmlns:a16="http://schemas.microsoft.com/office/drawing/2014/main" id="{26F8EEBD-FA2E-ABE9-8296-45A848AFE766}"/>
              </a:ext>
            </a:extLst>
          </p:cNvPr>
          <p:cNvPicPr>
            <a:picLocks noChangeAspect="1"/>
          </p:cNvPicPr>
          <p:nvPr/>
        </p:nvPicPr>
        <p:blipFill>
          <a:blip r:embed="rId8"/>
          <a:stretch>
            <a:fillRect/>
          </a:stretch>
        </p:blipFill>
        <p:spPr>
          <a:xfrm>
            <a:off x="3464317" y="1690688"/>
            <a:ext cx="4915326" cy="1158340"/>
          </a:xfrm>
          <a:prstGeom prst="rect">
            <a:avLst/>
          </a:prstGeom>
        </p:spPr>
      </p:pic>
    </p:spTree>
    <p:extLst>
      <p:ext uri="{BB962C8B-B14F-4D97-AF65-F5344CB8AC3E}">
        <p14:creationId xmlns:p14="http://schemas.microsoft.com/office/powerpoint/2010/main" val="15635057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51F3E4-49DD-2EC8-F135-0DD6A5BFAC47}"/>
              </a:ext>
            </a:extLst>
          </p:cNvPr>
          <p:cNvSpPr>
            <a:spLocks noGrp="1"/>
          </p:cNvSpPr>
          <p:nvPr>
            <p:ph type="ctrTitle"/>
          </p:nvPr>
        </p:nvSpPr>
        <p:spPr/>
        <p:txBody>
          <a:bodyPr/>
          <a:lstStyle/>
          <a:p>
            <a:r>
              <a:rPr lang="en-US" dirty="0"/>
              <a:t>SNPE/MCMC Performance on Smets-</a:t>
            </a:r>
            <a:r>
              <a:rPr lang="en-US" dirty="0" err="1"/>
              <a:t>Wouters</a:t>
            </a:r>
            <a:endParaRPr lang="en-US" dirty="0"/>
          </a:p>
        </p:txBody>
      </p:sp>
      <p:sp>
        <p:nvSpPr>
          <p:cNvPr id="5" name="Subtitle 4">
            <a:extLst>
              <a:ext uri="{FF2B5EF4-FFF2-40B4-BE49-F238E27FC236}">
                <a16:creationId xmlns:a16="http://schemas.microsoft.com/office/drawing/2014/main" id="{312787A0-A575-B712-F9F7-D454570A3A9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703244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45464-6028-3B14-7E64-1D54A7EBB618}"/>
              </a:ext>
            </a:extLst>
          </p:cNvPr>
          <p:cNvSpPr>
            <a:spLocks noGrp="1"/>
          </p:cNvSpPr>
          <p:nvPr>
            <p:ph type="title"/>
          </p:nvPr>
        </p:nvSpPr>
        <p:spPr/>
        <p:txBody>
          <a:bodyPr/>
          <a:lstStyle/>
          <a:p>
            <a:r>
              <a:rPr lang="en-US" dirty="0"/>
              <a:t>SNPE after Five Hundred Thousand Iterations</a:t>
            </a:r>
          </a:p>
        </p:txBody>
      </p:sp>
      <p:sp>
        <p:nvSpPr>
          <p:cNvPr id="3" name="TextBox 2">
            <a:extLst>
              <a:ext uri="{FF2B5EF4-FFF2-40B4-BE49-F238E27FC236}">
                <a16:creationId xmlns:a16="http://schemas.microsoft.com/office/drawing/2014/main" id="{EFF033B2-EC3C-0A12-9B5B-CAF690B9D40C}"/>
              </a:ext>
            </a:extLst>
          </p:cNvPr>
          <p:cNvSpPr txBox="1"/>
          <p:nvPr/>
        </p:nvSpPr>
        <p:spPr>
          <a:xfrm>
            <a:off x="838200" y="6381750"/>
            <a:ext cx="1085850" cy="369332"/>
          </a:xfrm>
          <a:prstGeom prst="rect">
            <a:avLst/>
          </a:prstGeom>
          <a:noFill/>
        </p:spPr>
        <p:txBody>
          <a:bodyPr wrap="square" rtlCol="0">
            <a:spAutoFit/>
          </a:bodyPr>
          <a:lstStyle/>
          <a:p>
            <a:r>
              <a:rPr lang="en-US" dirty="0">
                <a:hlinkClick r:id="rId2" action="ppaction://hlinksldjump"/>
              </a:rPr>
              <a:t>Back</a:t>
            </a:r>
            <a:endParaRPr lang="en-US" dirty="0"/>
          </a:p>
        </p:txBody>
      </p:sp>
      <p:pic>
        <p:nvPicPr>
          <p:cNvPr id="8" name="Content Placeholder 7" descr="A group of graphs showing different types of data">
            <a:extLst>
              <a:ext uri="{FF2B5EF4-FFF2-40B4-BE49-F238E27FC236}">
                <a16:creationId xmlns:a16="http://schemas.microsoft.com/office/drawing/2014/main" id="{8F971DF9-019E-71A4-CCA4-2A66E3323AE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825625"/>
            <a:ext cx="10515600" cy="4351338"/>
          </a:xfrm>
        </p:spPr>
      </p:pic>
    </p:spTree>
    <p:extLst>
      <p:ext uri="{BB962C8B-B14F-4D97-AF65-F5344CB8AC3E}">
        <p14:creationId xmlns:p14="http://schemas.microsoft.com/office/powerpoint/2010/main" val="3756885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45464-6028-3B14-7E64-1D54A7EBB618}"/>
              </a:ext>
            </a:extLst>
          </p:cNvPr>
          <p:cNvSpPr>
            <a:spLocks noGrp="1"/>
          </p:cNvSpPr>
          <p:nvPr>
            <p:ph type="title"/>
          </p:nvPr>
        </p:nvSpPr>
        <p:spPr/>
        <p:txBody>
          <a:bodyPr/>
          <a:lstStyle/>
          <a:p>
            <a:r>
              <a:rPr lang="en-US" dirty="0"/>
              <a:t>Metropolis-Hastings MCMC after Ten Million Iterations</a:t>
            </a:r>
          </a:p>
        </p:txBody>
      </p:sp>
      <p:sp>
        <p:nvSpPr>
          <p:cNvPr id="4" name="TextBox 3">
            <a:extLst>
              <a:ext uri="{FF2B5EF4-FFF2-40B4-BE49-F238E27FC236}">
                <a16:creationId xmlns:a16="http://schemas.microsoft.com/office/drawing/2014/main" id="{9D5586E9-0581-E0E9-40DA-67F0C5454C7B}"/>
              </a:ext>
            </a:extLst>
          </p:cNvPr>
          <p:cNvSpPr txBox="1"/>
          <p:nvPr/>
        </p:nvSpPr>
        <p:spPr>
          <a:xfrm>
            <a:off x="1038225" y="6216650"/>
            <a:ext cx="6096000" cy="369332"/>
          </a:xfrm>
          <a:prstGeom prst="rect">
            <a:avLst/>
          </a:prstGeom>
          <a:noFill/>
        </p:spPr>
        <p:txBody>
          <a:bodyPr wrap="square">
            <a:spAutoFit/>
          </a:bodyPr>
          <a:lstStyle/>
          <a:p>
            <a:r>
              <a:rPr lang="en-US" dirty="0">
                <a:hlinkClick r:id="rId2" action="ppaction://hlinksldjump"/>
              </a:rPr>
              <a:t>Back</a:t>
            </a:r>
            <a:endParaRPr lang="en-US" dirty="0"/>
          </a:p>
        </p:txBody>
      </p:sp>
      <p:pic>
        <p:nvPicPr>
          <p:cNvPr id="8" name="Content Placeholder 7" descr="A group of graphs showing different sizes and colors&#10;&#10;Description automatically generated">
            <a:extLst>
              <a:ext uri="{FF2B5EF4-FFF2-40B4-BE49-F238E27FC236}">
                <a16:creationId xmlns:a16="http://schemas.microsoft.com/office/drawing/2014/main" id="{353C38B3-087D-36A5-7A33-602A6AFF6C5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825625"/>
            <a:ext cx="10515600" cy="4351338"/>
          </a:xfrm>
        </p:spPr>
      </p:pic>
    </p:spTree>
    <p:extLst>
      <p:ext uri="{BB962C8B-B14F-4D97-AF65-F5344CB8AC3E}">
        <p14:creationId xmlns:p14="http://schemas.microsoft.com/office/powerpoint/2010/main" val="38920458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4420DC-B66F-8851-F9C6-C18A6911101C}"/>
              </a:ext>
            </a:extLst>
          </p:cNvPr>
          <p:cNvSpPr>
            <a:spLocks noGrp="1"/>
          </p:cNvSpPr>
          <p:nvPr>
            <p:ph type="ctrTitle"/>
          </p:nvPr>
        </p:nvSpPr>
        <p:spPr/>
        <p:txBody>
          <a:bodyPr/>
          <a:lstStyle/>
          <a:p>
            <a:r>
              <a:rPr lang="en-US" dirty="0"/>
              <a:t>Discussion on Multimodality</a:t>
            </a:r>
          </a:p>
        </p:txBody>
      </p:sp>
      <p:sp>
        <p:nvSpPr>
          <p:cNvPr id="5" name="Subtitle 4">
            <a:extLst>
              <a:ext uri="{FF2B5EF4-FFF2-40B4-BE49-F238E27FC236}">
                <a16:creationId xmlns:a16="http://schemas.microsoft.com/office/drawing/2014/main" id="{3A660759-A7EF-2CE5-DE39-EE97A2DCF514}"/>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902088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55114-0EE1-43F2-DC80-36D297F85977}"/>
              </a:ext>
            </a:extLst>
          </p:cNvPr>
          <p:cNvSpPr>
            <a:spLocks noGrp="1"/>
          </p:cNvSpPr>
          <p:nvPr>
            <p:ph type="title"/>
          </p:nvPr>
        </p:nvSpPr>
        <p:spPr/>
        <p:txBody>
          <a:bodyPr/>
          <a:lstStyle/>
          <a:p>
            <a:r>
              <a:rPr lang="en-US" dirty="0"/>
              <a:t>Multimodality and Frequentism</a:t>
            </a:r>
          </a:p>
        </p:txBody>
      </p:sp>
      <p:sp>
        <p:nvSpPr>
          <p:cNvPr id="3" name="Content Placeholder 2">
            <a:extLst>
              <a:ext uri="{FF2B5EF4-FFF2-40B4-BE49-F238E27FC236}">
                <a16:creationId xmlns:a16="http://schemas.microsoft.com/office/drawing/2014/main" id="{B765D512-E23F-F57D-0548-33D3472C7679}"/>
              </a:ext>
            </a:extLst>
          </p:cNvPr>
          <p:cNvSpPr>
            <a:spLocks noGrp="1"/>
          </p:cNvSpPr>
          <p:nvPr>
            <p:ph idx="1"/>
          </p:nvPr>
        </p:nvSpPr>
        <p:spPr/>
        <p:txBody>
          <a:bodyPr>
            <a:normAutofit/>
          </a:bodyPr>
          <a:lstStyle/>
          <a:p>
            <a:r>
              <a:rPr lang="en-US" dirty="0"/>
              <a:t>Weak identification and multimodality is a problem for frequentist statistics </a:t>
            </a:r>
            <a:r>
              <a:rPr lang="en-US" dirty="0">
                <a:sym typeface="Wingdings" panose="05000000000000000000" pitchFamily="2" charset="2"/>
              </a:rPr>
              <a:t> what is the right parameter value…</a:t>
            </a:r>
          </a:p>
          <a:p>
            <a:endParaRPr lang="en-US" dirty="0">
              <a:sym typeface="Wingdings" panose="05000000000000000000" pitchFamily="2" charset="2"/>
            </a:endParaRPr>
          </a:p>
          <a:p>
            <a:r>
              <a:rPr lang="en-US" dirty="0">
                <a:sym typeface="Wingdings" panose="05000000000000000000" pitchFamily="2" charset="2"/>
              </a:rPr>
              <a:t>…but is just another posterior in the Bayesian approach</a:t>
            </a:r>
          </a:p>
          <a:p>
            <a:endParaRPr lang="en-US" dirty="0">
              <a:sym typeface="Wingdings" panose="05000000000000000000" pitchFamily="2" charset="2"/>
            </a:endParaRPr>
          </a:p>
          <a:p>
            <a:r>
              <a:rPr lang="en-US" dirty="0">
                <a:sym typeface="Wingdings" panose="05000000000000000000" pitchFamily="2" charset="2"/>
              </a:rPr>
              <a:t>Furthermore, multimodality might provide important feedback to economic research</a:t>
            </a:r>
          </a:p>
          <a:p>
            <a:endParaRPr lang="en-US" dirty="0">
              <a:sym typeface="Wingdings" panose="05000000000000000000" pitchFamily="2" charset="2"/>
            </a:endParaRPr>
          </a:p>
        </p:txBody>
      </p:sp>
    </p:spTree>
    <p:extLst>
      <p:ext uri="{BB962C8B-B14F-4D97-AF65-F5344CB8AC3E}">
        <p14:creationId xmlns:p14="http://schemas.microsoft.com/office/powerpoint/2010/main" val="23948146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F16156-8999-CAB1-3E06-83A1DF003AE5}"/>
              </a:ext>
            </a:extLst>
          </p:cNvPr>
          <p:cNvSpPr>
            <a:spLocks noGrp="1"/>
          </p:cNvSpPr>
          <p:nvPr>
            <p:ph type="title"/>
          </p:nvPr>
        </p:nvSpPr>
        <p:spPr/>
        <p:txBody>
          <a:bodyPr/>
          <a:lstStyle/>
          <a:p>
            <a:r>
              <a:rPr lang="en-US" dirty="0"/>
              <a:t>Taylor Rule Parameter on Inflation</a:t>
            </a:r>
          </a:p>
        </p:txBody>
      </p:sp>
      <p:pic>
        <p:nvPicPr>
          <p:cNvPr id="8" name="Content Placeholder 7">
            <a:extLst>
              <a:ext uri="{FF2B5EF4-FFF2-40B4-BE49-F238E27FC236}">
                <a16:creationId xmlns:a16="http://schemas.microsoft.com/office/drawing/2014/main" id="{C4D39596-6DB1-D899-B47C-3278F3504C5D}"/>
              </a:ext>
            </a:extLst>
          </p:cNvPr>
          <p:cNvPicPr>
            <a:picLocks noGrp="1" noChangeAspect="1"/>
          </p:cNvPicPr>
          <p:nvPr>
            <p:ph sz="half" idx="1"/>
          </p:nvPr>
        </p:nvPicPr>
        <p:blipFill>
          <a:blip r:embed="rId2"/>
          <a:stretch>
            <a:fillRect/>
          </a:stretch>
        </p:blipFill>
        <p:spPr>
          <a:xfrm>
            <a:off x="1129554" y="1918767"/>
            <a:ext cx="4924692" cy="4159303"/>
          </a:xfrm>
        </p:spPr>
      </p:pic>
      <p:sp>
        <p:nvSpPr>
          <p:cNvPr id="6" name="Content Placeholder 5">
            <a:extLst>
              <a:ext uri="{FF2B5EF4-FFF2-40B4-BE49-F238E27FC236}">
                <a16:creationId xmlns:a16="http://schemas.microsoft.com/office/drawing/2014/main" id="{26692769-EBE4-5033-13B5-A86718964051}"/>
              </a:ext>
            </a:extLst>
          </p:cNvPr>
          <p:cNvSpPr>
            <a:spLocks noGrp="1"/>
          </p:cNvSpPr>
          <p:nvPr>
            <p:ph sz="half" idx="2"/>
          </p:nvPr>
        </p:nvSpPr>
        <p:spPr/>
        <p:txBody>
          <a:bodyPr/>
          <a:lstStyle/>
          <a:p>
            <a:r>
              <a:rPr lang="en-US" dirty="0" err="1"/>
              <a:t>Crpi</a:t>
            </a:r>
            <a:r>
              <a:rPr lang="en-US" dirty="0"/>
              <a:t>, the Taylor rule parameter on inflation is unidentified</a:t>
            </a:r>
          </a:p>
          <a:p>
            <a:endParaRPr lang="en-US" dirty="0"/>
          </a:p>
          <a:p>
            <a:r>
              <a:rPr lang="en-US" dirty="0"/>
              <a:t>SW and current data cannot distinguish between the two stories of central bank inflation fighting ability</a:t>
            </a:r>
          </a:p>
        </p:txBody>
      </p:sp>
    </p:spTree>
    <p:extLst>
      <p:ext uri="{BB962C8B-B14F-4D97-AF65-F5344CB8AC3E}">
        <p14:creationId xmlns:p14="http://schemas.microsoft.com/office/powerpoint/2010/main" val="39738458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09B743D-FA85-B751-8D49-D7203513F757}"/>
              </a:ext>
            </a:extLst>
          </p:cNvPr>
          <p:cNvSpPr>
            <a:spLocks noGrp="1"/>
          </p:cNvSpPr>
          <p:nvPr>
            <p:ph type="title"/>
          </p:nvPr>
        </p:nvSpPr>
        <p:spPr/>
        <p:txBody>
          <a:bodyPr/>
          <a:lstStyle/>
          <a:p>
            <a:r>
              <a:rPr lang="en-US" dirty="0"/>
              <a:t>Multimodality and economic cycles</a:t>
            </a:r>
          </a:p>
        </p:txBody>
      </p:sp>
      <p:sp>
        <p:nvSpPr>
          <p:cNvPr id="6" name="Content Placeholder 5">
            <a:extLst>
              <a:ext uri="{FF2B5EF4-FFF2-40B4-BE49-F238E27FC236}">
                <a16:creationId xmlns:a16="http://schemas.microsoft.com/office/drawing/2014/main" id="{6DF83387-327B-4D75-10DA-695D5081C406}"/>
              </a:ext>
            </a:extLst>
          </p:cNvPr>
          <p:cNvSpPr>
            <a:spLocks noGrp="1"/>
          </p:cNvSpPr>
          <p:nvPr>
            <p:ph idx="1"/>
          </p:nvPr>
        </p:nvSpPr>
        <p:spPr/>
        <p:txBody>
          <a:bodyPr>
            <a:normAutofit fontScale="92500"/>
          </a:bodyPr>
          <a:lstStyle/>
          <a:p>
            <a:r>
              <a:rPr lang="en-US" dirty="0"/>
              <a:t>Like the Diamond </a:t>
            </a:r>
            <a:r>
              <a:rPr lang="en-US" dirty="0" err="1"/>
              <a:t>Diybvig</a:t>
            </a:r>
            <a:r>
              <a:rPr lang="en-US" dirty="0"/>
              <a:t> (1983) model of bank runs, it doesn’t require much imagination to think we coordinate on multiple equilibria</a:t>
            </a:r>
          </a:p>
          <a:p>
            <a:endParaRPr lang="en-US" dirty="0"/>
          </a:p>
          <a:p>
            <a:r>
              <a:rPr lang="en-US" dirty="0"/>
              <a:t>In good times we coordinate on parameter values that lead to high output, but perhaps there is a low consumption, low production equilibrium that we could coordinate on if we get knocked out of the good equilibrium</a:t>
            </a:r>
          </a:p>
          <a:p>
            <a:endParaRPr lang="en-US" dirty="0"/>
          </a:p>
          <a:p>
            <a:r>
              <a:rPr lang="en-US" dirty="0"/>
              <a:t>A deeper understanding of equilibrium coordination, by its nature involves deeper understanding of the multiple modes of parameter posteriors</a:t>
            </a:r>
          </a:p>
        </p:txBody>
      </p:sp>
    </p:spTree>
    <p:extLst>
      <p:ext uri="{BB962C8B-B14F-4D97-AF65-F5344CB8AC3E}">
        <p14:creationId xmlns:p14="http://schemas.microsoft.com/office/powerpoint/2010/main" val="28744143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F02676-E0F6-D386-2E9A-F85843781C9C}"/>
              </a:ext>
            </a:extLst>
          </p:cNvPr>
          <p:cNvSpPr>
            <a:spLocks noGrp="1"/>
          </p:cNvSpPr>
          <p:nvPr>
            <p:ph type="ctrTitle"/>
          </p:nvPr>
        </p:nvSpPr>
        <p:spPr/>
        <p:txBody>
          <a:bodyPr/>
          <a:lstStyle/>
          <a:p>
            <a:r>
              <a:rPr lang="en-US" dirty="0"/>
              <a:t>SNPE Performance on Heterogenous Agent Models</a:t>
            </a:r>
          </a:p>
        </p:txBody>
      </p:sp>
      <p:sp>
        <p:nvSpPr>
          <p:cNvPr id="6" name="Subtitle 5">
            <a:extLst>
              <a:ext uri="{FF2B5EF4-FFF2-40B4-BE49-F238E27FC236}">
                <a16:creationId xmlns:a16="http://schemas.microsoft.com/office/drawing/2014/main" id="{964D5D62-8BF2-38CB-EDE3-52E3C60A594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580606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887DA-3617-F070-44EC-E4F10F4CEEB6}"/>
              </a:ext>
            </a:extLst>
          </p:cNvPr>
          <p:cNvSpPr>
            <a:spLocks noGrp="1"/>
          </p:cNvSpPr>
          <p:nvPr>
            <p:ph type="title"/>
          </p:nvPr>
        </p:nvSpPr>
        <p:spPr/>
        <p:txBody>
          <a:bodyPr/>
          <a:lstStyle/>
          <a:p>
            <a:r>
              <a:rPr lang="en-US" dirty="0"/>
              <a:t>SNPE and MCMC Performance on </a:t>
            </a:r>
            <a:r>
              <a:rPr lang="en-US" dirty="0" err="1"/>
              <a:t>Krussell</a:t>
            </a:r>
            <a:r>
              <a:rPr lang="en-US" dirty="0"/>
              <a:t> Smith with </a:t>
            </a:r>
            <a:r>
              <a:rPr lang="en-US" dirty="0" err="1"/>
              <a:t>Winberry</a:t>
            </a:r>
            <a:r>
              <a:rPr lang="en-US" dirty="0"/>
              <a:t> Solution Method</a:t>
            </a:r>
          </a:p>
        </p:txBody>
      </p:sp>
      <p:sp>
        <p:nvSpPr>
          <p:cNvPr id="4" name="Content Placeholder 3">
            <a:extLst>
              <a:ext uri="{FF2B5EF4-FFF2-40B4-BE49-F238E27FC236}">
                <a16:creationId xmlns:a16="http://schemas.microsoft.com/office/drawing/2014/main" id="{DC0BF29E-73F0-1B7E-66DD-DEDE628300C9}"/>
              </a:ext>
            </a:extLst>
          </p:cNvPr>
          <p:cNvSpPr>
            <a:spLocks noGrp="1"/>
          </p:cNvSpPr>
          <p:nvPr>
            <p:ph sz="half" idx="1"/>
          </p:nvPr>
        </p:nvSpPr>
        <p:spPr/>
        <p:txBody>
          <a:bodyPr>
            <a:normAutofit lnSpcReduction="10000"/>
          </a:bodyPr>
          <a:lstStyle/>
          <a:p>
            <a:r>
              <a:rPr lang="en-US" dirty="0"/>
              <a:t>Following Liu and </a:t>
            </a:r>
            <a:r>
              <a:rPr lang="en-US" dirty="0" err="1"/>
              <a:t>Plagborg</a:t>
            </a:r>
            <a:r>
              <a:rPr lang="en-US" dirty="0"/>
              <a:t>-Moller (2021), likelihood estimate KS with all </a:t>
            </a:r>
            <a:r>
              <a:rPr lang="en-US" dirty="0" err="1"/>
              <a:t>micromoments</a:t>
            </a:r>
            <a:endParaRPr lang="en-US" dirty="0"/>
          </a:p>
          <a:p>
            <a:r>
              <a:rPr lang="en-US" dirty="0"/>
              <a:t>Liu and </a:t>
            </a:r>
            <a:r>
              <a:rPr lang="en-US" dirty="0" err="1"/>
              <a:t>Plagborg</a:t>
            </a:r>
            <a:r>
              <a:rPr lang="en-US" dirty="0"/>
              <a:t>-Moller (2021) is state of the art, taking 6.5 min. per CPU iteration</a:t>
            </a:r>
          </a:p>
          <a:p>
            <a:r>
              <a:rPr lang="en-US" dirty="0"/>
              <a:t>My approach that doesn’t have to solve for a likelihood function takes 30 seconds per CPU iteration</a:t>
            </a:r>
          </a:p>
        </p:txBody>
      </p:sp>
      <p:pic>
        <p:nvPicPr>
          <p:cNvPr id="9" name="Content Placeholder 8">
            <a:extLst>
              <a:ext uri="{FF2B5EF4-FFF2-40B4-BE49-F238E27FC236}">
                <a16:creationId xmlns:a16="http://schemas.microsoft.com/office/drawing/2014/main" id="{B8DDFC45-93D6-0F03-3DE0-3183CAA53BED}"/>
              </a:ext>
            </a:extLst>
          </p:cNvPr>
          <p:cNvPicPr>
            <a:picLocks noGrp="1" noChangeAspect="1"/>
          </p:cNvPicPr>
          <p:nvPr>
            <p:ph sz="half" idx="2"/>
          </p:nvPr>
        </p:nvPicPr>
        <p:blipFill>
          <a:blip r:embed="rId2"/>
          <a:stretch>
            <a:fillRect/>
          </a:stretch>
        </p:blipFill>
        <p:spPr>
          <a:xfrm>
            <a:off x="6651033" y="1825625"/>
            <a:ext cx="4223933" cy="4351338"/>
          </a:xfrm>
        </p:spPr>
      </p:pic>
      <p:sp>
        <p:nvSpPr>
          <p:cNvPr id="3" name="TextBox 2">
            <a:extLst>
              <a:ext uri="{FF2B5EF4-FFF2-40B4-BE49-F238E27FC236}">
                <a16:creationId xmlns:a16="http://schemas.microsoft.com/office/drawing/2014/main" id="{AEA443E2-F3FB-996A-049D-439F34819177}"/>
              </a:ext>
            </a:extLst>
          </p:cNvPr>
          <p:cNvSpPr txBox="1"/>
          <p:nvPr/>
        </p:nvSpPr>
        <p:spPr>
          <a:xfrm>
            <a:off x="1026367" y="6176963"/>
            <a:ext cx="1548882" cy="369332"/>
          </a:xfrm>
          <a:prstGeom prst="rect">
            <a:avLst/>
          </a:prstGeom>
          <a:noFill/>
        </p:spPr>
        <p:txBody>
          <a:bodyPr wrap="square" rtlCol="0">
            <a:spAutoFit/>
          </a:bodyPr>
          <a:lstStyle/>
          <a:p>
            <a:r>
              <a:rPr lang="en-US" dirty="0">
                <a:hlinkClick r:id="rId3" action="ppaction://hlinksldjump"/>
              </a:rPr>
              <a:t>Back</a:t>
            </a:r>
            <a:endParaRPr lang="en-US" dirty="0"/>
          </a:p>
        </p:txBody>
      </p:sp>
    </p:spTree>
    <p:extLst>
      <p:ext uri="{BB962C8B-B14F-4D97-AF65-F5344CB8AC3E}">
        <p14:creationId xmlns:p14="http://schemas.microsoft.com/office/powerpoint/2010/main" val="15597957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ED287-1390-ACD9-6396-E80C22554932}"/>
              </a:ext>
            </a:extLst>
          </p:cNvPr>
          <p:cNvSpPr>
            <a:spLocks noGrp="1"/>
          </p:cNvSpPr>
          <p:nvPr>
            <p:ph type="title"/>
          </p:nvPr>
        </p:nvSpPr>
        <p:spPr/>
        <p:txBody>
          <a:bodyPr/>
          <a:lstStyle/>
          <a:p>
            <a:r>
              <a:rPr lang="en-US" dirty="0"/>
              <a:t>HANK Model Solved via Reiter</a:t>
            </a:r>
          </a:p>
        </p:txBody>
      </p:sp>
      <p:pic>
        <p:nvPicPr>
          <p:cNvPr id="5" name="Content Placeholder 4">
            <a:extLst>
              <a:ext uri="{FF2B5EF4-FFF2-40B4-BE49-F238E27FC236}">
                <a16:creationId xmlns:a16="http://schemas.microsoft.com/office/drawing/2014/main" id="{CD1E9A07-798E-60FF-33B4-49E3019FCD54}"/>
              </a:ext>
            </a:extLst>
          </p:cNvPr>
          <p:cNvPicPr>
            <a:picLocks noGrp="1" noChangeAspect="1"/>
          </p:cNvPicPr>
          <p:nvPr>
            <p:ph sz="half" idx="1"/>
          </p:nvPr>
        </p:nvPicPr>
        <p:blipFill>
          <a:blip r:embed="rId2"/>
          <a:stretch>
            <a:fillRect/>
          </a:stretch>
        </p:blipFill>
        <p:spPr>
          <a:xfrm>
            <a:off x="1360683" y="1825625"/>
            <a:ext cx="4136633" cy="4351338"/>
          </a:xfrm>
          <a:prstGeom prst="rect">
            <a:avLst/>
          </a:prstGeom>
        </p:spPr>
      </p:pic>
      <p:sp>
        <p:nvSpPr>
          <p:cNvPr id="4" name="Content Placeholder 3">
            <a:extLst>
              <a:ext uri="{FF2B5EF4-FFF2-40B4-BE49-F238E27FC236}">
                <a16:creationId xmlns:a16="http://schemas.microsoft.com/office/drawing/2014/main" id="{F1D604F5-735A-67B6-063F-12871B0D8CE4}"/>
              </a:ext>
            </a:extLst>
          </p:cNvPr>
          <p:cNvSpPr>
            <a:spLocks noGrp="1"/>
          </p:cNvSpPr>
          <p:nvPr>
            <p:ph sz="half" idx="2"/>
          </p:nvPr>
        </p:nvSpPr>
        <p:spPr/>
        <p:txBody>
          <a:bodyPr/>
          <a:lstStyle/>
          <a:p>
            <a:r>
              <a:rPr lang="en-US" dirty="0"/>
              <a:t>Using Reiter’s method, this HANK model has 1000+ states</a:t>
            </a:r>
          </a:p>
          <a:p>
            <a:r>
              <a:rPr lang="en-US" dirty="0"/>
              <a:t>Easy to simulate from, but takes 20-30 mins to use the Kalman filter for a single likelihood evaluation, which is intractable</a:t>
            </a:r>
          </a:p>
          <a:p>
            <a:r>
              <a:rPr lang="en-US" dirty="0"/>
              <a:t>Only other option is to use dimensionality reductions which loses information (Ahn et. al. 2018)</a:t>
            </a:r>
          </a:p>
        </p:txBody>
      </p:sp>
      <p:sp>
        <p:nvSpPr>
          <p:cNvPr id="3" name="TextBox 2">
            <a:extLst>
              <a:ext uri="{FF2B5EF4-FFF2-40B4-BE49-F238E27FC236}">
                <a16:creationId xmlns:a16="http://schemas.microsoft.com/office/drawing/2014/main" id="{C8510477-59E8-BEBA-5C71-861FF58FA56D}"/>
              </a:ext>
            </a:extLst>
          </p:cNvPr>
          <p:cNvSpPr txBox="1"/>
          <p:nvPr/>
        </p:nvSpPr>
        <p:spPr>
          <a:xfrm>
            <a:off x="1026367" y="6176963"/>
            <a:ext cx="1548882" cy="369332"/>
          </a:xfrm>
          <a:prstGeom prst="rect">
            <a:avLst/>
          </a:prstGeom>
          <a:noFill/>
        </p:spPr>
        <p:txBody>
          <a:bodyPr wrap="square" rtlCol="0">
            <a:spAutoFit/>
          </a:bodyPr>
          <a:lstStyle/>
          <a:p>
            <a:r>
              <a:rPr lang="en-US" dirty="0">
                <a:hlinkClick r:id="rId3" action="ppaction://hlinksldjump"/>
              </a:rPr>
              <a:t>Back</a:t>
            </a:r>
            <a:endParaRPr lang="en-US" dirty="0"/>
          </a:p>
        </p:txBody>
      </p:sp>
    </p:spTree>
    <p:extLst>
      <p:ext uri="{BB962C8B-B14F-4D97-AF65-F5344CB8AC3E}">
        <p14:creationId xmlns:p14="http://schemas.microsoft.com/office/powerpoint/2010/main" val="41679677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C00BEB-DAED-3146-8766-8589B64D26AD}"/>
              </a:ext>
            </a:extLst>
          </p:cNvPr>
          <p:cNvSpPr>
            <a:spLocks noGrp="1"/>
          </p:cNvSpPr>
          <p:nvPr>
            <p:ph type="ctrTitle"/>
          </p:nvPr>
        </p:nvSpPr>
        <p:spPr/>
        <p:txBody>
          <a:bodyPr/>
          <a:lstStyle/>
          <a:p>
            <a:r>
              <a:rPr lang="en-US" dirty="0"/>
              <a:t>Appendix</a:t>
            </a:r>
          </a:p>
        </p:txBody>
      </p:sp>
      <p:sp>
        <p:nvSpPr>
          <p:cNvPr id="6" name="Subtitle 5">
            <a:extLst>
              <a:ext uri="{FF2B5EF4-FFF2-40B4-BE49-F238E27FC236}">
                <a16:creationId xmlns:a16="http://schemas.microsoft.com/office/drawing/2014/main" id="{4B3712A0-23F8-E622-81B5-2E6B5CD087B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634717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12885-905F-D5DD-C726-2002BA754079}"/>
              </a:ext>
            </a:extLst>
          </p:cNvPr>
          <p:cNvSpPr>
            <a:spLocks noGrp="1"/>
          </p:cNvSpPr>
          <p:nvPr>
            <p:ph type="title"/>
          </p:nvPr>
        </p:nvSpPr>
        <p:spPr/>
        <p:txBody>
          <a:bodyPr/>
          <a:lstStyle/>
          <a:p>
            <a:r>
              <a:rPr lang="en-US" dirty="0"/>
              <a:t>Literature</a:t>
            </a:r>
          </a:p>
        </p:txBody>
      </p:sp>
      <p:sp>
        <p:nvSpPr>
          <p:cNvPr id="3" name="Content Placeholder 2">
            <a:extLst>
              <a:ext uri="{FF2B5EF4-FFF2-40B4-BE49-F238E27FC236}">
                <a16:creationId xmlns:a16="http://schemas.microsoft.com/office/drawing/2014/main" id="{96478765-216F-5677-5E37-D8ED73091075}"/>
              </a:ext>
            </a:extLst>
          </p:cNvPr>
          <p:cNvSpPr>
            <a:spLocks noGrp="1"/>
          </p:cNvSpPr>
          <p:nvPr>
            <p:ph idx="1"/>
          </p:nvPr>
        </p:nvSpPr>
        <p:spPr/>
        <p:txBody>
          <a:bodyPr>
            <a:normAutofit lnSpcReduction="10000"/>
          </a:bodyPr>
          <a:lstStyle/>
          <a:p>
            <a:r>
              <a:rPr lang="en-US" dirty="0"/>
              <a:t>Many models are non-</a:t>
            </a:r>
            <a:r>
              <a:rPr lang="en-US" dirty="0" err="1"/>
              <a:t>smooh</a:t>
            </a:r>
            <a:r>
              <a:rPr lang="en-US" dirty="0"/>
              <a:t> so one can’t use perturbation and thus can’t likelihood estimated without measurement error</a:t>
            </a:r>
          </a:p>
          <a:p>
            <a:pPr lvl="1"/>
            <a:r>
              <a:rPr lang="en-US" b="1" dirty="0"/>
              <a:t>s-S models: </a:t>
            </a:r>
            <a:r>
              <a:rPr lang="en-US" dirty="0"/>
              <a:t>Arrow et. al. 1951, Caplin and </a:t>
            </a:r>
            <a:r>
              <a:rPr lang="en-US" dirty="0" err="1"/>
              <a:t>Spulber</a:t>
            </a:r>
            <a:r>
              <a:rPr lang="en-US" dirty="0"/>
              <a:t> 1987, </a:t>
            </a:r>
            <a:r>
              <a:rPr lang="en-US" dirty="0" err="1"/>
              <a:t>Bertola</a:t>
            </a:r>
            <a:r>
              <a:rPr lang="en-US" dirty="0"/>
              <a:t> and Caballero 1990, House and Leahy 2004, Caplin and Leahy 2006, Kahn and Thomas 2008, Caplin et. al. 2020, </a:t>
            </a:r>
            <a:r>
              <a:rPr lang="en-US" dirty="0" err="1"/>
              <a:t>Badoczy</a:t>
            </a:r>
            <a:r>
              <a:rPr lang="en-US" dirty="0"/>
              <a:t> 2022, etc.</a:t>
            </a:r>
          </a:p>
          <a:p>
            <a:pPr lvl="1"/>
            <a:r>
              <a:rPr lang="en-US" b="1" dirty="0"/>
              <a:t>Structural Finance:</a:t>
            </a:r>
            <a:r>
              <a:rPr lang="en-US" dirty="0"/>
              <a:t> He, Whited, and Guo 2021, Terry, Whited, and </a:t>
            </a:r>
            <a:r>
              <a:rPr lang="en-US" dirty="0" err="1"/>
              <a:t>Zakolyukina</a:t>
            </a:r>
            <a:r>
              <a:rPr lang="en-US" dirty="0"/>
              <a:t> 2021, Taylor 2012, Whited and Guo 2006</a:t>
            </a:r>
          </a:p>
          <a:p>
            <a:r>
              <a:rPr lang="en-US" dirty="0"/>
              <a:t>With non-smooth models: One generally must resort to simulation-based estimation:</a:t>
            </a:r>
          </a:p>
          <a:p>
            <a:pPr lvl="1"/>
            <a:r>
              <a:rPr lang="en-US" b="1" dirty="0"/>
              <a:t>Method of Simulated Moments</a:t>
            </a:r>
            <a:r>
              <a:rPr lang="en-US" dirty="0"/>
              <a:t>: McFadden 1989, </a:t>
            </a:r>
            <a:r>
              <a:rPr lang="en-US" dirty="0" err="1"/>
              <a:t>Pakes</a:t>
            </a:r>
            <a:r>
              <a:rPr lang="en-US" dirty="0"/>
              <a:t> and Pollard 1989, </a:t>
            </a:r>
            <a:r>
              <a:rPr lang="en-US" dirty="0" err="1"/>
              <a:t>Duffie</a:t>
            </a:r>
            <a:r>
              <a:rPr lang="en-US" dirty="0"/>
              <a:t> and Singleton 1990, </a:t>
            </a:r>
            <a:r>
              <a:rPr lang="en-US" dirty="0" err="1"/>
              <a:t>etc</a:t>
            </a:r>
            <a:endParaRPr lang="en-US" dirty="0"/>
          </a:p>
          <a:p>
            <a:pPr lvl="1"/>
            <a:r>
              <a:rPr lang="en-US" b="1" dirty="0"/>
              <a:t>Machine Learning: </a:t>
            </a:r>
            <a:r>
              <a:rPr lang="en-US" dirty="0" err="1"/>
              <a:t>Kaji</a:t>
            </a:r>
            <a:r>
              <a:rPr lang="en-US" dirty="0"/>
              <a:t>, Manresa, and </a:t>
            </a:r>
            <a:r>
              <a:rPr lang="en-US" dirty="0" err="1"/>
              <a:t>Pouliot</a:t>
            </a:r>
            <a:r>
              <a:rPr lang="en-US" dirty="0"/>
              <a:t> 2020</a:t>
            </a:r>
            <a:endParaRPr lang="en-US" b="1" dirty="0"/>
          </a:p>
        </p:txBody>
      </p:sp>
      <p:sp>
        <p:nvSpPr>
          <p:cNvPr id="5" name="TextBox 4">
            <a:extLst>
              <a:ext uri="{FF2B5EF4-FFF2-40B4-BE49-F238E27FC236}">
                <a16:creationId xmlns:a16="http://schemas.microsoft.com/office/drawing/2014/main" id="{CAC0DD4F-8CD4-8C30-7E59-FE0030C72995}"/>
              </a:ext>
            </a:extLst>
          </p:cNvPr>
          <p:cNvSpPr txBox="1"/>
          <p:nvPr/>
        </p:nvSpPr>
        <p:spPr>
          <a:xfrm>
            <a:off x="1338383" y="6123543"/>
            <a:ext cx="1252417" cy="369332"/>
          </a:xfrm>
          <a:prstGeom prst="rect">
            <a:avLst/>
          </a:prstGeom>
          <a:noFill/>
        </p:spPr>
        <p:txBody>
          <a:bodyPr wrap="square">
            <a:spAutoFit/>
          </a:bodyPr>
          <a:lstStyle/>
          <a:p>
            <a:r>
              <a:rPr lang="en-US" dirty="0">
                <a:hlinkClick r:id="rId2" action="ppaction://hlinksldjump"/>
              </a:rPr>
              <a:t>Back</a:t>
            </a:r>
            <a:endParaRPr lang="en-US" dirty="0"/>
          </a:p>
        </p:txBody>
      </p:sp>
    </p:spTree>
    <p:extLst>
      <p:ext uri="{BB962C8B-B14F-4D97-AF65-F5344CB8AC3E}">
        <p14:creationId xmlns:p14="http://schemas.microsoft.com/office/powerpoint/2010/main" val="41272182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A60B5-E115-8D4C-1EC0-CA92749A8C8A}"/>
              </a:ext>
            </a:extLst>
          </p:cNvPr>
          <p:cNvSpPr>
            <a:spLocks noGrp="1"/>
          </p:cNvSpPr>
          <p:nvPr>
            <p:ph type="title"/>
          </p:nvPr>
        </p:nvSpPr>
        <p:spPr/>
        <p:txBody>
          <a:bodyPr/>
          <a:lstStyle/>
          <a:p>
            <a:r>
              <a:rPr lang="en-US" dirty="0"/>
              <a:t>Markov Assumption Versus State-Space Assumption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BA7CBC-63D3-6241-9DAC-F58F19390BDC}"/>
                  </a:ext>
                </a:extLst>
              </p:cNvPr>
              <p:cNvSpPr>
                <a:spLocks noGrp="1"/>
              </p:cNvSpPr>
              <p:nvPr>
                <p:ph idx="1"/>
              </p:nvPr>
            </p:nvSpPr>
            <p:spPr/>
            <p:txBody>
              <a:bodyPr/>
              <a:lstStyle/>
              <a:p>
                <a:r>
                  <a:rPr lang="en-US" dirty="0"/>
                  <a:t>With MSM, we impose the Markov Assumption on the data</a:t>
                </a:r>
              </a:p>
              <a:p>
                <a:pPr lvl="1"/>
                <a:r>
                  <a:rPr lang="en-US" dirty="0"/>
                  <a:t>A small number of lags captures all necessary historical information:</a:t>
                </a:r>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−20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−19</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oMath>
                  </m:oMathPara>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18BA7CBC-63D3-6241-9DAC-F58F19390BDC}"/>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5" name="Arrow: Curved Down 4">
            <a:extLst>
              <a:ext uri="{FF2B5EF4-FFF2-40B4-BE49-F238E27FC236}">
                <a16:creationId xmlns:a16="http://schemas.microsoft.com/office/drawing/2014/main" id="{F92C6D13-4B5F-2A49-22B1-38799DA849BF}"/>
              </a:ext>
            </a:extLst>
          </p:cNvPr>
          <p:cNvSpPr/>
          <p:nvPr/>
        </p:nvSpPr>
        <p:spPr>
          <a:xfrm>
            <a:off x="6559419" y="2771193"/>
            <a:ext cx="1352939" cy="41054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28" name="Picture 4" descr="Tick Mark Vector Art, Icons, and Graphics for Free Download">
            <a:extLst>
              <a:ext uri="{FF2B5EF4-FFF2-40B4-BE49-F238E27FC236}">
                <a16:creationId xmlns:a16="http://schemas.microsoft.com/office/drawing/2014/main" id="{892FDBE1-2BC5-87EE-50DC-F839AA727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4070" y="2630715"/>
            <a:ext cx="546100" cy="54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925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A60B5-E115-8D4C-1EC0-CA92749A8C8A}"/>
              </a:ext>
            </a:extLst>
          </p:cNvPr>
          <p:cNvSpPr>
            <a:spLocks noGrp="1"/>
          </p:cNvSpPr>
          <p:nvPr>
            <p:ph type="title"/>
          </p:nvPr>
        </p:nvSpPr>
        <p:spPr/>
        <p:txBody>
          <a:bodyPr/>
          <a:lstStyle/>
          <a:p>
            <a:r>
              <a:rPr lang="en-US" dirty="0"/>
              <a:t>Markov Assumption Versus State-Space Assumption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BA7CBC-63D3-6241-9DAC-F58F19390BDC}"/>
                  </a:ext>
                </a:extLst>
              </p:cNvPr>
              <p:cNvSpPr>
                <a:spLocks noGrp="1"/>
              </p:cNvSpPr>
              <p:nvPr>
                <p:ph idx="1"/>
              </p:nvPr>
            </p:nvSpPr>
            <p:spPr/>
            <p:txBody>
              <a:bodyPr/>
              <a:lstStyle/>
              <a:p>
                <a:r>
                  <a:rPr lang="en-US" dirty="0"/>
                  <a:t>With MSM, we impose the Markov Assumption on the data</a:t>
                </a:r>
              </a:p>
              <a:p>
                <a:pPr lvl="1"/>
                <a:r>
                  <a:rPr lang="en-US" dirty="0"/>
                  <a:t>A small number of lags captures all necessary historical information:</a:t>
                </a:r>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−20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−19</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oMath>
                  </m:oMathPara>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18BA7CBC-63D3-6241-9DAC-F58F19390BDC}"/>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5" name="Arrow: Curved Down 4">
            <a:extLst>
              <a:ext uri="{FF2B5EF4-FFF2-40B4-BE49-F238E27FC236}">
                <a16:creationId xmlns:a16="http://schemas.microsoft.com/office/drawing/2014/main" id="{F92C6D13-4B5F-2A49-22B1-38799DA849BF}"/>
              </a:ext>
            </a:extLst>
          </p:cNvPr>
          <p:cNvSpPr/>
          <p:nvPr/>
        </p:nvSpPr>
        <p:spPr>
          <a:xfrm>
            <a:off x="6559419" y="2766269"/>
            <a:ext cx="1352939" cy="41054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1028" name="Picture 4" descr="Tick Mark Vector Art, Icons, and Graphics for Free Download">
            <a:extLst>
              <a:ext uri="{FF2B5EF4-FFF2-40B4-BE49-F238E27FC236}">
                <a16:creationId xmlns:a16="http://schemas.microsoft.com/office/drawing/2014/main" id="{892FDBE1-2BC5-87EE-50DC-F839AA727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4070" y="2630715"/>
            <a:ext cx="546100" cy="546100"/>
          </a:xfrm>
          <a:prstGeom prst="rect">
            <a:avLst/>
          </a:prstGeom>
          <a:noFill/>
          <a:extLst>
            <a:ext uri="{909E8E84-426E-40DD-AFC4-6F175D3DCCD1}">
              <a14:hiddenFill xmlns:a14="http://schemas.microsoft.com/office/drawing/2010/main">
                <a:solidFill>
                  <a:srgbClr val="FFFFFF"/>
                </a:solidFill>
              </a14:hiddenFill>
            </a:ext>
          </a:extLst>
        </p:spPr>
      </p:pic>
      <p:sp>
        <p:nvSpPr>
          <p:cNvPr id="4" name="Arrow: Curved Down 3">
            <a:extLst>
              <a:ext uri="{FF2B5EF4-FFF2-40B4-BE49-F238E27FC236}">
                <a16:creationId xmlns:a16="http://schemas.microsoft.com/office/drawing/2014/main" id="{CA48A90B-45F6-0ABF-3758-9A5E39C30B70}"/>
              </a:ext>
            </a:extLst>
          </p:cNvPr>
          <p:cNvSpPr/>
          <p:nvPr/>
        </p:nvSpPr>
        <p:spPr>
          <a:xfrm>
            <a:off x="4422710" y="2766269"/>
            <a:ext cx="3601617" cy="41054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050" name="Picture 2" descr="Red x mark 3 icon - Free red x mark icons">
            <a:extLst>
              <a:ext uri="{FF2B5EF4-FFF2-40B4-BE49-F238E27FC236}">
                <a16:creationId xmlns:a16="http://schemas.microsoft.com/office/drawing/2014/main" id="{0EDD728B-38A5-31D4-03F7-B71B6DEA7E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7721" y="2630715"/>
            <a:ext cx="546100" cy="546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35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28"/>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A60B5-E115-8D4C-1EC0-CA92749A8C8A}"/>
              </a:ext>
            </a:extLst>
          </p:cNvPr>
          <p:cNvSpPr>
            <a:spLocks noGrp="1"/>
          </p:cNvSpPr>
          <p:nvPr>
            <p:ph type="title"/>
          </p:nvPr>
        </p:nvSpPr>
        <p:spPr/>
        <p:txBody>
          <a:bodyPr/>
          <a:lstStyle/>
          <a:p>
            <a:r>
              <a:rPr lang="en-US" dirty="0"/>
              <a:t>Markov Assumption Versus State-Space Assumption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BA7CBC-63D3-6241-9DAC-F58F19390BDC}"/>
                  </a:ext>
                </a:extLst>
              </p:cNvPr>
              <p:cNvSpPr>
                <a:spLocks noGrp="1"/>
              </p:cNvSpPr>
              <p:nvPr>
                <p:ph idx="1"/>
              </p:nvPr>
            </p:nvSpPr>
            <p:spPr/>
            <p:txBody>
              <a:bodyPr>
                <a:normAutofit lnSpcReduction="10000"/>
              </a:bodyPr>
              <a:lstStyle/>
              <a:p>
                <a:r>
                  <a:rPr lang="en-US" dirty="0"/>
                  <a:t>With MSM, we impose the Markov assumption on the data</a:t>
                </a:r>
              </a:p>
              <a:p>
                <a:pPr lvl="1"/>
                <a:r>
                  <a:rPr lang="en-US" dirty="0"/>
                  <a:t>A small number of lags captures all necessary historical information:</a:t>
                </a:r>
              </a:p>
              <a:p>
                <a:pPr marL="0" indent="0" algn="ctr">
                  <a:buNone/>
                </a:pPr>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−20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−19</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𝑡</m:t>
                          </m:r>
                        </m:sub>
                      </m:sSub>
                    </m:oMath>
                  </m:oMathPara>
                </a14:m>
                <a:endParaRPr lang="en-US" dirty="0"/>
              </a:p>
              <a:p>
                <a:endParaRPr lang="en-US" dirty="0"/>
              </a:p>
              <a:p>
                <a:r>
                  <a:rPr lang="en-US" dirty="0"/>
                  <a:t>With the state-space assumption, no information, no matter how back the data is, is not being conditioned, using the state of the model:</a:t>
                </a:r>
              </a:p>
              <a:p>
                <a:endParaRPr lang="en-US" dirty="0"/>
              </a:p>
              <a:p>
                <a:pPr marL="0" indent="0" algn="ctr">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i="1">
                              <a:latin typeface="Cambria Math" panose="02040503050406030204" pitchFamily="18" charset="0"/>
                            </a:rPr>
                            <m:t>−20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i="1">
                              <a:latin typeface="Cambria Math" panose="02040503050406030204" pitchFamily="18" charset="0"/>
                            </a:rPr>
                            <m:t>−19</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sub>
                      </m:sSub>
                    </m:oMath>
                  </m:oMathPara>
                </a14:m>
                <a:endParaRPr lang="en-US" dirty="0"/>
              </a:p>
            </p:txBody>
          </p:sp>
        </mc:Choice>
        <mc:Fallback xmlns="">
          <p:sp>
            <p:nvSpPr>
              <p:cNvPr id="3" name="Content Placeholder 2">
                <a:extLst>
                  <a:ext uri="{FF2B5EF4-FFF2-40B4-BE49-F238E27FC236}">
                    <a16:creationId xmlns:a16="http://schemas.microsoft.com/office/drawing/2014/main" id="{18BA7CBC-63D3-6241-9DAC-F58F19390BDC}"/>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US">
                    <a:noFill/>
                  </a:rPr>
                  <a:t> </a:t>
                </a:r>
              </a:p>
            </p:txBody>
          </p:sp>
        </mc:Fallback>
      </mc:AlternateContent>
      <p:sp>
        <p:nvSpPr>
          <p:cNvPr id="4" name="Arrow: Curved Down 3">
            <a:extLst>
              <a:ext uri="{FF2B5EF4-FFF2-40B4-BE49-F238E27FC236}">
                <a16:creationId xmlns:a16="http://schemas.microsoft.com/office/drawing/2014/main" id="{CA48A90B-45F6-0ABF-3758-9A5E39C30B70}"/>
              </a:ext>
            </a:extLst>
          </p:cNvPr>
          <p:cNvSpPr/>
          <p:nvPr/>
        </p:nvSpPr>
        <p:spPr>
          <a:xfrm>
            <a:off x="4422710" y="2766269"/>
            <a:ext cx="3601617" cy="41054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050" name="Picture 2" descr="Red x mark 3 icon - Free red x mark icons">
            <a:extLst>
              <a:ext uri="{FF2B5EF4-FFF2-40B4-BE49-F238E27FC236}">
                <a16:creationId xmlns:a16="http://schemas.microsoft.com/office/drawing/2014/main" id="{0EDD728B-38A5-31D4-03F7-B71B6DEA7E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7721" y="2630715"/>
            <a:ext cx="546100" cy="546100"/>
          </a:xfrm>
          <a:prstGeom prst="rect">
            <a:avLst/>
          </a:prstGeom>
          <a:noFill/>
          <a:extLst>
            <a:ext uri="{909E8E84-426E-40DD-AFC4-6F175D3DCCD1}">
              <a14:hiddenFill xmlns:a14="http://schemas.microsoft.com/office/drawing/2010/main">
                <a:solidFill>
                  <a:srgbClr val="FFFFFF"/>
                </a:solidFill>
              </a14:hiddenFill>
            </a:ext>
          </a:extLst>
        </p:spPr>
      </p:pic>
      <p:sp>
        <p:nvSpPr>
          <p:cNvPr id="6" name="Arrow: Curved Down 5">
            <a:extLst>
              <a:ext uri="{FF2B5EF4-FFF2-40B4-BE49-F238E27FC236}">
                <a16:creationId xmlns:a16="http://schemas.microsoft.com/office/drawing/2014/main" id="{7AABEC82-A4AE-8D9C-D5D5-D662BC104CD3}"/>
              </a:ext>
            </a:extLst>
          </p:cNvPr>
          <p:cNvSpPr/>
          <p:nvPr/>
        </p:nvSpPr>
        <p:spPr>
          <a:xfrm>
            <a:off x="4295191" y="4934081"/>
            <a:ext cx="3601617" cy="41054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7" name="Picture 4" descr="Tick Mark Vector Art, Icons, and Graphics for Free Download">
            <a:extLst>
              <a:ext uri="{FF2B5EF4-FFF2-40B4-BE49-F238E27FC236}">
                <a16:creationId xmlns:a16="http://schemas.microsoft.com/office/drawing/2014/main" id="{16592410-A3E1-F1C2-5C44-49E7ABEE45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0771" y="4798527"/>
            <a:ext cx="546100" cy="546100"/>
          </a:xfrm>
          <a:prstGeom prst="rect">
            <a:avLst/>
          </a:prstGeom>
          <a:noFill/>
          <a:extLst>
            <a:ext uri="{909E8E84-426E-40DD-AFC4-6F175D3DCCD1}">
              <a14:hiddenFill xmlns:a14="http://schemas.microsoft.com/office/drawing/2010/main">
                <a:solidFill>
                  <a:srgbClr val="FFFFFF"/>
                </a:solidFill>
              </a14:hiddenFill>
            </a:ext>
          </a:extLst>
        </p:spPr>
      </p:pic>
      <p:sp>
        <p:nvSpPr>
          <p:cNvPr id="10" name="Arrow: Curved Down 9">
            <a:extLst>
              <a:ext uri="{FF2B5EF4-FFF2-40B4-BE49-F238E27FC236}">
                <a16:creationId xmlns:a16="http://schemas.microsoft.com/office/drawing/2014/main" id="{D9CA9185-68DE-92B3-E91D-0561356B90DD}"/>
              </a:ext>
            </a:extLst>
          </p:cNvPr>
          <p:cNvSpPr/>
          <p:nvPr/>
        </p:nvSpPr>
        <p:spPr>
          <a:xfrm>
            <a:off x="6550477" y="4939005"/>
            <a:ext cx="1352939" cy="410546"/>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 name="Picture 4" descr="Tick Mark Vector Art, Icons, and Graphics for Free Download">
            <a:extLst>
              <a:ext uri="{FF2B5EF4-FFF2-40B4-BE49-F238E27FC236}">
                <a16:creationId xmlns:a16="http://schemas.microsoft.com/office/drawing/2014/main" id="{A307A477-AA31-D303-D87C-AFF0C73AD3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5128" y="4798527"/>
            <a:ext cx="546100" cy="5461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hlinkClick r:id="rId5" action="ppaction://hlinksldjump"/>
            <a:extLst>
              <a:ext uri="{FF2B5EF4-FFF2-40B4-BE49-F238E27FC236}">
                <a16:creationId xmlns:a16="http://schemas.microsoft.com/office/drawing/2014/main" id="{62F8AA26-CB54-BF92-0913-225CBF4550E5}"/>
              </a:ext>
            </a:extLst>
          </p:cNvPr>
          <p:cNvSpPr txBox="1"/>
          <p:nvPr/>
        </p:nvSpPr>
        <p:spPr>
          <a:xfrm>
            <a:off x="629880" y="6036671"/>
            <a:ext cx="6096000" cy="369332"/>
          </a:xfrm>
          <a:prstGeom prst="rect">
            <a:avLst/>
          </a:prstGeom>
          <a:noFill/>
        </p:spPr>
        <p:txBody>
          <a:bodyPr wrap="square">
            <a:spAutoFit/>
          </a:bodyPr>
          <a:lstStyle/>
          <a:p>
            <a:r>
              <a:rPr lang="en-US" dirty="0">
                <a:hlinkClick r:id="rId5" action="ppaction://hlinksldjump"/>
              </a:rPr>
              <a:t>Back</a:t>
            </a:r>
            <a:endParaRPr lang="en-US" dirty="0"/>
          </a:p>
        </p:txBody>
      </p:sp>
    </p:spTree>
    <p:extLst>
      <p:ext uri="{BB962C8B-B14F-4D97-AF65-F5344CB8AC3E}">
        <p14:creationId xmlns:p14="http://schemas.microsoft.com/office/powerpoint/2010/main" val="1269130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33922C-8562-4B60-7161-164DF5FB4454}"/>
              </a:ext>
            </a:extLst>
          </p:cNvPr>
          <p:cNvSpPr>
            <a:spLocks noGrp="1"/>
          </p:cNvSpPr>
          <p:nvPr>
            <p:ph type="title"/>
          </p:nvPr>
        </p:nvSpPr>
        <p:spPr/>
        <p:txBody>
          <a:bodyPr/>
          <a:lstStyle/>
          <a:p>
            <a:r>
              <a:rPr lang="en-US" dirty="0"/>
              <a:t>Flow Universal Approximator Intuition</a:t>
            </a:r>
          </a:p>
        </p:txBody>
      </p:sp>
      <p:sp>
        <p:nvSpPr>
          <p:cNvPr id="8" name="Content Placeholder 7">
            <a:extLst>
              <a:ext uri="{FF2B5EF4-FFF2-40B4-BE49-F238E27FC236}">
                <a16:creationId xmlns:a16="http://schemas.microsoft.com/office/drawing/2014/main" id="{074D648B-990C-BD4C-EAE3-86305DFD7AFA}"/>
              </a:ext>
            </a:extLst>
          </p:cNvPr>
          <p:cNvSpPr>
            <a:spLocks noGrp="1"/>
          </p:cNvSpPr>
          <p:nvPr>
            <p:ph idx="1"/>
          </p:nvPr>
        </p:nvSpPr>
        <p:spPr/>
        <p:txBody>
          <a:bodyPr/>
          <a:lstStyle/>
          <a:p>
            <a:r>
              <a:rPr lang="en-US" dirty="0"/>
              <a:t>From Huang 2018</a:t>
            </a:r>
          </a:p>
          <a:p>
            <a:r>
              <a:rPr lang="en-US" dirty="0"/>
              <a:t>First a sum of step functions </a:t>
            </a:r>
            <a:r>
              <a:rPr lang="en-US" dirty="0">
                <a:sym typeface="Wingdings" panose="05000000000000000000" pitchFamily="2" charset="2"/>
              </a:rPr>
              <a:t> universal approximator of monotonic functions</a:t>
            </a:r>
          </a:p>
          <a:p>
            <a:r>
              <a:rPr lang="en-US" dirty="0">
                <a:sym typeface="Wingdings" panose="05000000000000000000" pitchFamily="2" charset="2"/>
              </a:rPr>
              <a:t>A logit can approximate a step function arbitrarily well  a sum of logit can do the same with monotonic functions</a:t>
            </a:r>
          </a:p>
          <a:p>
            <a:r>
              <a:rPr lang="en-US" dirty="0"/>
              <a:t>A neural autoregressive flow can universally approximate any set of parameters and thus when using a logit nonlinearity, can approximate logits </a:t>
            </a:r>
            <a:r>
              <a:rPr lang="en-US" dirty="0">
                <a:sym typeface="Wingdings" panose="05000000000000000000" pitchFamily="2" charset="2"/>
              </a:rPr>
              <a:t> step functions  </a:t>
            </a:r>
            <a:r>
              <a:rPr lang="en-US" dirty="0"/>
              <a:t>monotonic functions arbitrarily well</a:t>
            </a:r>
          </a:p>
        </p:txBody>
      </p:sp>
    </p:spTree>
    <p:extLst>
      <p:ext uri="{BB962C8B-B14F-4D97-AF65-F5344CB8AC3E}">
        <p14:creationId xmlns:p14="http://schemas.microsoft.com/office/powerpoint/2010/main" val="5925366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8FDEE-0366-B827-0DCD-A92E9094F624}"/>
              </a:ext>
            </a:extLst>
          </p:cNvPr>
          <p:cNvSpPr>
            <a:spLocks noGrp="1"/>
          </p:cNvSpPr>
          <p:nvPr>
            <p:ph type="title"/>
          </p:nvPr>
        </p:nvSpPr>
        <p:spPr/>
        <p:txBody>
          <a:bodyPr/>
          <a:lstStyle/>
          <a:p>
            <a:r>
              <a:rPr lang="en-US" dirty="0"/>
              <a:t>Monotonic Functions and Universal Approximators</a:t>
            </a:r>
          </a:p>
        </p:txBody>
      </p:sp>
      <p:sp>
        <p:nvSpPr>
          <p:cNvPr id="3" name="Content Placeholder 2">
            <a:extLst>
              <a:ext uri="{FF2B5EF4-FFF2-40B4-BE49-F238E27FC236}">
                <a16:creationId xmlns:a16="http://schemas.microsoft.com/office/drawing/2014/main" id="{902C9D54-340C-EC03-C335-936D9E665044}"/>
              </a:ext>
            </a:extLst>
          </p:cNvPr>
          <p:cNvSpPr>
            <a:spLocks noGrp="1"/>
          </p:cNvSpPr>
          <p:nvPr>
            <p:ph idx="1"/>
          </p:nvPr>
        </p:nvSpPr>
        <p:spPr/>
        <p:txBody>
          <a:bodyPr/>
          <a:lstStyle/>
          <a:p>
            <a:r>
              <a:rPr lang="en-US" dirty="0"/>
              <a:t>One can map any uniform density to any distribution via the  monotonic CDF</a:t>
            </a:r>
          </a:p>
          <a:p>
            <a:r>
              <a:rPr lang="en-US" dirty="0"/>
              <a:t>One can map any distribution to the uniform density via the inverse CDF which also is monotonic</a:t>
            </a:r>
          </a:p>
          <a:p>
            <a:r>
              <a:rPr lang="en-US" dirty="0"/>
              <a:t>Since you can map any distribution to a uniform via monotonic transformations and any uniform to any other distributions via monotonic transformation, then monotonic distributions can map any distribution to any other </a:t>
            </a:r>
            <a:r>
              <a:rPr lang="en-US" dirty="0">
                <a:sym typeface="Wingdings" panose="05000000000000000000" pitchFamily="2" charset="2"/>
              </a:rPr>
              <a:t> universal approximation with flows</a:t>
            </a:r>
            <a:endParaRPr lang="en-US" dirty="0"/>
          </a:p>
        </p:txBody>
      </p:sp>
      <p:sp>
        <p:nvSpPr>
          <p:cNvPr id="4" name="TextBox 3">
            <a:extLst>
              <a:ext uri="{FF2B5EF4-FFF2-40B4-BE49-F238E27FC236}">
                <a16:creationId xmlns:a16="http://schemas.microsoft.com/office/drawing/2014/main" id="{F4F1FBC5-D0FE-45B6-9CD6-D9D2890AB123}"/>
              </a:ext>
            </a:extLst>
          </p:cNvPr>
          <p:cNvSpPr txBox="1"/>
          <p:nvPr/>
        </p:nvSpPr>
        <p:spPr>
          <a:xfrm>
            <a:off x="1206631" y="5942568"/>
            <a:ext cx="1489435" cy="369332"/>
          </a:xfrm>
          <a:prstGeom prst="rect">
            <a:avLst/>
          </a:prstGeom>
          <a:noFill/>
        </p:spPr>
        <p:txBody>
          <a:bodyPr wrap="square" rtlCol="0">
            <a:spAutoFit/>
          </a:bodyPr>
          <a:lstStyle/>
          <a:p>
            <a:r>
              <a:rPr lang="en-US" dirty="0">
                <a:hlinkClick r:id="rId2" action="ppaction://hlinksldjump"/>
              </a:rPr>
              <a:t>Back</a:t>
            </a:r>
            <a:endParaRPr lang="en-US" dirty="0"/>
          </a:p>
        </p:txBody>
      </p:sp>
    </p:spTree>
    <p:extLst>
      <p:ext uri="{BB962C8B-B14F-4D97-AF65-F5344CB8AC3E}">
        <p14:creationId xmlns:p14="http://schemas.microsoft.com/office/powerpoint/2010/main" val="8596615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DE150-43F8-8CA6-935D-AF5615D2F759}"/>
              </a:ext>
            </a:extLst>
          </p:cNvPr>
          <p:cNvSpPr>
            <a:spLocks noGrp="1"/>
          </p:cNvSpPr>
          <p:nvPr>
            <p:ph type="title"/>
          </p:nvPr>
        </p:nvSpPr>
        <p:spPr/>
        <p:txBody>
          <a:bodyPr/>
          <a:lstStyle/>
          <a:p>
            <a:r>
              <a:rPr lang="en-US" dirty="0"/>
              <a:t>Lossless Embedding</a:t>
            </a:r>
          </a:p>
        </p:txBody>
      </p:sp>
      <p:sp>
        <p:nvSpPr>
          <p:cNvPr id="3" name="Content Placeholder 2">
            <a:extLst>
              <a:ext uri="{FF2B5EF4-FFF2-40B4-BE49-F238E27FC236}">
                <a16:creationId xmlns:a16="http://schemas.microsoft.com/office/drawing/2014/main" id="{D6A7B27A-9964-1255-EC63-6BD2B33B4EDD}"/>
              </a:ext>
            </a:extLst>
          </p:cNvPr>
          <p:cNvSpPr>
            <a:spLocks noGrp="1"/>
          </p:cNvSpPr>
          <p:nvPr>
            <p:ph idx="1"/>
          </p:nvPr>
        </p:nvSpPr>
        <p:spPr/>
        <p:txBody>
          <a:bodyPr>
            <a:normAutofit fontScale="85000" lnSpcReduction="10000"/>
          </a:bodyPr>
          <a:lstStyle/>
          <a:p>
            <a:r>
              <a:rPr lang="en-US" dirty="0"/>
              <a:t>I pointed out that in comparison to (Ahn et. al. 2018), the use of an end to end embedding generally leads to lossless compression</a:t>
            </a:r>
          </a:p>
          <a:p>
            <a:r>
              <a:rPr lang="en-US" dirty="0"/>
              <a:t>Since a small number of parameters generate many sample data points, there likely exists a sufficient statistic the size of the parameter set</a:t>
            </a:r>
          </a:p>
          <a:p>
            <a:pPr lvl="1"/>
            <a:r>
              <a:rPr lang="en-US" dirty="0"/>
              <a:t>Modulo continuity and other regularity conditions</a:t>
            </a:r>
          </a:p>
          <a:p>
            <a:r>
              <a:rPr lang="en-US" dirty="0"/>
              <a:t>By Rao-Blackwell, if there exists a sufficient statistic, it will maximize likelihood</a:t>
            </a:r>
          </a:p>
          <a:p>
            <a:pPr lvl="1"/>
            <a:r>
              <a:rPr lang="en-US" dirty="0"/>
              <a:t>Caveat regarding global versus local mins</a:t>
            </a:r>
          </a:p>
          <a:p>
            <a:r>
              <a:rPr lang="en-US" dirty="0"/>
              <a:t>A universal approximator embedding neural network, can arbitrarily approximate any function so given enough parameters can approximate the sufficient statistic and will approximate the sufficient statistic as that will minimize MLE loss</a:t>
            </a:r>
          </a:p>
          <a:p>
            <a:r>
              <a:rPr lang="en-US" dirty="0"/>
              <a:t>Using PCA like in Ahn et.al. (2018) will not be lossless as it’s not trained end to end with the Bayesian objective</a:t>
            </a:r>
          </a:p>
        </p:txBody>
      </p:sp>
    </p:spTree>
    <p:extLst>
      <p:ext uri="{BB962C8B-B14F-4D97-AF65-F5344CB8AC3E}">
        <p14:creationId xmlns:p14="http://schemas.microsoft.com/office/powerpoint/2010/main" val="8965106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A0EF713-D96A-E55D-E14D-573CABC01CB3}"/>
              </a:ext>
            </a:extLst>
          </p:cNvPr>
          <p:cNvSpPr>
            <a:spLocks noGrp="1"/>
          </p:cNvSpPr>
          <p:nvPr>
            <p:ph type="title"/>
          </p:nvPr>
        </p:nvSpPr>
        <p:spPr/>
        <p:txBody>
          <a:bodyPr/>
          <a:lstStyle/>
          <a:p>
            <a:r>
              <a:rPr lang="en-US" dirty="0"/>
              <a:t>Projection Model</a:t>
            </a:r>
          </a:p>
        </p:txBody>
      </p:sp>
      <p:sp>
        <p:nvSpPr>
          <p:cNvPr id="8" name="Content Placeholder 7">
            <a:extLst>
              <a:ext uri="{FF2B5EF4-FFF2-40B4-BE49-F238E27FC236}">
                <a16:creationId xmlns:a16="http://schemas.microsoft.com/office/drawing/2014/main" id="{14226BD5-2CCB-2CAE-A115-C710381C46C3}"/>
              </a:ext>
            </a:extLst>
          </p:cNvPr>
          <p:cNvSpPr>
            <a:spLocks noGrp="1"/>
          </p:cNvSpPr>
          <p:nvPr>
            <p:ph sz="half" idx="1"/>
          </p:nvPr>
        </p:nvSpPr>
        <p:spPr/>
        <p:txBody>
          <a:bodyPr/>
          <a:lstStyle/>
          <a:p>
            <a:r>
              <a:rPr lang="en-US" dirty="0"/>
              <a:t>Lucas-Tree estimated via projection</a:t>
            </a:r>
          </a:p>
          <a:p>
            <a:endParaRPr lang="en-US" dirty="0"/>
          </a:p>
          <a:p>
            <a:r>
              <a:rPr lang="en-US" dirty="0"/>
              <a:t>Can see some errors with the posterior not quite aligned with the data generating parameters</a:t>
            </a:r>
          </a:p>
          <a:p>
            <a:endParaRPr lang="en-US" dirty="0"/>
          </a:p>
          <a:p>
            <a:r>
              <a:rPr lang="en-US" dirty="0"/>
              <a:t>No measurement error used when estimating</a:t>
            </a:r>
          </a:p>
        </p:txBody>
      </p:sp>
      <p:pic>
        <p:nvPicPr>
          <p:cNvPr id="11" name="Content Placeholder 10" descr="A screenshot of a computer code&#10;&#10;Description automatically generated with low confidence">
            <a:extLst>
              <a:ext uri="{FF2B5EF4-FFF2-40B4-BE49-F238E27FC236}">
                <a16:creationId xmlns:a16="http://schemas.microsoft.com/office/drawing/2014/main" id="{C3919A2C-A826-C3F1-2F5A-9694A49DEC1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64587" y="1912405"/>
            <a:ext cx="3796825" cy="4177778"/>
          </a:xfrm>
        </p:spPr>
      </p:pic>
      <p:sp>
        <p:nvSpPr>
          <p:cNvPr id="12" name="TextBox 11">
            <a:extLst>
              <a:ext uri="{FF2B5EF4-FFF2-40B4-BE49-F238E27FC236}">
                <a16:creationId xmlns:a16="http://schemas.microsoft.com/office/drawing/2014/main" id="{F2CA2089-B456-C648-6E2F-603E280E101F}"/>
              </a:ext>
            </a:extLst>
          </p:cNvPr>
          <p:cNvSpPr txBox="1"/>
          <p:nvPr/>
        </p:nvSpPr>
        <p:spPr>
          <a:xfrm>
            <a:off x="1026367" y="6176963"/>
            <a:ext cx="1548882" cy="369332"/>
          </a:xfrm>
          <a:prstGeom prst="rect">
            <a:avLst/>
          </a:prstGeom>
          <a:noFill/>
        </p:spPr>
        <p:txBody>
          <a:bodyPr wrap="square" rtlCol="0">
            <a:spAutoFit/>
          </a:bodyPr>
          <a:lstStyle/>
          <a:p>
            <a:r>
              <a:rPr lang="en-US" dirty="0">
                <a:hlinkClick r:id="rId3" action="ppaction://hlinksldjump"/>
              </a:rPr>
              <a:t>Back</a:t>
            </a:r>
            <a:endParaRPr lang="en-US" dirty="0"/>
          </a:p>
        </p:txBody>
      </p:sp>
    </p:spTree>
    <p:extLst>
      <p:ext uri="{BB962C8B-B14F-4D97-AF65-F5344CB8AC3E}">
        <p14:creationId xmlns:p14="http://schemas.microsoft.com/office/powerpoint/2010/main" val="2690027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7C7150C-6907-0B27-4BCE-60FF21F6AC6C}"/>
              </a:ext>
            </a:extLst>
          </p:cNvPr>
          <p:cNvSpPr>
            <a:spLocks noGrp="1"/>
          </p:cNvSpPr>
          <p:nvPr>
            <p:ph type="title"/>
          </p:nvPr>
        </p:nvSpPr>
        <p:spPr/>
        <p:txBody>
          <a:bodyPr/>
          <a:lstStyle/>
          <a:p>
            <a:r>
              <a:rPr lang="en-US" dirty="0"/>
              <a:t>RBC Model Estimated Two Ways</a:t>
            </a:r>
          </a:p>
        </p:txBody>
      </p:sp>
      <p:sp>
        <p:nvSpPr>
          <p:cNvPr id="8" name="Text Placeholder 7">
            <a:extLst>
              <a:ext uri="{FF2B5EF4-FFF2-40B4-BE49-F238E27FC236}">
                <a16:creationId xmlns:a16="http://schemas.microsoft.com/office/drawing/2014/main" id="{745DB40C-67C2-5817-59E4-C80D18E251DF}"/>
              </a:ext>
            </a:extLst>
          </p:cNvPr>
          <p:cNvSpPr>
            <a:spLocks noGrp="1"/>
          </p:cNvSpPr>
          <p:nvPr>
            <p:ph type="body" idx="1"/>
          </p:nvPr>
        </p:nvSpPr>
        <p:spPr/>
        <p:txBody>
          <a:bodyPr/>
          <a:lstStyle/>
          <a:p>
            <a:r>
              <a:rPr lang="en-US" dirty="0"/>
              <a:t>MCMC Ground Truth Posterior</a:t>
            </a:r>
          </a:p>
        </p:txBody>
      </p:sp>
      <p:pic>
        <p:nvPicPr>
          <p:cNvPr id="7" name="Content Placeholder 6" descr="A screenshot of a computer&#10;&#10;Description automatically generated with low confidence">
            <a:extLst>
              <a:ext uri="{FF2B5EF4-FFF2-40B4-BE49-F238E27FC236}">
                <a16:creationId xmlns:a16="http://schemas.microsoft.com/office/drawing/2014/main" id="{66639332-CB5D-D5C8-CB53-584CA0455BF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744378" y="2505075"/>
            <a:ext cx="3348606" cy="3684588"/>
          </a:xfrm>
        </p:spPr>
      </p:pic>
      <p:sp>
        <p:nvSpPr>
          <p:cNvPr id="9" name="Text Placeholder 8">
            <a:extLst>
              <a:ext uri="{FF2B5EF4-FFF2-40B4-BE49-F238E27FC236}">
                <a16:creationId xmlns:a16="http://schemas.microsoft.com/office/drawing/2014/main" id="{480BBB77-A809-1955-D950-E1222A69B0E5}"/>
              </a:ext>
            </a:extLst>
          </p:cNvPr>
          <p:cNvSpPr>
            <a:spLocks noGrp="1"/>
          </p:cNvSpPr>
          <p:nvPr>
            <p:ph type="body" sz="quarter" idx="3"/>
          </p:nvPr>
        </p:nvSpPr>
        <p:spPr/>
        <p:txBody>
          <a:bodyPr/>
          <a:lstStyle/>
          <a:p>
            <a:r>
              <a:rPr lang="en-US" dirty="0"/>
              <a:t>SNPE Posterior</a:t>
            </a:r>
          </a:p>
        </p:txBody>
      </p:sp>
      <p:pic>
        <p:nvPicPr>
          <p:cNvPr id="12" name="Content Placeholder 11" descr="A screenshot of a computer&#10;&#10;Description automatically generated with low confidence">
            <a:extLst>
              <a:ext uri="{FF2B5EF4-FFF2-40B4-BE49-F238E27FC236}">
                <a16:creationId xmlns:a16="http://schemas.microsoft.com/office/drawing/2014/main" id="{2D43183A-2880-5BBB-7A2E-6818E86BAF55}"/>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220392" y="2613424"/>
            <a:ext cx="3086803" cy="3467890"/>
          </a:xfrm>
        </p:spPr>
      </p:pic>
      <p:sp>
        <p:nvSpPr>
          <p:cNvPr id="13" name="TextBox 12">
            <a:extLst>
              <a:ext uri="{FF2B5EF4-FFF2-40B4-BE49-F238E27FC236}">
                <a16:creationId xmlns:a16="http://schemas.microsoft.com/office/drawing/2014/main" id="{B43EA709-FCDA-47F8-A014-CC99694A2DE3}"/>
              </a:ext>
            </a:extLst>
          </p:cNvPr>
          <p:cNvSpPr txBox="1"/>
          <p:nvPr/>
        </p:nvSpPr>
        <p:spPr>
          <a:xfrm>
            <a:off x="1026367" y="6176963"/>
            <a:ext cx="1548882" cy="369332"/>
          </a:xfrm>
          <a:prstGeom prst="rect">
            <a:avLst/>
          </a:prstGeom>
          <a:noFill/>
        </p:spPr>
        <p:txBody>
          <a:bodyPr wrap="square" rtlCol="0">
            <a:spAutoFit/>
          </a:bodyPr>
          <a:lstStyle/>
          <a:p>
            <a:r>
              <a:rPr lang="en-US" dirty="0">
                <a:hlinkClick r:id="rId4" action="ppaction://hlinksldjump"/>
              </a:rPr>
              <a:t>Back</a:t>
            </a:r>
            <a:endParaRPr lang="en-US" dirty="0"/>
          </a:p>
        </p:txBody>
      </p:sp>
    </p:spTree>
    <p:extLst>
      <p:ext uri="{BB962C8B-B14F-4D97-AF65-F5344CB8AC3E}">
        <p14:creationId xmlns:p14="http://schemas.microsoft.com/office/powerpoint/2010/main" val="26213101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AD963-150B-D879-023B-466BA4BF52A8}"/>
              </a:ext>
            </a:extLst>
          </p:cNvPr>
          <p:cNvSpPr>
            <a:spLocks noGrp="1"/>
          </p:cNvSpPr>
          <p:nvPr>
            <p:ph type="title"/>
          </p:nvPr>
        </p:nvSpPr>
        <p:spPr/>
        <p:txBody>
          <a:bodyPr/>
          <a:lstStyle/>
          <a:p>
            <a:r>
              <a:rPr lang="en-US" dirty="0"/>
              <a:t>Bequests Value Function Iteration Model</a:t>
            </a:r>
          </a:p>
        </p:txBody>
      </p:sp>
      <p:pic>
        <p:nvPicPr>
          <p:cNvPr id="5" name="Content Placeholder 4" descr="A picture containing text, diagram, line, handwriting&#10;&#10;Description automatically generated">
            <a:extLst>
              <a:ext uri="{FF2B5EF4-FFF2-40B4-BE49-F238E27FC236}">
                <a16:creationId xmlns:a16="http://schemas.microsoft.com/office/drawing/2014/main" id="{4D894726-7B89-680F-311F-8650646CAE7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82099" y="1825625"/>
            <a:ext cx="4493802" cy="4351338"/>
          </a:xfrm>
        </p:spPr>
      </p:pic>
      <p:sp>
        <p:nvSpPr>
          <p:cNvPr id="6" name="Content Placeholder 5">
            <a:extLst>
              <a:ext uri="{FF2B5EF4-FFF2-40B4-BE49-F238E27FC236}">
                <a16:creationId xmlns:a16="http://schemas.microsoft.com/office/drawing/2014/main" id="{AAC9E2EF-27A1-CCDC-7D16-1967C1E836BE}"/>
              </a:ext>
            </a:extLst>
          </p:cNvPr>
          <p:cNvSpPr>
            <a:spLocks noGrp="1"/>
          </p:cNvSpPr>
          <p:nvPr>
            <p:ph sz="half" idx="2"/>
          </p:nvPr>
        </p:nvSpPr>
        <p:spPr/>
        <p:txBody>
          <a:bodyPr/>
          <a:lstStyle/>
          <a:p>
            <a:r>
              <a:rPr lang="en-US" dirty="0"/>
              <a:t>Liquid and Illiquid asset</a:t>
            </a:r>
          </a:p>
          <a:p>
            <a:pPr marL="457200" lvl="1" indent="0">
              <a:buNone/>
            </a:pPr>
            <a:endParaRPr lang="en-US" dirty="0"/>
          </a:p>
          <a:p>
            <a:pPr lvl="1"/>
            <a:r>
              <a:rPr lang="en-US" dirty="0"/>
              <a:t>Kink at the transition point </a:t>
            </a:r>
            <a:r>
              <a:rPr lang="en-US" dirty="0">
                <a:sym typeface="Wingdings" panose="05000000000000000000" pitchFamily="2" charset="2"/>
              </a:rPr>
              <a:t> No perturbation</a:t>
            </a:r>
            <a:endParaRPr lang="en-US" dirty="0"/>
          </a:p>
          <a:p>
            <a:endParaRPr lang="en-US" dirty="0"/>
          </a:p>
          <a:p>
            <a:r>
              <a:rPr lang="en-US" dirty="0"/>
              <a:t>Solved via value function iteration</a:t>
            </a:r>
          </a:p>
          <a:p>
            <a:endParaRPr lang="en-US" dirty="0"/>
          </a:p>
          <a:p>
            <a:r>
              <a:rPr lang="en-US" dirty="0"/>
              <a:t>Using measurement error</a:t>
            </a:r>
          </a:p>
        </p:txBody>
      </p:sp>
      <p:sp>
        <p:nvSpPr>
          <p:cNvPr id="7" name="TextBox 6">
            <a:extLst>
              <a:ext uri="{FF2B5EF4-FFF2-40B4-BE49-F238E27FC236}">
                <a16:creationId xmlns:a16="http://schemas.microsoft.com/office/drawing/2014/main" id="{27E50F60-50FF-C768-12AE-343A8DB8B914}"/>
              </a:ext>
            </a:extLst>
          </p:cNvPr>
          <p:cNvSpPr txBox="1"/>
          <p:nvPr/>
        </p:nvSpPr>
        <p:spPr>
          <a:xfrm>
            <a:off x="1026367" y="6176963"/>
            <a:ext cx="1548882" cy="369332"/>
          </a:xfrm>
          <a:prstGeom prst="rect">
            <a:avLst/>
          </a:prstGeom>
          <a:noFill/>
        </p:spPr>
        <p:txBody>
          <a:bodyPr wrap="square" rtlCol="0">
            <a:spAutoFit/>
          </a:bodyPr>
          <a:lstStyle/>
          <a:p>
            <a:r>
              <a:rPr lang="en-US" dirty="0">
                <a:hlinkClick r:id="rId3" action="ppaction://hlinksldjump"/>
              </a:rPr>
              <a:t>Back</a:t>
            </a:r>
            <a:endParaRPr lang="en-US" dirty="0"/>
          </a:p>
        </p:txBody>
      </p:sp>
    </p:spTree>
    <p:extLst>
      <p:ext uri="{BB962C8B-B14F-4D97-AF65-F5344CB8AC3E}">
        <p14:creationId xmlns:p14="http://schemas.microsoft.com/office/powerpoint/2010/main" val="9250752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04A9B5A-9049-DE45-8AE3-FFC99C21474B}"/>
              </a:ext>
            </a:extLst>
          </p:cNvPr>
          <p:cNvPicPr>
            <a:picLocks noChangeAspect="1"/>
          </p:cNvPicPr>
          <p:nvPr/>
        </p:nvPicPr>
        <p:blipFill>
          <a:blip r:embed="rId2"/>
          <a:stretch>
            <a:fillRect/>
          </a:stretch>
        </p:blipFill>
        <p:spPr>
          <a:xfrm>
            <a:off x="2857311" y="1572439"/>
            <a:ext cx="6181907" cy="5080287"/>
          </a:xfrm>
          <a:prstGeom prst="rect">
            <a:avLst/>
          </a:prstGeom>
        </p:spPr>
      </p:pic>
      <p:sp>
        <p:nvSpPr>
          <p:cNvPr id="2" name="Title 1">
            <a:extLst>
              <a:ext uri="{FF2B5EF4-FFF2-40B4-BE49-F238E27FC236}">
                <a16:creationId xmlns:a16="http://schemas.microsoft.com/office/drawing/2014/main" id="{BFF5942B-D904-1771-DB15-4E69899138EB}"/>
              </a:ext>
            </a:extLst>
          </p:cNvPr>
          <p:cNvSpPr>
            <a:spLocks noGrp="1"/>
          </p:cNvSpPr>
          <p:nvPr>
            <p:ph type="title"/>
          </p:nvPr>
        </p:nvSpPr>
        <p:spPr/>
        <p:txBody>
          <a:bodyPr/>
          <a:lstStyle/>
          <a:p>
            <a:r>
              <a:rPr lang="en-US" dirty="0"/>
              <a:t>SNPE</a:t>
            </a:r>
          </a:p>
        </p:txBody>
      </p:sp>
      <p:sp>
        <p:nvSpPr>
          <p:cNvPr id="9" name="TextBox 8">
            <a:extLst>
              <a:ext uri="{FF2B5EF4-FFF2-40B4-BE49-F238E27FC236}">
                <a16:creationId xmlns:a16="http://schemas.microsoft.com/office/drawing/2014/main" id="{2FDE7194-6A22-6538-AF7D-0C128A3FB974}"/>
              </a:ext>
            </a:extLst>
          </p:cNvPr>
          <p:cNvSpPr txBox="1"/>
          <p:nvPr/>
        </p:nvSpPr>
        <p:spPr>
          <a:xfrm>
            <a:off x="1140420" y="6123543"/>
            <a:ext cx="6096000" cy="369332"/>
          </a:xfrm>
          <a:prstGeom prst="rect">
            <a:avLst/>
          </a:prstGeom>
          <a:noFill/>
        </p:spPr>
        <p:txBody>
          <a:bodyPr wrap="square">
            <a:spAutoFit/>
          </a:bodyPr>
          <a:lstStyle/>
          <a:p>
            <a:r>
              <a:rPr lang="en-US" dirty="0">
                <a:hlinkClick r:id="rId3" action="ppaction://hlinksldjump"/>
              </a:rPr>
              <a:t>Back</a:t>
            </a:r>
            <a:endParaRPr lang="en-US" dirty="0"/>
          </a:p>
        </p:txBody>
      </p:sp>
    </p:spTree>
    <p:extLst>
      <p:ext uri="{BB962C8B-B14F-4D97-AF65-F5344CB8AC3E}">
        <p14:creationId xmlns:p14="http://schemas.microsoft.com/office/powerpoint/2010/main" val="30278765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D13067-6E94-66B5-F0AF-391CDC895043}"/>
              </a:ext>
            </a:extLst>
          </p:cNvPr>
          <p:cNvSpPr>
            <a:spLocks noGrp="1"/>
          </p:cNvSpPr>
          <p:nvPr>
            <p:ph type="title"/>
          </p:nvPr>
        </p:nvSpPr>
        <p:spPr/>
        <p:txBody>
          <a:bodyPr/>
          <a:lstStyle/>
          <a:p>
            <a:r>
              <a:rPr lang="en-US" dirty="0"/>
              <a:t>Alternative Algorithm: Sequential Neural Variational Inference</a:t>
            </a:r>
          </a:p>
        </p:txBody>
      </p:sp>
      <p:pic>
        <p:nvPicPr>
          <p:cNvPr id="8" name="Picture 7">
            <a:extLst>
              <a:ext uri="{FF2B5EF4-FFF2-40B4-BE49-F238E27FC236}">
                <a16:creationId xmlns:a16="http://schemas.microsoft.com/office/drawing/2014/main" id="{84361FF3-F2B1-6237-373D-AD1107952A4F}"/>
              </a:ext>
            </a:extLst>
          </p:cNvPr>
          <p:cNvPicPr>
            <a:picLocks noChangeAspect="1"/>
          </p:cNvPicPr>
          <p:nvPr/>
        </p:nvPicPr>
        <p:blipFill>
          <a:blip r:embed="rId2"/>
          <a:stretch>
            <a:fillRect/>
          </a:stretch>
        </p:blipFill>
        <p:spPr>
          <a:xfrm>
            <a:off x="838200" y="1690688"/>
            <a:ext cx="10515599" cy="5044094"/>
          </a:xfrm>
          <a:prstGeom prst="rect">
            <a:avLst/>
          </a:prstGeom>
        </p:spPr>
      </p:pic>
      <p:sp>
        <p:nvSpPr>
          <p:cNvPr id="11" name="TextBox 10">
            <a:extLst>
              <a:ext uri="{FF2B5EF4-FFF2-40B4-BE49-F238E27FC236}">
                <a16:creationId xmlns:a16="http://schemas.microsoft.com/office/drawing/2014/main" id="{F78E1263-44C3-0389-9382-23FA83BA630F}"/>
              </a:ext>
            </a:extLst>
          </p:cNvPr>
          <p:cNvSpPr txBox="1"/>
          <p:nvPr/>
        </p:nvSpPr>
        <p:spPr>
          <a:xfrm>
            <a:off x="216594" y="6029275"/>
            <a:ext cx="6096000" cy="369332"/>
          </a:xfrm>
          <a:prstGeom prst="rect">
            <a:avLst/>
          </a:prstGeom>
          <a:noFill/>
        </p:spPr>
        <p:txBody>
          <a:bodyPr wrap="square">
            <a:spAutoFit/>
          </a:bodyPr>
          <a:lstStyle/>
          <a:p>
            <a:r>
              <a:rPr lang="en-US" dirty="0">
                <a:hlinkClick r:id="rId3" action="ppaction://hlinksldjump"/>
              </a:rPr>
              <a:t>Back</a:t>
            </a:r>
            <a:endParaRPr lang="en-US" dirty="0"/>
          </a:p>
        </p:txBody>
      </p:sp>
    </p:spTree>
    <p:extLst>
      <p:ext uri="{BB962C8B-B14F-4D97-AF65-F5344CB8AC3E}">
        <p14:creationId xmlns:p14="http://schemas.microsoft.com/office/powerpoint/2010/main" val="12428938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0EEA13-C809-131D-455D-324AA1AB6EDF}"/>
              </a:ext>
            </a:extLst>
          </p:cNvPr>
          <p:cNvSpPr>
            <a:spLocks noGrp="1"/>
          </p:cNvSpPr>
          <p:nvPr>
            <p:ph type="title"/>
          </p:nvPr>
        </p:nvSpPr>
        <p:spPr/>
        <p:txBody>
          <a:bodyPr/>
          <a:lstStyle/>
          <a:p>
            <a:r>
              <a:rPr lang="en-US" dirty="0"/>
              <a:t>Table Runtimes</a:t>
            </a:r>
          </a:p>
        </p:txBody>
      </p:sp>
      <p:sp>
        <p:nvSpPr>
          <p:cNvPr id="7" name="Content Placeholder 6">
            <a:extLst>
              <a:ext uri="{FF2B5EF4-FFF2-40B4-BE49-F238E27FC236}">
                <a16:creationId xmlns:a16="http://schemas.microsoft.com/office/drawing/2014/main" id="{763F9ADE-77ED-206F-BC08-A1063C927510}"/>
              </a:ext>
            </a:extLst>
          </p:cNvPr>
          <p:cNvSpPr>
            <a:spLocks noGrp="1"/>
          </p:cNvSpPr>
          <p:nvPr>
            <p:ph idx="1"/>
          </p:nvPr>
        </p:nvSpPr>
        <p:spPr/>
        <p:txBody>
          <a:bodyPr/>
          <a:lstStyle/>
          <a:p>
            <a:r>
              <a:rPr lang="en-US" dirty="0"/>
              <a:t>Clean up slides</a:t>
            </a:r>
          </a:p>
          <a:p>
            <a:r>
              <a:rPr lang="en-US" dirty="0"/>
              <a:t>SMM comparison table</a:t>
            </a:r>
          </a:p>
          <a:p>
            <a:r>
              <a:rPr lang="en-US" dirty="0"/>
              <a:t>What does the model do (Reiter)?  Background, what can I do with the posteriors</a:t>
            </a:r>
          </a:p>
          <a:p>
            <a:endParaRPr lang="en-US" dirty="0"/>
          </a:p>
          <a:p>
            <a:endParaRPr lang="en-US" dirty="0"/>
          </a:p>
        </p:txBody>
      </p:sp>
    </p:spTree>
    <p:extLst>
      <p:ext uri="{BB962C8B-B14F-4D97-AF65-F5344CB8AC3E}">
        <p14:creationId xmlns:p14="http://schemas.microsoft.com/office/powerpoint/2010/main" val="3714426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78834</TotalTime>
  <Words>2839</Words>
  <Application>Microsoft Office PowerPoint</Application>
  <PresentationFormat>Widescreen</PresentationFormat>
  <Paragraphs>329</Paragraphs>
  <Slides>62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Arial</vt:lpstr>
      <vt:lpstr>Calibri</vt:lpstr>
      <vt:lpstr>Calibri Light</vt:lpstr>
      <vt:lpstr>Cambria Math</vt:lpstr>
      <vt:lpstr>Courier New</vt:lpstr>
      <vt:lpstr>Wingdings</vt:lpstr>
      <vt:lpstr>Office Theme</vt:lpstr>
      <vt:lpstr>Improving Structural Estimation with Sequential Neural Posterior Estimation</vt:lpstr>
      <vt:lpstr>Motivation</vt:lpstr>
      <vt:lpstr>Contribution</vt:lpstr>
      <vt:lpstr>SNPE</vt:lpstr>
      <vt:lpstr>Metropolis-Hastings MCMC on Smets-Wouters after Ten Million Iterations</vt:lpstr>
      <vt:lpstr>SNPE after Five Hundred Thousand Iterations</vt:lpstr>
      <vt:lpstr>Theoretical Underpinning for SNPE Speed vs Monte Carlo</vt:lpstr>
      <vt:lpstr>An Explanation of SNPE</vt:lpstr>
      <vt:lpstr>Bayes Rule</vt:lpstr>
      <vt:lpstr>MCMC and SNPE</vt:lpstr>
      <vt:lpstr>What if the Likelihood is Intractable?</vt:lpstr>
      <vt:lpstr>If You can’t Evaluate, Just Simulate</vt:lpstr>
      <vt:lpstr>SNPE: Best of Both Worlds</vt:lpstr>
      <vt:lpstr>SNPE: Estimation Exposition</vt:lpstr>
      <vt:lpstr>SNPE Toy Model: X^∗=θ+ ϵ </vt:lpstr>
      <vt:lpstr>Step 1: Sample {θ_i^∗,X_i^∗ }_(i=1)^I∼p(θ, X^∗ ) via Monte Carlo Simulation</vt:lpstr>
      <vt:lpstr>In this way one samples from the joint distribution of the prior and simulated data from the model:  θ^∗,X^∗∼P(〖θ, X〗^∗ )= P(X^∗│θ)P(θ)</vt:lpstr>
      <vt:lpstr>Step 2: Estimate the conditional density p(θ│X^∗ )  </vt:lpstr>
      <vt:lpstr>Step 2: Estimate the conditional density p(θ│X^∗ )  </vt:lpstr>
      <vt:lpstr>Gaussian Mixture Model</vt:lpstr>
      <vt:lpstr>From Unconditional to Conditional Mixture of Gaussians</vt:lpstr>
      <vt:lpstr>Conditional Mixture of Gaussians</vt:lpstr>
      <vt:lpstr>Step 3: Condition X^∗ on the real data, X, forming the posterior: p(θ|X^∗=X)</vt:lpstr>
      <vt:lpstr>Step 3.5: Multi-Round Inference</vt:lpstr>
      <vt:lpstr>Alternative to Mixture of Gaussians: Normalizing Flows</vt:lpstr>
      <vt:lpstr>SNPE Example: X^∗=θ+ ϵ </vt:lpstr>
      <vt:lpstr>Smets-Wouters 2007</vt:lpstr>
      <vt:lpstr>Change of Variables</vt:lpstr>
      <vt:lpstr>Talking Syntax</vt:lpstr>
      <vt:lpstr>Properties of a good f_k </vt:lpstr>
      <vt:lpstr>Masked Autoregressive Flows</vt:lpstr>
      <vt:lpstr>Masked Autoregressive Flows: Preserving Invertibility</vt:lpstr>
      <vt:lpstr>Non-Linearity</vt:lpstr>
      <vt:lpstr>Universal Approximating Theorems</vt:lpstr>
      <vt:lpstr>Normalizing Flows as Density Estimators</vt:lpstr>
      <vt:lpstr>SNPE Example Redux: X^∗=θ+ ϵ </vt:lpstr>
      <vt:lpstr>Results</vt:lpstr>
      <vt:lpstr>Comparison of Estimation Algorithms Ability to Handle a Selection of Solution Methods</vt:lpstr>
      <vt:lpstr>SNPE/MCMC Performance on Smets-Wouters</vt:lpstr>
      <vt:lpstr>SNPE after Five Hundred Thousand Iterations</vt:lpstr>
      <vt:lpstr>Metropolis-Hastings MCMC after Ten Million Iterations</vt:lpstr>
      <vt:lpstr>Discussion on Multimodality</vt:lpstr>
      <vt:lpstr>Multimodality and Frequentism</vt:lpstr>
      <vt:lpstr>Taylor Rule Parameter on Inflation</vt:lpstr>
      <vt:lpstr>Multimodality and economic cycles</vt:lpstr>
      <vt:lpstr>SNPE Performance on Heterogenous Agent Models</vt:lpstr>
      <vt:lpstr>SNPE and MCMC Performance on Krussell Smith with Winberry Solution Method</vt:lpstr>
      <vt:lpstr>HANK Model Solved via Reiter</vt:lpstr>
      <vt:lpstr>Appendix</vt:lpstr>
      <vt:lpstr>Literature</vt:lpstr>
      <vt:lpstr>Markov Assumption Versus State-Space Assumption</vt:lpstr>
      <vt:lpstr>Markov Assumption Versus State-Space Assumption</vt:lpstr>
      <vt:lpstr>Markov Assumption Versus State-Space Assumption</vt:lpstr>
      <vt:lpstr>Flow Universal Approximator Intuition</vt:lpstr>
      <vt:lpstr>Monotonic Functions and Universal Approximators</vt:lpstr>
      <vt:lpstr>Lossless Embedding</vt:lpstr>
      <vt:lpstr>Projection Model</vt:lpstr>
      <vt:lpstr>RBC Model Estimated Two Ways</vt:lpstr>
      <vt:lpstr>Bequests Value Function Iteration Model</vt:lpstr>
      <vt:lpstr>SNPE</vt:lpstr>
      <vt:lpstr>Alternative Algorithm: Sequential Neural Variational Inference</vt:lpstr>
      <vt:lpstr>Table Runtimes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cameron fen</dc:creator>
  <cp:lastModifiedBy>cameron fen</cp:lastModifiedBy>
  <cp:revision>24</cp:revision>
  <dcterms:created xsi:type="dcterms:W3CDTF">2023-05-11T13:30:27Z</dcterms:created>
  <dcterms:modified xsi:type="dcterms:W3CDTF">2023-07-30T23:20:28Z</dcterms:modified>
</cp:coreProperties>
</file>